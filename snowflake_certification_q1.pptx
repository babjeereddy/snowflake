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1995" autoAdjust="0"/>
  </p:normalViewPr>
  <p:slideViewPr>
    <p:cSldViewPr snapToGrid="0">
      <p:cViewPr varScale="1">
        <p:scale>
          <a:sx n="61" d="100"/>
          <a:sy n="61" d="100"/>
        </p:scale>
        <p:origin x="884" y="44"/>
      </p:cViewPr>
      <p:guideLst/>
    </p:cSldViewPr>
  </p:slideViewPr>
  <p:outlineViewPr>
    <p:cViewPr>
      <p:scale>
        <a:sx n="33" d="100"/>
        <a:sy n="33" d="100"/>
      </p:scale>
      <p:origin x="0" y="-5856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presProps" Target="pres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microsoft.com/office/2016/11/relationships/changesInfo" Target="changesInfos/changesInfo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onnamreddybabjee@outlook.com" userId="3e261792aa522278" providerId="LiveId" clId="{18EEC0AA-3F3A-4AEF-B430-AC9C9B1BF4DC}"/>
    <pc:docChg chg="modSld">
      <pc:chgData name="ponnamreddybabjee@outlook.com" userId="3e261792aa522278" providerId="LiveId" clId="{18EEC0AA-3F3A-4AEF-B430-AC9C9B1BF4DC}" dt="2026-01-29T06:07:51.174" v="167"/>
      <pc:docMkLst>
        <pc:docMk/>
      </pc:docMkLst>
      <pc:sldChg chg="addSp modSp mod modNotesTx">
        <pc:chgData name="ponnamreddybabjee@outlook.com" userId="3e261792aa522278" providerId="LiveId" clId="{18EEC0AA-3F3A-4AEF-B430-AC9C9B1BF4DC}" dt="2026-01-29T03:36:27.645" v="3"/>
        <pc:sldMkLst>
          <pc:docMk/>
          <pc:sldMk cId="2962386743" sldId="310"/>
        </pc:sldMkLst>
        <pc:spChg chg="add mod">
          <ac:chgData name="ponnamreddybabjee@outlook.com" userId="3e261792aa522278" providerId="LiveId" clId="{18EEC0AA-3F3A-4AEF-B430-AC9C9B1BF4DC}" dt="2026-01-29T03:36:07.451" v="2" actId="21"/>
          <ac:spMkLst>
            <pc:docMk/>
            <pc:sldMk cId="2962386743" sldId="310"/>
            <ac:spMk id="3" creationId="{0383471C-B327-6326-31F1-56310873BE87}"/>
          </ac:spMkLst>
        </pc:spChg>
      </pc:sldChg>
      <pc:sldChg chg="addSp modSp mod modNotesTx">
        <pc:chgData name="ponnamreddybabjee@outlook.com" userId="3e261792aa522278" providerId="LiveId" clId="{18EEC0AA-3F3A-4AEF-B430-AC9C9B1BF4DC}" dt="2026-01-29T03:38:01.863" v="10" actId="1076"/>
        <pc:sldMkLst>
          <pc:docMk/>
          <pc:sldMk cId="2765524901" sldId="311"/>
        </pc:sldMkLst>
        <pc:spChg chg="add mod">
          <ac:chgData name="ponnamreddybabjee@outlook.com" userId="3e261792aa522278" providerId="LiveId" clId="{18EEC0AA-3F3A-4AEF-B430-AC9C9B1BF4DC}" dt="2026-01-29T03:38:01.863" v="10" actId="1076"/>
          <ac:spMkLst>
            <pc:docMk/>
            <pc:sldMk cId="2765524901" sldId="311"/>
            <ac:spMk id="3" creationId="{301F8601-FB1A-473D-0556-5C3E59C57FAC}"/>
          </ac:spMkLst>
        </pc:spChg>
      </pc:sldChg>
      <pc:sldChg chg="addSp modSp mod modNotesTx">
        <pc:chgData name="ponnamreddybabjee@outlook.com" userId="3e261792aa522278" providerId="LiveId" clId="{18EEC0AA-3F3A-4AEF-B430-AC9C9B1BF4DC}" dt="2026-01-29T03:38:32.416" v="15"/>
        <pc:sldMkLst>
          <pc:docMk/>
          <pc:sldMk cId="3837968458" sldId="312"/>
        </pc:sldMkLst>
        <pc:spChg chg="add mod">
          <ac:chgData name="ponnamreddybabjee@outlook.com" userId="3e261792aa522278" providerId="LiveId" clId="{18EEC0AA-3F3A-4AEF-B430-AC9C9B1BF4DC}" dt="2026-01-29T03:38:30.365" v="14" actId="21"/>
          <ac:spMkLst>
            <pc:docMk/>
            <pc:sldMk cId="3837968458" sldId="312"/>
            <ac:spMk id="3" creationId="{E7AE220A-0844-6F24-82D2-37EC7127B44E}"/>
          </ac:spMkLst>
        </pc:spChg>
      </pc:sldChg>
      <pc:sldChg chg="addSp modSp mod modNotesTx">
        <pc:chgData name="ponnamreddybabjee@outlook.com" userId="3e261792aa522278" providerId="LiveId" clId="{18EEC0AA-3F3A-4AEF-B430-AC9C9B1BF4DC}" dt="2026-01-29T03:39:25.009" v="20"/>
        <pc:sldMkLst>
          <pc:docMk/>
          <pc:sldMk cId="3755590784" sldId="313"/>
        </pc:sldMkLst>
        <pc:spChg chg="add mod">
          <ac:chgData name="ponnamreddybabjee@outlook.com" userId="3e261792aa522278" providerId="LiveId" clId="{18EEC0AA-3F3A-4AEF-B430-AC9C9B1BF4DC}" dt="2026-01-29T03:39:21.872" v="19" actId="21"/>
          <ac:spMkLst>
            <pc:docMk/>
            <pc:sldMk cId="3755590784" sldId="313"/>
            <ac:spMk id="3" creationId="{A9B99AA4-9F65-27B8-C81E-1D0FFA0D5886}"/>
          </ac:spMkLst>
        </pc:spChg>
      </pc:sldChg>
      <pc:sldChg chg="addSp modSp mod modNotesTx">
        <pc:chgData name="ponnamreddybabjee@outlook.com" userId="3e261792aa522278" providerId="LiveId" clId="{18EEC0AA-3F3A-4AEF-B430-AC9C9B1BF4DC}" dt="2026-01-29T03:40:49.486" v="24"/>
        <pc:sldMkLst>
          <pc:docMk/>
          <pc:sldMk cId="591915594" sldId="314"/>
        </pc:sldMkLst>
        <pc:spChg chg="add mod">
          <ac:chgData name="ponnamreddybabjee@outlook.com" userId="3e261792aa522278" providerId="LiveId" clId="{18EEC0AA-3F3A-4AEF-B430-AC9C9B1BF4DC}" dt="2026-01-29T03:40:47.629" v="23" actId="21"/>
          <ac:spMkLst>
            <pc:docMk/>
            <pc:sldMk cId="591915594" sldId="314"/>
            <ac:spMk id="3" creationId="{8E9A2407-96EE-62A5-20B6-251C803B6C31}"/>
          </ac:spMkLst>
        </pc:spChg>
      </pc:sldChg>
      <pc:sldChg chg="addSp modSp mod modNotesTx">
        <pc:chgData name="ponnamreddybabjee@outlook.com" userId="3e261792aa522278" providerId="LiveId" clId="{18EEC0AA-3F3A-4AEF-B430-AC9C9B1BF4DC}" dt="2026-01-29T03:41:32.993" v="29"/>
        <pc:sldMkLst>
          <pc:docMk/>
          <pc:sldMk cId="2308249874" sldId="315"/>
        </pc:sldMkLst>
        <pc:spChg chg="add mod">
          <ac:chgData name="ponnamreddybabjee@outlook.com" userId="3e261792aa522278" providerId="LiveId" clId="{18EEC0AA-3F3A-4AEF-B430-AC9C9B1BF4DC}" dt="2026-01-29T03:41:29.234" v="28" actId="21"/>
          <ac:spMkLst>
            <pc:docMk/>
            <pc:sldMk cId="2308249874" sldId="315"/>
            <ac:spMk id="3" creationId="{4781F385-19BF-3D30-7741-B980690B4078}"/>
          </ac:spMkLst>
        </pc:spChg>
      </pc:sldChg>
      <pc:sldChg chg="addSp modSp mod modNotesTx">
        <pc:chgData name="ponnamreddybabjee@outlook.com" userId="3e261792aa522278" providerId="LiveId" clId="{18EEC0AA-3F3A-4AEF-B430-AC9C9B1BF4DC}" dt="2026-01-29T03:42:43.297" v="38"/>
        <pc:sldMkLst>
          <pc:docMk/>
          <pc:sldMk cId="1940453145" sldId="316"/>
        </pc:sldMkLst>
        <pc:spChg chg="add">
          <ac:chgData name="ponnamreddybabjee@outlook.com" userId="3e261792aa522278" providerId="LiveId" clId="{18EEC0AA-3F3A-4AEF-B430-AC9C9B1BF4DC}" dt="2026-01-29T03:42:14.187" v="30"/>
          <ac:spMkLst>
            <pc:docMk/>
            <pc:sldMk cId="1940453145" sldId="316"/>
            <ac:spMk id="2" creationId="{512806B2-5587-5F46-D8E7-4DA5954CFFF4}"/>
          </ac:spMkLst>
        </pc:spChg>
        <pc:spChg chg="add mod">
          <ac:chgData name="ponnamreddybabjee@outlook.com" userId="3e261792aa522278" providerId="LiveId" clId="{18EEC0AA-3F3A-4AEF-B430-AC9C9B1BF4DC}" dt="2026-01-29T03:42:32.258" v="35" actId="21"/>
          <ac:spMkLst>
            <pc:docMk/>
            <pc:sldMk cId="1940453145" sldId="316"/>
            <ac:spMk id="4" creationId="{44933C7C-70E1-8083-2441-8E4B63921A1D}"/>
          </ac:spMkLst>
        </pc:spChg>
      </pc:sldChg>
      <pc:sldChg chg="addSp modSp mod modNotesTx">
        <pc:chgData name="ponnamreddybabjee@outlook.com" userId="3e261792aa522278" providerId="LiveId" clId="{18EEC0AA-3F3A-4AEF-B430-AC9C9B1BF4DC}" dt="2026-01-29T03:43:14.009" v="42"/>
        <pc:sldMkLst>
          <pc:docMk/>
          <pc:sldMk cId="866258583" sldId="317"/>
        </pc:sldMkLst>
        <pc:spChg chg="add mod">
          <ac:chgData name="ponnamreddybabjee@outlook.com" userId="3e261792aa522278" providerId="LiveId" clId="{18EEC0AA-3F3A-4AEF-B430-AC9C9B1BF4DC}" dt="2026-01-29T03:43:11.744" v="41" actId="21"/>
          <ac:spMkLst>
            <pc:docMk/>
            <pc:sldMk cId="866258583" sldId="317"/>
            <ac:spMk id="3" creationId="{E5B78FA1-61C7-CCC5-630A-6A04D2608D28}"/>
          </ac:spMkLst>
        </pc:spChg>
      </pc:sldChg>
      <pc:sldChg chg="addSp modSp mod modNotesTx">
        <pc:chgData name="ponnamreddybabjee@outlook.com" userId="3e261792aa522278" providerId="LiveId" clId="{18EEC0AA-3F3A-4AEF-B430-AC9C9B1BF4DC}" dt="2026-01-29T03:43:48.671" v="46"/>
        <pc:sldMkLst>
          <pc:docMk/>
          <pc:sldMk cId="4243077983" sldId="318"/>
        </pc:sldMkLst>
        <pc:spChg chg="add mod">
          <ac:chgData name="ponnamreddybabjee@outlook.com" userId="3e261792aa522278" providerId="LiveId" clId="{18EEC0AA-3F3A-4AEF-B430-AC9C9B1BF4DC}" dt="2026-01-29T03:43:46.730" v="45" actId="21"/>
          <ac:spMkLst>
            <pc:docMk/>
            <pc:sldMk cId="4243077983" sldId="318"/>
            <ac:spMk id="3" creationId="{C2A74E28-F6FC-790F-5BA1-1DC020EEA511}"/>
          </ac:spMkLst>
        </pc:spChg>
      </pc:sldChg>
      <pc:sldChg chg="addSp modSp mod modNotesTx">
        <pc:chgData name="ponnamreddybabjee@outlook.com" userId="3e261792aa522278" providerId="LiveId" clId="{18EEC0AA-3F3A-4AEF-B430-AC9C9B1BF4DC}" dt="2026-01-29T03:44:37.971" v="50"/>
        <pc:sldMkLst>
          <pc:docMk/>
          <pc:sldMk cId="1173799744" sldId="319"/>
        </pc:sldMkLst>
        <pc:spChg chg="add mod">
          <ac:chgData name="ponnamreddybabjee@outlook.com" userId="3e261792aa522278" providerId="LiveId" clId="{18EEC0AA-3F3A-4AEF-B430-AC9C9B1BF4DC}" dt="2026-01-29T03:44:35.763" v="49" actId="21"/>
          <ac:spMkLst>
            <pc:docMk/>
            <pc:sldMk cId="1173799744" sldId="319"/>
            <ac:spMk id="3" creationId="{63A87CD6-F78C-E85B-4F20-BA4D5468D297}"/>
          </ac:spMkLst>
        </pc:spChg>
      </pc:sldChg>
      <pc:sldChg chg="addSp modSp mod modNotesTx">
        <pc:chgData name="ponnamreddybabjee@outlook.com" userId="3e261792aa522278" providerId="LiveId" clId="{18EEC0AA-3F3A-4AEF-B430-AC9C9B1BF4DC}" dt="2026-01-29T03:45:25.137" v="53"/>
        <pc:sldMkLst>
          <pc:docMk/>
          <pc:sldMk cId="3272759301" sldId="320"/>
        </pc:sldMkLst>
        <pc:spChg chg="add mod">
          <ac:chgData name="ponnamreddybabjee@outlook.com" userId="3e261792aa522278" providerId="LiveId" clId="{18EEC0AA-3F3A-4AEF-B430-AC9C9B1BF4DC}" dt="2026-01-29T03:45:20.162" v="52" actId="14100"/>
          <ac:spMkLst>
            <pc:docMk/>
            <pc:sldMk cId="3272759301" sldId="320"/>
            <ac:spMk id="3" creationId="{8E1DF57C-33D8-9EA3-FE00-F5F31C1DB466}"/>
          </ac:spMkLst>
        </pc:spChg>
      </pc:sldChg>
      <pc:sldChg chg="addSp modSp mod modNotesTx">
        <pc:chgData name="ponnamreddybabjee@outlook.com" userId="3e261792aa522278" providerId="LiveId" clId="{18EEC0AA-3F3A-4AEF-B430-AC9C9B1BF4DC}" dt="2026-01-29T03:45:56.296" v="57"/>
        <pc:sldMkLst>
          <pc:docMk/>
          <pc:sldMk cId="595256862" sldId="321"/>
        </pc:sldMkLst>
        <pc:spChg chg="add mod">
          <ac:chgData name="ponnamreddybabjee@outlook.com" userId="3e261792aa522278" providerId="LiveId" clId="{18EEC0AA-3F3A-4AEF-B430-AC9C9B1BF4DC}" dt="2026-01-29T03:45:54.304" v="56" actId="21"/>
          <ac:spMkLst>
            <pc:docMk/>
            <pc:sldMk cId="595256862" sldId="321"/>
            <ac:spMk id="3" creationId="{233FD339-FA9F-C6A7-9E67-996BA3286F3A}"/>
          </ac:spMkLst>
        </pc:spChg>
      </pc:sldChg>
      <pc:sldChg chg="addSp modSp mod modNotesTx">
        <pc:chgData name="ponnamreddybabjee@outlook.com" userId="3e261792aa522278" providerId="LiveId" clId="{18EEC0AA-3F3A-4AEF-B430-AC9C9B1BF4DC}" dt="2026-01-29T03:47:07.957" v="65"/>
        <pc:sldMkLst>
          <pc:docMk/>
          <pc:sldMk cId="2045294683" sldId="322"/>
        </pc:sldMkLst>
        <pc:spChg chg="add">
          <ac:chgData name="ponnamreddybabjee@outlook.com" userId="3e261792aa522278" providerId="LiveId" clId="{18EEC0AA-3F3A-4AEF-B430-AC9C9B1BF4DC}" dt="2026-01-29T03:46:39.486" v="58"/>
          <ac:spMkLst>
            <pc:docMk/>
            <pc:sldMk cId="2045294683" sldId="322"/>
            <ac:spMk id="2" creationId="{F54D8281-8065-1F31-14AE-962AFEF32E2F}"/>
          </ac:spMkLst>
        </pc:spChg>
        <pc:spChg chg="add mod">
          <ac:chgData name="ponnamreddybabjee@outlook.com" userId="3e261792aa522278" providerId="LiveId" clId="{18EEC0AA-3F3A-4AEF-B430-AC9C9B1BF4DC}" dt="2026-01-29T03:46:55.491" v="61" actId="21"/>
          <ac:spMkLst>
            <pc:docMk/>
            <pc:sldMk cId="2045294683" sldId="322"/>
            <ac:spMk id="4" creationId="{93ED8ADF-D1EA-28B0-F5B6-0F8A02DBA6A7}"/>
          </ac:spMkLst>
        </pc:spChg>
      </pc:sldChg>
      <pc:sldChg chg="addSp modSp mod modNotesTx">
        <pc:chgData name="ponnamreddybabjee@outlook.com" userId="3e261792aa522278" providerId="LiveId" clId="{18EEC0AA-3F3A-4AEF-B430-AC9C9B1BF4DC}" dt="2026-01-29T03:48:10.015" v="69"/>
        <pc:sldMkLst>
          <pc:docMk/>
          <pc:sldMk cId="826632045" sldId="323"/>
        </pc:sldMkLst>
        <pc:spChg chg="add mod">
          <ac:chgData name="ponnamreddybabjee@outlook.com" userId="3e261792aa522278" providerId="LiveId" clId="{18EEC0AA-3F3A-4AEF-B430-AC9C9B1BF4DC}" dt="2026-01-29T03:48:07.896" v="68" actId="21"/>
          <ac:spMkLst>
            <pc:docMk/>
            <pc:sldMk cId="826632045" sldId="323"/>
            <ac:spMk id="3" creationId="{68902E57-676C-FF30-7C1E-96F85EFC5526}"/>
          </ac:spMkLst>
        </pc:spChg>
      </pc:sldChg>
      <pc:sldChg chg="addSp modSp mod modNotesTx">
        <pc:chgData name="ponnamreddybabjee@outlook.com" userId="3e261792aa522278" providerId="LiveId" clId="{18EEC0AA-3F3A-4AEF-B430-AC9C9B1BF4DC}" dt="2026-01-29T03:49:00.753" v="76"/>
        <pc:sldMkLst>
          <pc:docMk/>
          <pc:sldMk cId="462887374" sldId="324"/>
        </pc:sldMkLst>
        <pc:spChg chg="add mod">
          <ac:chgData name="ponnamreddybabjee@outlook.com" userId="3e261792aa522278" providerId="LiveId" clId="{18EEC0AA-3F3A-4AEF-B430-AC9C9B1BF4DC}" dt="2026-01-29T03:48:48.363" v="72" actId="21"/>
          <ac:spMkLst>
            <pc:docMk/>
            <pc:sldMk cId="462887374" sldId="324"/>
            <ac:spMk id="3" creationId="{2DC5F901-D0D8-FB8D-1F29-F0335ED7DF48}"/>
          </ac:spMkLst>
        </pc:spChg>
      </pc:sldChg>
      <pc:sldChg chg="addSp modSp mod modNotesTx">
        <pc:chgData name="ponnamreddybabjee@outlook.com" userId="3e261792aa522278" providerId="LiveId" clId="{18EEC0AA-3F3A-4AEF-B430-AC9C9B1BF4DC}" dt="2026-01-29T03:49:38.520" v="80"/>
        <pc:sldMkLst>
          <pc:docMk/>
          <pc:sldMk cId="2037909874" sldId="325"/>
        </pc:sldMkLst>
        <pc:spChg chg="add mod">
          <ac:chgData name="ponnamreddybabjee@outlook.com" userId="3e261792aa522278" providerId="LiveId" clId="{18EEC0AA-3F3A-4AEF-B430-AC9C9B1BF4DC}" dt="2026-01-29T03:49:36.674" v="79" actId="21"/>
          <ac:spMkLst>
            <pc:docMk/>
            <pc:sldMk cId="2037909874" sldId="325"/>
            <ac:spMk id="3" creationId="{3F884F47-791B-AC27-1BED-D39067B45AD8}"/>
          </ac:spMkLst>
        </pc:spChg>
      </pc:sldChg>
      <pc:sldChg chg="addSp modSp mod modNotesTx">
        <pc:chgData name="ponnamreddybabjee@outlook.com" userId="3e261792aa522278" providerId="LiveId" clId="{18EEC0AA-3F3A-4AEF-B430-AC9C9B1BF4DC}" dt="2026-01-29T03:50:40.155" v="85"/>
        <pc:sldMkLst>
          <pc:docMk/>
          <pc:sldMk cId="3293965492" sldId="326"/>
        </pc:sldMkLst>
        <pc:spChg chg="add mod">
          <ac:chgData name="ponnamreddybabjee@outlook.com" userId="3e261792aa522278" providerId="LiveId" clId="{18EEC0AA-3F3A-4AEF-B430-AC9C9B1BF4DC}" dt="2026-01-29T03:50:26.130" v="83" actId="21"/>
          <ac:spMkLst>
            <pc:docMk/>
            <pc:sldMk cId="3293965492" sldId="326"/>
            <ac:spMk id="3" creationId="{967F88E2-2377-17C0-3B5E-DB7C9EAB8529}"/>
          </ac:spMkLst>
        </pc:spChg>
      </pc:sldChg>
      <pc:sldChg chg="addSp modSp mod modNotesTx">
        <pc:chgData name="ponnamreddybabjee@outlook.com" userId="3e261792aa522278" providerId="LiveId" clId="{18EEC0AA-3F3A-4AEF-B430-AC9C9B1BF4DC}" dt="2026-01-29T03:51:06.476" v="89"/>
        <pc:sldMkLst>
          <pc:docMk/>
          <pc:sldMk cId="1266955358" sldId="327"/>
        </pc:sldMkLst>
        <pc:spChg chg="add mod">
          <ac:chgData name="ponnamreddybabjee@outlook.com" userId="3e261792aa522278" providerId="LiveId" clId="{18EEC0AA-3F3A-4AEF-B430-AC9C9B1BF4DC}" dt="2026-01-29T03:51:04.538" v="88" actId="21"/>
          <ac:spMkLst>
            <pc:docMk/>
            <pc:sldMk cId="1266955358" sldId="327"/>
            <ac:spMk id="3" creationId="{567507D1-3389-AD31-FE84-0464D99E7417}"/>
          </ac:spMkLst>
        </pc:spChg>
      </pc:sldChg>
      <pc:sldChg chg="addSp delSp modSp modNotesTx">
        <pc:chgData name="ponnamreddybabjee@outlook.com" userId="3e261792aa522278" providerId="LiveId" clId="{18EEC0AA-3F3A-4AEF-B430-AC9C9B1BF4DC}" dt="2026-01-29T03:51:59.612" v="95"/>
        <pc:sldMkLst>
          <pc:docMk/>
          <pc:sldMk cId="1520046190" sldId="328"/>
        </pc:sldMkLst>
        <pc:spChg chg="add">
          <ac:chgData name="ponnamreddybabjee@outlook.com" userId="3e261792aa522278" providerId="LiveId" clId="{18EEC0AA-3F3A-4AEF-B430-AC9C9B1BF4DC}" dt="2026-01-29T03:51:28.132" v="90"/>
          <ac:spMkLst>
            <pc:docMk/>
            <pc:sldMk cId="1520046190" sldId="328"/>
            <ac:spMk id="2" creationId="{4F395D96-A90A-21BB-6082-068836689FDA}"/>
          </ac:spMkLst>
        </pc:spChg>
        <pc:spChg chg="add del">
          <ac:chgData name="ponnamreddybabjee@outlook.com" userId="3e261792aa522278" providerId="LiveId" clId="{18EEC0AA-3F3A-4AEF-B430-AC9C9B1BF4DC}" dt="2026-01-29T03:51:38.687" v="92" actId="21"/>
          <ac:spMkLst>
            <pc:docMk/>
            <pc:sldMk cId="1520046190" sldId="328"/>
            <ac:spMk id="3" creationId="{A29275F8-540A-1EC0-F8CB-43C3545150BC}"/>
          </ac:spMkLst>
        </pc:spChg>
        <pc:spChg chg="add mod">
          <ac:chgData name="ponnamreddybabjee@outlook.com" userId="3e261792aa522278" providerId="LiveId" clId="{18EEC0AA-3F3A-4AEF-B430-AC9C9B1BF4DC}" dt="2026-01-29T03:51:48.970" v="94" actId="1076"/>
          <ac:spMkLst>
            <pc:docMk/>
            <pc:sldMk cId="1520046190" sldId="328"/>
            <ac:spMk id="4" creationId="{BBD6B53C-96A2-2B0D-A38C-9F994A507D53}"/>
          </ac:spMkLst>
        </pc:spChg>
      </pc:sldChg>
      <pc:sldChg chg="addSp modSp mod modNotesTx">
        <pc:chgData name="ponnamreddybabjee@outlook.com" userId="3e261792aa522278" providerId="LiveId" clId="{18EEC0AA-3F3A-4AEF-B430-AC9C9B1BF4DC}" dt="2026-01-29T03:52:38.762" v="99"/>
        <pc:sldMkLst>
          <pc:docMk/>
          <pc:sldMk cId="1360364004" sldId="329"/>
        </pc:sldMkLst>
        <pc:spChg chg="add mod">
          <ac:chgData name="ponnamreddybabjee@outlook.com" userId="3e261792aa522278" providerId="LiveId" clId="{18EEC0AA-3F3A-4AEF-B430-AC9C9B1BF4DC}" dt="2026-01-29T03:52:36.755" v="98" actId="21"/>
          <ac:spMkLst>
            <pc:docMk/>
            <pc:sldMk cId="1360364004" sldId="329"/>
            <ac:spMk id="3" creationId="{EC4FC303-2BBA-AE86-15C6-711528BB3978}"/>
          </ac:spMkLst>
        </pc:spChg>
      </pc:sldChg>
      <pc:sldChg chg="addSp modSp mod modNotesTx">
        <pc:chgData name="ponnamreddybabjee@outlook.com" userId="3e261792aa522278" providerId="LiveId" clId="{18EEC0AA-3F3A-4AEF-B430-AC9C9B1BF4DC}" dt="2026-01-29T03:53:12.026" v="103"/>
        <pc:sldMkLst>
          <pc:docMk/>
          <pc:sldMk cId="3771745206" sldId="330"/>
        </pc:sldMkLst>
        <pc:spChg chg="add mod">
          <ac:chgData name="ponnamreddybabjee@outlook.com" userId="3e261792aa522278" providerId="LiveId" clId="{18EEC0AA-3F3A-4AEF-B430-AC9C9B1BF4DC}" dt="2026-01-29T03:53:10.052" v="102" actId="21"/>
          <ac:spMkLst>
            <pc:docMk/>
            <pc:sldMk cId="3771745206" sldId="330"/>
            <ac:spMk id="3" creationId="{9E01CFCE-015D-2086-96DA-BD6071F86034}"/>
          </ac:spMkLst>
        </pc:spChg>
      </pc:sldChg>
      <pc:sldChg chg="addSp modSp mod modNotesTx">
        <pc:chgData name="ponnamreddybabjee@outlook.com" userId="3e261792aa522278" providerId="LiveId" clId="{18EEC0AA-3F3A-4AEF-B430-AC9C9B1BF4DC}" dt="2026-01-29T03:53:38.645" v="107"/>
        <pc:sldMkLst>
          <pc:docMk/>
          <pc:sldMk cId="1685850111" sldId="331"/>
        </pc:sldMkLst>
        <pc:spChg chg="add mod">
          <ac:chgData name="ponnamreddybabjee@outlook.com" userId="3e261792aa522278" providerId="LiveId" clId="{18EEC0AA-3F3A-4AEF-B430-AC9C9B1BF4DC}" dt="2026-01-29T03:53:36.768" v="106" actId="21"/>
          <ac:spMkLst>
            <pc:docMk/>
            <pc:sldMk cId="1685850111" sldId="331"/>
            <ac:spMk id="3" creationId="{D104D4B7-BE39-6993-B3E7-2188BEDB60B8}"/>
          </ac:spMkLst>
        </pc:spChg>
      </pc:sldChg>
      <pc:sldChg chg="addSp modSp mod modNotesTx">
        <pc:chgData name="ponnamreddybabjee@outlook.com" userId="3e261792aa522278" providerId="LiveId" clId="{18EEC0AA-3F3A-4AEF-B430-AC9C9B1BF4DC}" dt="2026-01-29T03:54:25.921" v="114"/>
        <pc:sldMkLst>
          <pc:docMk/>
          <pc:sldMk cId="561942551" sldId="332"/>
        </pc:sldMkLst>
        <pc:spChg chg="add mod">
          <ac:chgData name="ponnamreddybabjee@outlook.com" userId="3e261792aa522278" providerId="LiveId" clId="{18EEC0AA-3F3A-4AEF-B430-AC9C9B1BF4DC}" dt="2026-01-29T03:54:14.448" v="110" actId="21"/>
          <ac:spMkLst>
            <pc:docMk/>
            <pc:sldMk cId="561942551" sldId="332"/>
            <ac:spMk id="3" creationId="{7C703E1C-74BE-531E-ABB2-10AA333B31C2}"/>
          </ac:spMkLst>
        </pc:spChg>
      </pc:sldChg>
      <pc:sldChg chg="addSp modSp mod modNotesTx">
        <pc:chgData name="ponnamreddybabjee@outlook.com" userId="3e261792aa522278" providerId="LiveId" clId="{18EEC0AA-3F3A-4AEF-B430-AC9C9B1BF4DC}" dt="2026-01-29T03:55:00.820" v="118"/>
        <pc:sldMkLst>
          <pc:docMk/>
          <pc:sldMk cId="2488961117" sldId="333"/>
        </pc:sldMkLst>
        <pc:spChg chg="add mod">
          <ac:chgData name="ponnamreddybabjee@outlook.com" userId="3e261792aa522278" providerId="LiveId" clId="{18EEC0AA-3F3A-4AEF-B430-AC9C9B1BF4DC}" dt="2026-01-29T03:54:58.755" v="117" actId="21"/>
          <ac:spMkLst>
            <pc:docMk/>
            <pc:sldMk cId="2488961117" sldId="333"/>
            <ac:spMk id="3" creationId="{8FF223FA-3FDC-2CD0-AB85-FC0A3A8764FF}"/>
          </ac:spMkLst>
        </pc:spChg>
      </pc:sldChg>
      <pc:sldChg chg="addSp modSp mod modNotesTx">
        <pc:chgData name="ponnamreddybabjee@outlook.com" userId="3e261792aa522278" providerId="LiveId" clId="{18EEC0AA-3F3A-4AEF-B430-AC9C9B1BF4DC}" dt="2026-01-29T03:55:23.229" v="122"/>
        <pc:sldMkLst>
          <pc:docMk/>
          <pc:sldMk cId="4253033508" sldId="334"/>
        </pc:sldMkLst>
        <pc:spChg chg="add mod">
          <ac:chgData name="ponnamreddybabjee@outlook.com" userId="3e261792aa522278" providerId="LiveId" clId="{18EEC0AA-3F3A-4AEF-B430-AC9C9B1BF4DC}" dt="2026-01-29T03:55:21.099" v="121" actId="21"/>
          <ac:spMkLst>
            <pc:docMk/>
            <pc:sldMk cId="4253033508" sldId="334"/>
            <ac:spMk id="3" creationId="{936DABC0-C47E-3519-F776-10CC8228DEDA}"/>
          </ac:spMkLst>
        </pc:spChg>
      </pc:sldChg>
      <pc:sldChg chg="addSp delSp modSp mod modNotesTx">
        <pc:chgData name="ponnamreddybabjee@outlook.com" userId="3e261792aa522278" providerId="LiveId" clId="{18EEC0AA-3F3A-4AEF-B430-AC9C9B1BF4DC}" dt="2026-01-29T03:56:26.799" v="131" actId="1076"/>
        <pc:sldMkLst>
          <pc:docMk/>
          <pc:sldMk cId="3002393084" sldId="335"/>
        </pc:sldMkLst>
        <pc:spChg chg="add mod">
          <ac:chgData name="ponnamreddybabjee@outlook.com" userId="3e261792aa522278" providerId="LiveId" clId="{18EEC0AA-3F3A-4AEF-B430-AC9C9B1BF4DC}" dt="2026-01-29T03:56:26.799" v="131" actId="1076"/>
          <ac:spMkLst>
            <pc:docMk/>
            <pc:sldMk cId="3002393084" sldId="335"/>
            <ac:spMk id="2" creationId="{0C450829-2A2F-E3E4-6285-0C66892E3AE3}"/>
          </ac:spMkLst>
        </pc:spChg>
        <pc:spChg chg="add del">
          <ac:chgData name="ponnamreddybabjee@outlook.com" userId="3e261792aa522278" providerId="LiveId" clId="{18EEC0AA-3F3A-4AEF-B430-AC9C9B1BF4DC}" dt="2026-01-29T03:56:22.934" v="130" actId="478"/>
          <ac:spMkLst>
            <pc:docMk/>
            <pc:sldMk cId="3002393084" sldId="335"/>
            <ac:spMk id="3" creationId="{9678A4A0-85BC-CC39-A2B5-27D222E4C1E2}"/>
          </ac:spMkLst>
        </pc:spChg>
        <pc:spChg chg="add del">
          <ac:chgData name="ponnamreddybabjee@outlook.com" userId="3e261792aa522278" providerId="LiveId" clId="{18EEC0AA-3F3A-4AEF-B430-AC9C9B1BF4DC}" dt="2026-01-29T03:56:03.015" v="126" actId="478"/>
          <ac:spMkLst>
            <pc:docMk/>
            <pc:sldMk cId="3002393084" sldId="335"/>
            <ac:spMk id="4" creationId="{251EAB0E-9106-AB80-58DD-23294527DD4D}"/>
          </ac:spMkLst>
        </pc:spChg>
      </pc:sldChg>
      <pc:sldChg chg="addSp modSp mod modNotesTx">
        <pc:chgData name="ponnamreddybabjee@outlook.com" userId="3e261792aa522278" providerId="LiveId" clId="{18EEC0AA-3F3A-4AEF-B430-AC9C9B1BF4DC}" dt="2026-01-29T05:29:06.916" v="135"/>
        <pc:sldMkLst>
          <pc:docMk/>
          <pc:sldMk cId="56608032" sldId="336"/>
        </pc:sldMkLst>
        <pc:spChg chg="add mod">
          <ac:chgData name="ponnamreddybabjee@outlook.com" userId="3e261792aa522278" providerId="LiveId" clId="{18EEC0AA-3F3A-4AEF-B430-AC9C9B1BF4DC}" dt="2026-01-29T05:29:05.025" v="134" actId="21"/>
          <ac:spMkLst>
            <pc:docMk/>
            <pc:sldMk cId="56608032" sldId="336"/>
            <ac:spMk id="3" creationId="{A5E671E3-DA2C-1F98-74E2-5C22297E8734}"/>
          </ac:spMkLst>
        </pc:spChg>
      </pc:sldChg>
      <pc:sldChg chg="addSp modSp mod modNotesTx">
        <pc:chgData name="ponnamreddybabjee@outlook.com" userId="3e261792aa522278" providerId="LiveId" clId="{18EEC0AA-3F3A-4AEF-B430-AC9C9B1BF4DC}" dt="2026-01-29T05:29:56.196" v="140"/>
        <pc:sldMkLst>
          <pc:docMk/>
          <pc:sldMk cId="88428854" sldId="337"/>
        </pc:sldMkLst>
        <pc:spChg chg="add">
          <ac:chgData name="ponnamreddybabjee@outlook.com" userId="3e261792aa522278" providerId="LiveId" clId="{18EEC0AA-3F3A-4AEF-B430-AC9C9B1BF4DC}" dt="2026-01-29T05:29:33.921" v="136"/>
          <ac:spMkLst>
            <pc:docMk/>
            <pc:sldMk cId="88428854" sldId="337"/>
            <ac:spMk id="2" creationId="{E7433F6D-A88B-4339-BFF2-387D7DD2B250}"/>
          </ac:spMkLst>
        </pc:spChg>
        <pc:spChg chg="add mod">
          <ac:chgData name="ponnamreddybabjee@outlook.com" userId="3e261792aa522278" providerId="LiveId" clId="{18EEC0AA-3F3A-4AEF-B430-AC9C9B1BF4DC}" dt="2026-01-29T05:29:53.452" v="139" actId="21"/>
          <ac:spMkLst>
            <pc:docMk/>
            <pc:sldMk cId="88428854" sldId="337"/>
            <ac:spMk id="3" creationId="{480ABFA1-C406-FE4C-AB2A-883E886C3075}"/>
          </ac:spMkLst>
        </pc:spChg>
      </pc:sldChg>
      <pc:sldChg chg="addSp modSp mod modNotesTx">
        <pc:chgData name="ponnamreddybabjee@outlook.com" userId="3e261792aa522278" providerId="LiveId" clId="{18EEC0AA-3F3A-4AEF-B430-AC9C9B1BF4DC}" dt="2026-01-29T05:30:45.375" v="145" actId="1076"/>
        <pc:sldMkLst>
          <pc:docMk/>
          <pc:sldMk cId="1066662812" sldId="338"/>
        </pc:sldMkLst>
        <pc:spChg chg="add mod">
          <ac:chgData name="ponnamreddybabjee@outlook.com" userId="3e261792aa522278" providerId="LiveId" clId="{18EEC0AA-3F3A-4AEF-B430-AC9C9B1BF4DC}" dt="2026-01-29T05:30:45.375" v="145" actId="1076"/>
          <ac:spMkLst>
            <pc:docMk/>
            <pc:sldMk cId="1066662812" sldId="338"/>
            <ac:spMk id="2" creationId="{DDD3919D-317B-24F6-E443-77B69093A914}"/>
          </ac:spMkLst>
        </pc:spChg>
      </pc:sldChg>
      <pc:sldChg chg="addSp modSp mod modNotesTx">
        <pc:chgData name="ponnamreddybabjee@outlook.com" userId="3e261792aa522278" providerId="LiveId" clId="{18EEC0AA-3F3A-4AEF-B430-AC9C9B1BF4DC}" dt="2026-01-29T05:31:54.927" v="149"/>
        <pc:sldMkLst>
          <pc:docMk/>
          <pc:sldMk cId="121612740" sldId="339"/>
        </pc:sldMkLst>
        <pc:spChg chg="add mod">
          <ac:chgData name="ponnamreddybabjee@outlook.com" userId="3e261792aa522278" providerId="LiveId" clId="{18EEC0AA-3F3A-4AEF-B430-AC9C9B1BF4DC}" dt="2026-01-29T05:31:53.017" v="148" actId="21"/>
          <ac:spMkLst>
            <pc:docMk/>
            <pc:sldMk cId="121612740" sldId="339"/>
            <ac:spMk id="3" creationId="{A3046003-1094-8B7F-FA39-644A539E41F6}"/>
          </ac:spMkLst>
        </pc:spChg>
      </pc:sldChg>
      <pc:sldChg chg="addSp modSp mod">
        <pc:chgData name="ponnamreddybabjee@outlook.com" userId="3e261792aa522278" providerId="LiveId" clId="{18EEC0AA-3F3A-4AEF-B430-AC9C9B1BF4DC}" dt="2026-01-29T05:32:20.905" v="151" actId="14100"/>
        <pc:sldMkLst>
          <pc:docMk/>
          <pc:sldMk cId="1807567174" sldId="340"/>
        </pc:sldMkLst>
        <pc:spChg chg="add mod">
          <ac:chgData name="ponnamreddybabjee@outlook.com" userId="3e261792aa522278" providerId="LiveId" clId="{18EEC0AA-3F3A-4AEF-B430-AC9C9B1BF4DC}" dt="2026-01-29T05:32:20.905" v="151" actId="14100"/>
          <ac:spMkLst>
            <pc:docMk/>
            <pc:sldMk cId="1807567174" sldId="340"/>
            <ac:spMk id="3" creationId="{DDFA170A-F569-42F9-F134-D73328633264}"/>
          </ac:spMkLst>
        </pc:spChg>
      </pc:sldChg>
      <pc:sldChg chg="addSp modSp mod modNotesTx">
        <pc:chgData name="ponnamreddybabjee@outlook.com" userId="3e261792aa522278" providerId="LiveId" clId="{18EEC0AA-3F3A-4AEF-B430-AC9C9B1BF4DC}" dt="2026-01-29T05:33:30.210" v="155"/>
        <pc:sldMkLst>
          <pc:docMk/>
          <pc:sldMk cId="2857983045" sldId="341"/>
        </pc:sldMkLst>
        <pc:spChg chg="add mod">
          <ac:chgData name="ponnamreddybabjee@outlook.com" userId="3e261792aa522278" providerId="LiveId" clId="{18EEC0AA-3F3A-4AEF-B430-AC9C9B1BF4DC}" dt="2026-01-29T05:33:28.353" v="154" actId="21"/>
          <ac:spMkLst>
            <pc:docMk/>
            <pc:sldMk cId="2857983045" sldId="341"/>
            <ac:spMk id="3" creationId="{C4C2EE29-4D75-6F19-5402-12ADFDB229EC}"/>
          </ac:spMkLst>
        </pc:spChg>
      </pc:sldChg>
      <pc:sldChg chg="addSp modSp mod modNotesTx">
        <pc:chgData name="ponnamreddybabjee@outlook.com" userId="3e261792aa522278" providerId="LiveId" clId="{18EEC0AA-3F3A-4AEF-B430-AC9C9B1BF4DC}" dt="2026-01-29T05:33:58.917" v="159"/>
        <pc:sldMkLst>
          <pc:docMk/>
          <pc:sldMk cId="2978656483" sldId="342"/>
        </pc:sldMkLst>
        <pc:spChg chg="add mod">
          <ac:chgData name="ponnamreddybabjee@outlook.com" userId="3e261792aa522278" providerId="LiveId" clId="{18EEC0AA-3F3A-4AEF-B430-AC9C9B1BF4DC}" dt="2026-01-29T05:33:56.760" v="158" actId="21"/>
          <ac:spMkLst>
            <pc:docMk/>
            <pc:sldMk cId="2978656483" sldId="342"/>
            <ac:spMk id="3" creationId="{2D6B0E41-8CA9-2824-F75E-D8D99BF0CA76}"/>
          </ac:spMkLst>
        </pc:spChg>
      </pc:sldChg>
      <pc:sldChg chg="addSp modSp mod modNotesTx">
        <pc:chgData name="ponnamreddybabjee@outlook.com" userId="3e261792aa522278" providerId="LiveId" clId="{18EEC0AA-3F3A-4AEF-B430-AC9C9B1BF4DC}" dt="2026-01-29T05:34:25.431" v="163"/>
        <pc:sldMkLst>
          <pc:docMk/>
          <pc:sldMk cId="1903834790" sldId="343"/>
        </pc:sldMkLst>
        <pc:spChg chg="add mod">
          <ac:chgData name="ponnamreddybabjee@outlook.com" userId="3e261792aa522278" providerId="LiveId" clId="{18EEC0AA-3F3A-4AEF-B430-AC9C9B1BF4DC}" dt="2026-01-29T05:34:23.491" v="162" actId="21"/>
          <ac:spMkLst>
            <pc:docMk/>
            <pc:sldMk cId="1903834790" sldId="343"/>
            <ac:spMk id="3" creationId="{9D786C11-86C6-4009-E09C-628D8A17F6E5}"/>
          </ac:spMkLst>
        </pc:spChg>
      </pc:sldChg>
      <pc:sldChg chg="addSp modSp mod modNotesTx">
        <pc:chgData name="ponnamreddybabjee@outlook.com" userId="3e261792aa522278" providerId="LiveId" clId="{18EEC0AA-3F3A-4AEF-B430-AC9C9B1BF4DC}" dt="2026-01-29T06:07:51.174" v="167"/>
        <pc:sldMkLst>
          <pc:docMk/>
          <pc:sldMk cId="420531951" sldId="344"/>
        </pc:sldMkLst>
        <pc:spChg chg="add mod">
          <ac:chgData name="ponnamreddybabjee@outlook.com" userId="3e261792aa522278" providerId="LiveId" clId="{18EEC0AA-3F3A-4AEF-B430-AC9C9B1BF4DC}" dt="2026-01-29T06:07:48.360" v="166" actId="21"/>
          <ac:spMkLst>
            <pc:docMk/>
            <pc:sldMk cId="420531951" sldId="344"/>
            <ac:spMk id="3" creationId="{F68EF901-20FA-7CC3-2DA5-059A8B6A75F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F4E453-07AE-41C4-AF6E-26E0C1F36610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94E585-3BAE-403E-BC00-F139566BC7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1854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94E585-3BAE-403E-BC00-F139566BC7D4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53281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94E585-3BAE-403E-BC00-F139566BC7D4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3509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94E585-3BAE-403E-BC00-F139566BC7D4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27014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94E585-3BAE-403E-BC00-F139566BC7D4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57436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94E585-3BAE-403E-BC00-F139566BC7D4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38189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94E585-3BAE-403E-BC00-F139566BC7D4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80478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94E585-3BAE-403E-BC00-F139566BC7D4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50457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   Query history visibility in Snowflake’s UI is 14 days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94E585-3BAE-403E-BC00-F139566BC7D4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59983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 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94E585-3BAE-403E-BC00-F139566BC7D4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19654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94E585-3BAE-403E-BC00-F139566BC7D4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54630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94E585-3BAE-403E-BC00-F139566BC7D4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64400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94E585-3BAE-403E-BC00-F139566BC7D4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20403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94E585-3BAE-403E-BC00-F139566BC7D4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07010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94E585-3BAE-403E-BC00-F139566BC7D4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91405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94E585-3BAE-403E-BC00-F139566BC7D4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98461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A, B, C , D, E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94E585-3BAE-403E-BC00-F139566BC7D4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75739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94E585-3BAE-403E-BC00-F139566BC7D4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842515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94E585-3BAE-403E-BC00-F139566BC7D4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152655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94E585-3BAE-403E-BC00-F139566BC7D4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18766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Explanation</a:t>
            </a:r>
          </a:p>
          <a:p>
            <a:r>
              <a:rPr lang="en-IN" dirty="0"/>
              <a:t>TRUE. The VALIDATION_MODE parameter in Snowflake does not support COPY statements that transform data during a load. This parameter is used to specify whether to perform validation checks during a data load operation, but it does not allow for data transformation within the COPY statement.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94E585-3BAE-403E-BC00-F139566BC7D4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445459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A,B, D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94E585-3BAE-403E-BC00-F139566BC7D4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368974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C,D,E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94E585-3BAE-403E-BC00-F139566BC7D4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36559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 </a:t>
            </a:r>
            <a:r>
              <a:rPr lang="en-US" b="1" dirty="0"/>
              <a:t>Window functions</a:t>
            </a:r>
            <a:r>
              <a:rPr lang="en-US" dirty="0"/>
              <a:t> are specifically designed to perform calculations on a </a:t>
            </a:r>
            <a:r>
              <a:rPr lang="en-US" b="1" dirty="0"/>
              <a:t>subset of rows (a window)</a:t>
            </a:r>
            <a:r>
              <a:rPr lang="en-US" dirty="0"/>
              <a:t> related to the current row.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94E585-3BAE-403E-BC00-F139566BC7D4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044917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94E585-3BAE-403E-BC00-F139566BC7D4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006053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B,C,D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94E585-3BAE-403E-BC00-F139566BC7D4}" type="slidenum">
              <a:rPr lang="en-IN" smtClean="0"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293888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A,D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94E585-3BAE-403E-BC00-F139566BC7D4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810911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  In </a:t>
            </a:r>
            <a:r>
              <a:rPr lang="en-US" b="1" dirty="0"/>
              <a:t>Snowflake</a:t>
            </a:r>
            <a:r>
              <a:rPr lang="en-US" dirty="0"/>
              <a:t>, </a:t>
            </a:r>
            <a:r>
              <a:rPr lang="en-US" b="1" dirty="0"/>
              <a:t>query result sets are private to the user who executed the query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Query results are </a:t>
            </a:r>
            <a:r>
              <a:rPr lang="en-US" b="1" dirty="0"/>
              <a:t>not governed by object-level privileges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Even the </a:t>
            </a:r>
            <a:r>
              <a:rPr lang="en-US" b="1" dirty="0"/>
              <a:t>ACCOUNTADMIN</a:t>
            </a:r>
            <a:r>
              <a:rPr lang="en-US" dirty="0"/>
              <a:t> role:  </a:t>
            </a:r>
            <a:r>
              <a:rPr lang="en-US" b="1" dirty="0"/>
              <a:t>Cannot view another user’s query results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This restriction is enforced for </a:t>
            </a:r>
            <a:r>
              <a:rPr lang="en-US" b="1" dirty="0"/>
              <a:t>security and isolation</a:t>
            </a:r>
            <a:endParaRPr lang="en-US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94E585-3BAE-403E-BC00-F139566BC7D4}" type="slidenum">
              <a:rPr lang="en-IN" smtClean="0"/>
              <a:t>27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761081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  Snowflake’s </a:t>
            </a:r>
            <a:r>
              <a:rPr lang="en-US" b="1" dirty="0"/>
              <a:t>VARIANT</a:t>
            </a:r>
            <a:r>
              <a:rPr lang="en-US" dirty="0"/>
              <a:t> data type has a </a:t>
            </a:r>
            <a:r>
              <a:rPr lang="en-US" b="1" dirty="0"/>
              <a:t>maximum size limit of 16 MB</a:t>
            </a:r>
            <a:r>
              <a:rPr lang="en-US" dirty="0"/>
              <a:t> per value.</a:t>
            </a:r>
            <a:br>
              <a:rPr lang="en-US" dirty="0"/>
            </a:br>
            <a:r>
              <a:rPr lang="en-US" dirty="0"/>
              <a:t>When a JSON file contains a </a:t>
            </a:r>
            <a:r>
              <a:rPr lang="en-US" b="1" dirty="0"/>
              <a:t>large top-level array</a:t>
            </a:r>
            <a:r>
              <a:rPr lang="en-US" dirty="0"/>
              <a:t>, loading it as a single VARIANT can exceed this limit.</a:t>
            </a:r>
          </a:p>
          <a:p>
            <a:r>
              <a:rPr lang="en-US" b="1" dirty="0"/>
              <a:t>✔ What STRIP_OUTER_ARRAY does: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Removes the </a:t>
            </a:r>
            <a:r>
              <a:rPr lang="en-US" b="1" dirty="0"/>
              <a:t>top-level JSON array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Treats </a:t>
            </a:r>
            <a:r>
              <a:rPr lang="en-US" b="1" dirty="0"/>
              <a:t>each element inside the array as a separate row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Prevents hitting the </a:t>
            </a:r>
            <a:r>
              <a:rPr lang="en-US" b="1" dirty="0"/>
              <a:t>16 MB VARIANT size limit</a:t>
            </a:r>
            <a:endParaRPr lang="en-US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94E585-3BAE-403E-BC00-F139566BC7D4}" type="slidenum">
              <a:rPr lang="en-IN" smtClean="0"/>
              <a:t>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450600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94E585-3BAE-403E-BC00-F139566BC7D4}" type="slidenum">
              <a:rPr lang="en-IN" smtClean="0"/>
              <a:t>29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701318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B,D,E,F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94E585-3BAE-403E-BC00-F139566BC7D4}" type="slidenum">
              <a:rPr lang="en-IN" smtClean="0"/>
              <a:t>30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904896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 INFORMATION_SCHEMA provides metadata about:</a:t>
            </a:r>
          </a:p>
          <a:p>
            <a:endParaRPr lang="en-US" dirty="0"/>
          </a:p>
          <a:p>
            <a:r>
              <a:rPr lang="en-US" dirty="0"/>
              <a:t>Tables, views, stages</a:t>
            </a:r>
          </a:p>
          <a:p>
            <a:endParaRPr lang="en-US" dirty="0"/>
          </a:p>
          <a:p>
            <a:r>
              <a:rPr lang="en-US" dirty="0"/>
              <a:t>Columns, file formats</a:t>
            </a:r>
          </a:p>
          <a:p>
            <a:endParaRPr lang="en-US" dirty="0"/>
          </a:p>
          <a:p>
            <a:r>
              <a:rPr lang="en-US" dirty="0"/>
              <a:t>Object definitions and usage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94E585-3BAE-403E-BC00-F139566BC7D4}" type="slidenum">
              <a:rPr lang="en-IN" smtClean="0"/>
              <a:t>31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578155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A,B,D,E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94E585-3BAE-403E-BC00-F139566BC7D4}" type="slidenum">
              <a:rPr lang="en-IN" smtClean="0"/>
              <a:t>32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858984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A,C,D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94E585-3BAE-403E-BC00-F139566BC7D4}" type="slidenum">
              <a:rPr lang="en-IN" smtClean="0"/>
              <a:t>33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06169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A,E  An </a:t>
            </a:r>
            <a:r>
              <a:rPr lang="en-US" b="1" dirty="0"/>
              <a:t>IdP (Identity Provider)</a:t>
            </a:r>
            <a:r>
              <a:rPr lang="en-US" dirty="0"/>
              <a:t> in Snowflake is an </a:t>
            </a:r>
            <a:r>
              <a:rPr lang="en-US" b="1" dirty="0"/>
              <a:t>external authentication service</a:t>
            </a:r>
            <a:r>
              <a:rPr lang="en-US" dirty="0"/>
              <a:t> that </a:t>
            </a:r>
            <a:r>
              <a:rPr lang="en-US" b="1" dirty="0"/>
              <a:t>verifies a user’s identity</a:t>
            </a:r>
            <a:r>
              <a:rPr lang="en-US" dirty="0"/>
              <a:t> and allows them to </a:t>
            </a:r>
            <a:r>
              <a:rPr lang="en-US" b="1" dirty="0"/>
              <a:t>log in to Snowflake using Single Sign-On (SSO)</a:t>
            </a:r>
            <a:r>
              <a:rPr lang="en-US" dirty="0"/>
              <a:t> instead of a Snowflake username/password.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94E585-3BAE-403E-BC00-F139566BC7D4}" type="slidenum">
              <a:rPr lang="en-IN" smtClean="0"/>
              <a:t>34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577563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94E585-3BAE-403E-BC00-F139566BC7D4}" type="slidenum">
              <a:rPr lang="en-IN" smtClean="0"/>
              <a:t>35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447460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94E585-3BAE-403E-BC00-F139566BC7D4}" type="slidenum">
              <a:rPr lang="en-IN" smtClean="0"/>
              <a:t>36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046147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A,C,E</a:t>
            </a:r>
          </a:p>
          <a:p>
            <a:r>
              <a:rPr lang="en-US" dirty="0"/>
              <a:t>Larger warehouse → more memory</a:t>
            </a:r>
          </a:p>
          <a:p>
            <a:r>
              <a:rPr lang="en-US" dirty="0"/>
              <a:t>Smaller batches → reduced memory footprint</a:t>
            </a:r>
          </a:p>
          <a:p>
            <a:r>
              <a:rPr lang="en-US" dirty="0"/>
              <a:t>Multiple steps → controlled resource usage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94E585-3BAE-403E-BC00-F139566BC7D4}" type="slidenum">
              <a:rPr lang="en-IN" smtClean="0"/>
              <a:t>37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44338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 Account-level and warehouse-level monitors </a:t>
            </a:r>
            <a:r>
              <a:rPr lang="en-US" b="1" dirty="0"/>
              <a:t>coexist</a:t>
            </a:r>
            <a:endParaRPr lang="en-US" dirty="0"/>
          </a:p>
          <a:p>
            <a:r>
              <a:rPr lang="en-US" dirty="0"/>
              <a:t>Either monitor can independently trigger actions</a:t>
            </a:r>
          </a:p>
          <a:p>
            <a:r>
              <a:rPr lang="en-US" dirty="0"/>
              <a:t>One does </a:t>
            </a:r>
            <a:r>
              <a:rPr lang="en-US" b="1" dirty="0"/>
              <a:t>not override</a:t>
            </a:r>
            <a:r>
              <a:rPr lang="en-US" dirty="0"/>
              <a:t> the other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94E585-3BAE-403E-BC00-F139566BC7D4}" type="slidenum">
              <a:rPr lang="en-IN" smtClean="0"/>
              <a:t>38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172418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</a:t>
            </a:r>
          </a:p>
          <a:p>
            <a:r>
              <a:rPr lang="en-US" b="1" dirty="0"/>
              <a:t>🧠 Explanation</a:t>
            </a:r>
          </a:p>
          <a:p>
            <a:r>
              <a:rPr lang="en-US" dirty="0"/>
              <a:t>Snowflake refreshes materialized views </a:t>
            </a:r>
            <a:r>
              <a:rPr lang="en-US" b="1" dirty="0"/>
              <a:t>automatically in the background</a:t>
            </a:r>
            <a:r>
              <a:rPr lang="en-US" dirty="0"/>
              <a:t> when base tables change.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94E585-3BAE-403E-BC00-F139566BC7D4}" type="slidenum">
              <a:rPr lang="en-IN" smtClean="0"/>
              <a:t>39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056245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 </a:t>
            </a:r>
            <a:r>
              <a:rPr lang="en-US" b="1" dirty="0"/>
              <a:t>🧠 Explanation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Warehouses </a:t>
            </a:r>
            <a:r>
              <a:rPr lang="en-US" b="1" dirty="0"/>
              <a:t>can be resized while suspended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New size takes effect </a:t>
            </a:r>
            <a:r>
              <a:rPr lang="en-US" b="1" dirty="0"/>
              <a:t>when the warehouse resumes</a:t>
            </a:r>
            <a:endParaRPr lang="en-US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94E585-3BAE-403E-BC00-F139566BC7D4}" type="slidenum">
              <a:rPr lang="en-IN" smtClean="0"/>
              <a:t>40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245884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 </a:t>
            </a:r>
          </a:p>
          <a:p>
            <a:r>
              <a:rPr lang="en-US" dirty="0"/>
              <a:t>RECURSIVE =&gt; TRUE enables </a:t>
            </a:r>
            <a:r>
              <a:rPr lang="en-US" b="1" dirty="0"/>
              <a:t>deep expansion of nested arrays and objects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OUTER only controls handling of empty / non-expandable rows.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94E585-3BAE-403E-BC00-F139566BC7D4}" type="slidenum">
              <a:rPr lang="en-IN" smtClean="0"/>
              <a:t>41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71934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 </a:t>
            </a:r>
            <a:r>
              <a:rPr lang="en-US" b="1" dirty="0"/>
              <a:t>🧠 Explanation</a:t>
            </a:r>
          </a:p>
          <a:p>
            <a:r>
              <a:rPr lang="en-US" dirty="0"/>
              <a:t>Micro-partitioning is </a:t>
            </a:r>
            <a:r>
              <a:rPr lang="en-US" b="1" dirty="0"/>
              <a:t>automatic and always enabled</a:t>
            </a:r>
            <a:r>
              <a:rPr lang="en-US" dirty="0"/>
              <a:t> in Snowflake.</a:t>
            </a:r>
            <a:br>
              <a:rPr lang="en-US" dirty="0"/>
            </a:br>
            <a:r>
              <a:rPr lang="en-US" dirty="0"/>
              <a:t>No manual configuration is required.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94E585-3BAE-403E-BC00-F139566BC7D4}" type="slidenum">
              <a:rPr lang="en-IN" smtClean="0"/>
              <a:t>42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66142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Every user has a </a:t>
            </a:r>
            <a:r>
              <a:rPr lang="en-US" b="1" dirty="0"/>
              <a:t>default role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determines the </a:t>
            </a:r>
            <a:r>
              <a:rPr lang="en-US" b="1" dirty="0"/>
              <a:t>initial role for each session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Users can change roles after login using USE ROLE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94E585-3BAE-403E-BC00-F139566BC7D4}" type="slidenum">
              <a:rPr lang="en-IN" smtClean="0"/>
              <a:t>43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916875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</a:p>
          <a:p>
            <a:r>
              <a:rPr lang="en-US" b="1" dirty="0"/>
              <a:t>Explanation</a:t>
            </a:r>
          </a:p>
          <a:p>
            <a:r>
              <a:rPr lang="en-US" dirty="0"/>
              <a:t>Snowflake manages data internally (files, micro-partitions, compression, metadata).</a:t>
            </a:r>
            <a:br>
              <a:rPr lang="en-US" dirty="0"/>
            </a:br>
            <a:r>
              <a:rPr lang="en-US" dirty="0"/>
              <a:t>Customers </a:t>
            </a:r>
            <a:r>
              <a:rPr lang="en-US" b="1" dirty="0"/>
              <a:t>cannot access storage directly</a:t>
            </a:r>
            <a:r>
              <a:rPr lang="en-US" dirty="0"/>
              <a:t> and can interact with data </a:t>
            </a:r>
            <a:r>
              <a:rPr lang="en-US" b="1" dirty="0"/>
              <a:t>only via SQL</a:t>
            </a:r>
            <a:r>
              <a:rPr lang="en-US" dirty="0"/>
              <a:t>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94E585-3BAE-403E-BC00-F139566BC7D4}" type="slidenum">
              <a:rPr lang="en-IN" smtClean="0"/>
              <a:t>44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712839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94E585-3BAE-403E-BC00-F139566BC7D4}" type="slidenum">
              <a:rPr lang="en-IN" smtClean="0"/>
              <a:t>45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95331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</a:t>
            </a:r>
          </a:p>
          <a:p>
            <a:r>
              <a:rPr lang="en-US" dirty="0"/>
              <a:t>REST API–triggered </a:t>
            </a:r>
            <a:r>
              <a:rPr lang="en-US" dirty="0" err="1"/>
              <a:t>Snowpipe</a:t>
            </a:r>
            <a:r>
              <a:rPr lang="en-US" dirty="0"/>
              <a:t> requires </a:t>
            </a:r>
            <a:r>
              <a:rPr lang="en-US" b="1" dirty="0"/>
              <a:t>manual triggering</a:t>
            </a:r>
            <a:endParaRPr lang="en-US" dirty="0"/>
          </a:p>
          <a:p>
            <a:r>
              <a:rPr lang="en-US" dirty="0"/>
              <a:t>AUTO_INGEST = TRUE is only for event-based cloud notifications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94E585-3BAE-403E-BC00-F139566BC7D4}" type="slidenum">
              <a:rPr lang="en-IN" smtClean="0"/>
              <a:t>46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367923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 </a:t>
            </a:r>
          </a:p>
          <a:p>
            <a:r>
              <a:rPr lang="en-US" dirty="0"/>
              <a:t>USERADMIN manages: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Roles</a:t>
            </a:r>
            <a:br>
              <a:rPr lang="en-US" dirty="0"/>
            </a:br>
            <a:r>
              <a:rPr lang="en-US" dirty="0"/>
              <a:t>It does </a:t>
            </a:r>
            <a:r>
              <a:rPr lang="en-US" b="1" dirty="0"/>
              <a:t>not</a:t>
            </a:r>
            <a:r>
              <a:rPr lang="en-US" dirty="0"/>
              <a:t> manage objects or security policies.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94E585-3BAE-403E-BC00-F139566BC7D4}" type="slidenum">
              <a:rPr lang="en-IN" smtClean="0"/>
              <a:t>47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954082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C. ACCOUNT_USAGE.ACCESS_HISTORY</a:t>
            </a:r>
            <a:endParaRPr lang="en-IN" dirty="0"/>
          </a:p>
          <a:p>
            <a:r>
              <a:rPr lang="en-IN" b="1" dirty="0"/>
              <a:t>🧠 Explanation</a:t>
            </a:r>
          </a:p>
          <a:p>
            <a:r>
              <a:rPr lang="en-IN" dirty="0"/>
              <a:t>Tracks: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Read operations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Writes (INSERT, UPDATE, DELETE, COPY)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Object-level access history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94E585-3BAE-403E-BC00-F139566BC7D4}" type="slidenum">
              <a:rPr lang="en-IN" smtClean="0"/>
              <a:t>48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293594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 </a:t>
            </a:r>
            <a:r>
              <a:rPr lang="en-US" b="1" dirty="0"/>
              <a:t>🧠 Explanation</a:t>
            </a:r>
          </a:p>
          <a:p>
            <a:r>
              <a:rPr lang="en-US" dirty="0"/>
              <a:t>A stored procedure runs with </a:t>
            </a:r>
            <a:r>
              <a:rPr lang="en-US" b="1" dirty="0"/>
              <a:t>either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Caller’s rights </a:t>
            </a:r>
            <a:r>
              <a:rPr lang="en-US" b="1" dirty="0"/>
              <a:t>OR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Owner’s rights</a:t>
            </a:r>
            <a:br>
              <a:rPr lang="en-US" dirty="0"/>
            </a:br>
            <a:r>
              <a:rPr lang="en-US" dirty="0"/>
              <a:t>Never both.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94E585-3BAE-403E-BC00-F139566BC7D4}" type="slidenum">
              <a:rPr lang="en-IN" smtClean="0"/>
              <a:t>49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7753696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94E585-3BAE-403E-BC00-F139566BC7D4}" type="slidenum">
              <a:rPr lang="en-IN" smtClean="0"/>
              <a:t>50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44073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94E585-3BAE-403E-BC00-F139566BC7D4}" type="slidenum">
              <a:rPr lang="en-IN" smtClean="0"/>
              <a:t>51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0982895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Only ACCOUNTADMIN (or role with CREATE ACCOUNT) can create reader accounts.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94E585-3BAE-403E-BC00-F139566BC7D4}" type="slidenum">
              <a:rPr lang="en-IN" smtClean="0"/>
              <a:t>52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1166885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B,C 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94E585-3BAE-403E-BC00-F139566BC7D4}" type="slidenum">
              <a:rPr lang="en-IN" smtClean="0"/>
              <a:t>53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64500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A,B,C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94E585-3BAE-403E-BC00-F139566BC7D4}" type="slidenum">
              <a:rPr lang="en-IN" smtClean="0"/>
              <a:t>54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841411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✅ Correct Option:</a:t>
            </a:r>
            <a:r>
              <a:rPr lang="en-US" dirty="0"/>
              <a:t> </a:t>
            </a:r>
            <a:r>
              <a:rPr lang="en-US" b="1" dirty="0"/>
              <a:t>B</a:t>
            </a:r>
            <a:endParaRPr lang="en-US" dirty="0"/>
          </a:p>
          <a:p>
            <a:r>
              <a:rPr lang="en-US" b="1" dirty="0"/>
              <a:t>Explanation:</a:t>
            </a:r>
            <a:br>
              <a:rPr lang="en-US" dirty="0"/>
            </a:br>
            <a:r>
              <a:rPr lang="en-US" dirty="0"/>
              <a:t>Even when federated authentication (SSO) is enabled, Snowflake </a:t>
            </a:r>
            <a:r>
              <a:rPr lang="en-US" b="1" dirty="0"/>
              <a:t>still allows administrators to create and manage users with Snowflake-managed passwords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However, Snowflake </a:t>
            </a:r>
            <a:r>
              <a:rPr lang="en-US" b="1" dirty="0"/>
              <a:t>recommends</a:t>
            </a:r>
            <a:r>
              <a:rPr lang="en-US" dirty="0"/>
              <a:t> maintaining passwords only in the Identity Provider (IdP) to avoid security risks and confusion.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94E585-3BAE-403E-BC00-F139566BC7D4}" type="slidenum">
              <a:rPr lang="en-IN" smtClean="0"/>
              <a:t>55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994815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✅ Correct Option:</a:t>
            </a:r>
            <a:r>
              <a:rPr lang="en-US" dirty="0"/>
              <a:t> </a:t>
            </a:r>
            <a:r>
              <a:rPr lang="en-US" b="1" dirty="0"/>
              <a:t>B</a:t>
            </a:r>
            <a:endParaRPr lang="en-US" dirty="0"/>
          </a:p>
          <a:p>
            <a:r>
              <a:rPr lang="en-US" b="1" dirty="0"/>
              <a:t>Explanation:</a:t>
            </a:r>
            <a:br>
              <a:rPr lang="en-US" dirty="0"/>
            </a:br>
            <a:r>
              <a:rPr lang="en-US" dirty="0"/>
              <a:t>By default, Snowflake </a:t>
            </a:r>
            <a:r>
              <a:rPr lang="en-US" b="1" dirty="0"/>
              <a:t>allows access from any IP address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IP restrictions are enforced </a:t>
            </a:r>
            <a:r>
              <a:rPr lang="en-US" b="1" dirty="0"/>
              <a:t>only when a Network Policy is explicitly created</a:t>
            </a:r>
            <a:r>
              <a:rPr lang="en-US" dirty="0"/>
              <a:t> by a security administrator.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94E585-3BAE-403E-BC00-F139566BC7D4}" type="slidenum">
              <a:rPr lang="en-IN" smtClean="0"/>
              <a:t>56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9549380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✅ Correct Options:</a:t>
            </a:r>
            <a:r>
              <a:rPr lang="en-US" dirty="0"/>
              <a:t> </a:t>
            </a:r>
            <a:r>
              <a:rPr lang="en-US" b="1" dirty="0"/>
              <a:t>B, C, 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94E585-3BAE-403E-BC00-F139566BC7D4}" type="slidenum">
              <a:rPr lang="en-IN" smtClean="0"/>
              <a:t>57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0801648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✅ Correct Options:</a:t>
            </a:r>
            <a:r>
              <a:rPr lang="en-US" dirty="0"/>
              <a:t> </a:t>
            </a:r>
            <a:r>
              <a:rPr lang="en-US" b="1" dirty="0"/>
              <a:t>C, D</a:t>
            </a:r>
            <a:endParaRPr lang="en-US" dirty="0"/>
          </a:p>
          <a:p>
            <a:r>
              <a:rPr lang="en-US" b="1" dirty="0"/>
              <a:t>Explanation:</a:t>
            </a:r>
            <a:br>
              <a:rPr lang="en-US" dirty="0"/>
            </a:br>
            <a:r>
              <a:rPr lang="en-US" dirty="0"/>
              <a:t>Clustering keys help Snowflake: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Reduce micro-partition scanning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Improve </a:t>
            </a:r>
            <a:r>
              <a:rPr lang="en-US" b="1" dirty="0"/>
              <a:t>query performance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Optimize </a:t>
            </a:r>
            <a:r>
              <a:rPr lang="en-US" b="1" dirty="0"/>
              <a:t>automatic </a:t>
            </a:r>
            <a:r>
              <a:rPr lang="en-US" b="1" dirty="0" err="1"/>
              <a:t>reclustering</a:t>
            </a:r>
            <a:r>
              <a:rPr lang="en-US" b="1" dirty="0"/>
              <a:t> maintenance</a:t>
            </a:r>
            <a:endParaRPr lang="en-US" dirty="0"/>
          </a:p>
          <a:p>
            <a:r>
              <a:rPr lang="en-US" dirty="0"/>
              <a:t>They are effective </a:t>
            </a:r>
            <a:r>
              <a:rPr lang="en-US" b="1" dirty="0"/>
              <a:t>only for very large tables</a:t>
            </a:r>
            <a:r>
              <a:rPr lang="en-US" dirty="0"/>
              <a:t>, not small 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94E585-3BAE-403E-BC00-F139566BC7D4}" type="slidenum">
              <a:rPr lang="en-IN" smtClean="0"/>
              <a:t>58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6067882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✅ Correct Options:</a:t>
            </a:r>
            <a:r>
              <a:rPr lang="en-US" dirty="0"/>
              <a:t> </a:t>
            </a:r>
            <a:r>
              <a:rPr lang="en-US" b="1" dirty="0"/>
              <a:t>A, B, C, D, E, 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94E585-3BAE-403E-BC00-F139566BC7D4}" type="slidenum">
              <a:rPr lang="en-IN" smtClean="0"/>
              <a:t>59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20366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✅ Correct Option:</a:t>
            </a:r>
            <a:r>
              <a:rPr lang="en-US" dirty="0"/>
              <a:t> </a:t>
            </a:r>
            <a:r>
              <a:rPr lang="en-US" b="1" dirty="0"/>
              <a:t>B. 30 days</a:t>
            </a:r>
            <a:endParaRPr lang="en-US" dirty="0"/>
          </a:p>
          <a:p>
            <a:r>
              <a:rPr lang="en-US" b="1" dirty="0"/>
              <a:t>Explanation:</a:t>
            </a:r>
            <a:br>
              <a:rPr lang="en-US" dirty="0"/>
            </a:br>
            <a:r>
              <a:rPr lang="en-US" dirty="0"/>
              <a:t>Snowflake automatically rotates </a:t>
            </a:r>
            <a:r>
              <a:rPr lang="en-US" b="1" dirty="0"/>
              <a:t>Snowflake-managed encryption keys every 30 days</a:t>
            </a:r>
            <a:r>
              <a:rPr lang="en-US" dirty="0"/>
              <a:t>. Retired keys are retained only for decryption until no longer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94E585-3BAE-403E-BC00-F139566BC7D4}" type="slidenum">
              <a:rPr lang="en-IN" smtClean="0"/>
              <a:t>60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1913873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✅ Correct Option:</a:t>
            </a:r>
            <a:r>
              <a:rPr lang="en-US" dirty="0"/>
              <a:t> </a:t>
            </a:r>
            <a:r>
              <a:rPr lang="en-US" b="1" dirty="0"/>
              <a:t>B. FALSE</a:t>
            </a:r>
          </a:p>
          <a:p>
            <a:r>
              <a:rPr lang="en-US" b="1" dirty="0"/>
              <a:t>Explanation:</a:t>
            </a:r>
            <a:br>
              <a:rPr lang="en-US" dirty="0"/>
            </a:br>
            <a:r>
              <a:rPr lang="en-US" dirty="0"/>
              <a:t>Time Travel </a:t>
            </a:r>
            <a:r>
              <a:rPr lang="en-US" b="1" dirty="0"/>
              <a:t>cannot be fully disabled</a:t>
            </a:r>
            <a:r>
              <a:rPr lang="en-US" dirty="0"/>
              <a:t>. ACCOUNTADMIN can set DATA_RETENTION_TIME_IN_DAYS = 0 at account level, but this default can be overridden at lower object levels.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94E585-3BAE-403E-BC00-F139566BC7D4}" type="slidenum">
              <a:rPr lang="en-IN" smtClean="0"/>
              <a:t>61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7477015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✅ Correct Option:</a:t>
            </a:r>
            <a:r>
              <a:rPr lang="en-US" dirty="0"/>
              <a:t> </a:t>
            </a:r>
            <a:r>
              <a:rPr lang="en-US" b="1" dirty="0"/>
              <a:t>C. Unstructured data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94E585-3BAE-403E-BC00-F139566BC7D4}" type="slidenum">
              <a:rPr lang="en-IN" smtClean="0"/>
              <a:t>62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7694240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✅ Correct Option:</a:t>
            </a:r>
            <a:r>
              <a:rPr lang="en-US" dirty="0"/>
              <a:t> </a:t>
            </a:r>
            <a:r>
              <a:rPr lang="en-US" b="1" dirty="0"/>
              <a:t>A. TRUE</a:t>
            </a:r>
            <a:endParaRPr lang="en-US" dirty="0"/>
          </a:p>
          <a:p>
            <a:r>
              <a:rPr lang="en-US" b="1" dirty="0"/>
              <a:t>Explanation:</a:t>
            </a:r>
            <a:br>
              <a:rPr lang="en-US" dirty="0"/>
            </a:br>
            <a:r>
              <a:rPr lang="en-US" dirty="0"/>
              <a:t>Snowflake supports </a:t>
            </a:r>
            <a:r>
              <a:rPr lang="en-US" b="1" dirty="0"/>
              <a:t>role-based access control (RBAC)</a:t>
            </a:r>
            <a:r>
              <a:rPr lang="en-US" dirty="0"/>
              <a:t>. Users can have multiple roles and switch roles during a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94E585-3BAE-403E-BC00-F139566BC7D4}" type="slidenum">
              <a:rPr lang="en-IN" smtClean="0"/>
              <a:t>63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0641593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✅ Correct Option:</a:t>
            </a:r>
            <a:r>
              <a:rPr lang="en-US" dirty="0"/>
              <a:t> </a:t>
            </a:r>
            <a:r>
              <a:rPr lang="en-US" b="1" dirty="0"/>
              <a:t>C. Existing Snowflake sessions remain active</a:t>
            </a:r>
            <a:endParaRPr lang="en-US" dirty="0"/>
          </a:p>
          <a:p>
            <a:r>
              <a:rPr lang="en-US" b="1" dirty="0"/>
              <a:t>Explanation:</a:t>
            </a:r>
            <a:br>
              <a:rPr lang="en-US" dirty="0"/>
            </a:br>
            <a:r>
              <a:rPr lang="en-US" dirty="0"/>
              <a:t>IdP timeout does </a:t>
            </a:r>
            <a:r>
              <a:rPr lang="en-US" b="1" dirty="0"/>
              <a:t>not affect active Snowflake sessions</a:t>
            </a:r>
            <a:r>
              <a:rPr lang="en-US" dirty="0"/>
              <a:t>. Only </a:t>
            </a:r>
            <a:r>
              <a:rPr lang="en-US" b="1" dirty="0"/>
              <a:t>new sessions</a:t>
            </a:r>
            <a:r>
              <a:rPr lang="en-US" dirty="0"/>
              <a:t> require re-authentication.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94E585-3BAE-403E-BC00-F139566BC7D4}" type="slidenum">
              <a:rPr lang="en-IN" smtClean="0"/>
              <a:t>64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4236926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✅ Correct Options:</a:t>
            </a:r>
            <a:r>
              <a:rPr lang="en-IN" dirty="0"/>
              <a:t> </a:t>
            </a:r>
            <a:r>
              <a:rPr lang="en-IN" b="1" dirty="0"/>
              <a:t>A. JSON, B. Parquet</a:t>
            </a:r>
            <a:endParaRPr lang="en-IN" dirty="0"/>
          </a:p>
          <a:p>
            <a:r>
              <a:rPr lang="en-IN" b="1" dirty="0"/>
              <a:t>Explanation:</a:t>
            </a:r>
            <a:br>
              <a:rPr lang="en-IN" dirty="0"/>
            </a:br>
            <a:r>
              <a:rPr lang="en-IN" dirty="0"/>
              <a:t>Snowflake supports </a:t>
            </a:r>
            <a:r>
              <a:rPr lang="en-IN" b="1" dirty="0"/>
              <a:t>JSON (NDJSON)</a:t>
            </a:r>
            <a:r>
              <a:rPr lang="en-IN" dirty="0"/>
              <a:t> and </a:t>
            </a:r>
            <a:r>
              <a:rPr lang="en-IN" b="1" dirty="0"/>
              <a:t>Parquet</a:t>
            </a:r>
            <a:r>
              <a:rPr lang="en-IN" dirty="0"/>
              <a:t> for unloading.</a:t>
            </a:r>
            <a:br>
              <a:rPr lang="en-IN" dirty="0"/>
            </a:br>
            <a:r>
              <a:rPr lang="en-IN" dirty="0"/>
              <a:t>Avro and ORC are supported for </a:t>
            </a:r>
            <a:r>
              <a:rPr lang="en-IN" b="1" dirty="0"/>
              <a:t>loading</a:t>
            </a:r>
            <a:r>
              <a:rPr lang="en-IN" dirty="0"/>
              <a:t>, not unloading.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94E585-3BAE-403E-BC00-F139566BC7D4}" type="slidenum">
              <a:rPr lang="en-IN" smtClean="0"/>
              <a:t>65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3044722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✅ Correct Option:</a:t>
            </a:r>
            <a:r>
              <a:rPr lang="en-US" dirty="0"/>
              <a:t> </a:t>
            </a:r>
            <a:r>
              <a:rPr lang="en-US" b="1" dirty="0"/>
              <a:t>E. All of the above</a:t>
            </a:r>
            <a:endParaRPr lang="en-US" dirty="0"/>
          </a:p>
          <a:p>
            <a:r>
              <a:rPr lang="en-US" b="1" dirty="0"/>
              <a:t>Explanation:</a:t>
            </a:r>
            <a:br>
              <a:rPr lang="en-US" dirty="0"/>
            </a:br>
            <a:r>
              <a:rPr lang="en-US" b="1" dirty="0"/>
              <a:t>All Snowflake editions encrypt data at rest automatically</a:t>
            </a:r>
            <a:r>
              <a:rPr lang="en-US" dirty="0"/>
              <a:t>, with no customer configuration required.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94E585-3BAE-403E-BC00-F139566BC7D4}" type="slidenum">
              <a:rPr lang="en-IN" smtClean="0"/>
              <a:t>66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4202720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✅ Correct Option:</a:t>
            </a:r>
            <a:r>
              <a:rPr lang="en-US" dirty="0"/>
              <a:t> </a:t>
            </a:r>
            <a:r>
              <a:rPr lang="en-US" b="1" dirty="0"/>
              <a:t>D. USE_CACHED_RESULT = FALSE</a:t>
            </a:r>
          </a:p>
          <a:p>
            <a:endParaRPr lang="en-US" b="1" dirty="0"/>
          </a:p>
          <a:p>
            <a:r>
              <a:rPr lang="en-US" dirty="0"/>
              <a:t>ALTER SESSION SET USE_CACHED_RESULT = FALSE;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94E585-3BAE-403E-BC00-F139566BC7D4}" type="slidenum">
              <a:rPr lang="en-IN" smtClean="0"/>
              <a:t>67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950541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✅ Correct Option:</a:t>
            </a:r>
            <a:r>
              <a:rPr lang="en-US" dirty="0"/>
              <a:t> </a:t>
            </a:r>
            <a:r>
              <a:rPr lang="en-US" b="1" dirty="0"/>
              <a:t>C. Time Travel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94E585-3BAE-403E-BC00-F139566BC7D4}" type="slidenum">
              <a:rPr lang="en-IN" smtClean="0"/>
              <a:t>68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0606393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✅ Correct Option:</a:t>
            </a:r>
            <a:r>
              <a:rPr lang="en-US" dirty="0"/>
              <a:t> </a:t>
            </a:r>
            <a:r>
              <a:rPr lang="en-US" b="1" dirty="0"/>
              <a:t>C. Trade-off between credit savings and cache retention</a:t>
            </a:r>
          </a:p>
          <a:p>
            <a:endParaRPr lang="en-US" b="1" dirty="0"/>
          </a:p>
          <a:p>
            <a:r>
              <a:rPr lang="en-US" b="1" dirty="0"/>
              <a:t>Explanation:</a:t>
            </a:r>
            <a:br>
              <a:rPr lang="en-US" dirty="0"/>
            </a:br>
            <a:r>
              <a:rPr lang="en-US" dirty="0"/>
              <a:t>Suspending a warehouse stops credit usage but </a:t>
            </a:r>
            <a:r>
              <a:rPr lang="en-US" b="1" dirty="0"/>
              <a:t>clears local cache</a:t>
            </a:r>
            <a:r>
              <a:rPr lang="en-US" dirty="0"/>
              <a:t>, which can slow subsequent queries. Keeping it running retains cache and may improve performance for repeated workloads.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94E585-3BAE-403E-BC00-F139566BC7D4}" type="slidenum">
              <a:rPr lang="en-IN" smtClean="0"/>
              <a:t>69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411988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✅ Correct Options:</a:t>
            </a:r>
            <a:r>
              <a:rPr lang="en-US" dirty="0"/>
              <a:t> </a:t>
            </a:r>
            <a:r>
              <a:rPr lang="en-US" b="1" dirty="0"/>
              <a:t>A, B, C, D, 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94E585-3BAE-403E-BC00-F139566BC7D4}" type="slidenum">
              <a:rPr lang="en-IN" smtClean="0"/>
              <a:t>70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8307763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✅ Correct Option:</a:t>
            </a:r>
            <a:r>
              <a:rPr lang="en-US" dirty="0"/>
              <a:t> </a:t>
            </a:r>
            <a:r>
              <a:rPr lang="en-US" b="1" dirty="0"/>
              <a:t>B. FALSE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Explanation:</a:t>
            </a:r>
            <a:br>
              <a:rPr lang="en-US" dirty="0"/>
            </a:br>
            <a:r>
              <a:rPr lang="en-US" dirty="0"/>
              <a:t>Even if the user can log in to Okta, </a:t>
            </a:r>
            <a:r>
              <a:rPr lang="en-US" b="1" dirty="0"/>
              <a:t>Snowflake access is denied</a:t>
            </a:r>
            <a:r>
              <a:rPr lang="en-US" dirty="0"/>
              <a:t> if the user is dropped or disabled in Snowflake.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94E585-3BAE-403E-BC00-F139566BC7D4}" type="slidenum">
              <a:rPr lang="en-IN" smtClean="0"/>
              <a:t>71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9037860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✅ Correct Option:</a:t>
            </a:r>
            <a:r>
              <a:rPr lang="en-US" dirty="0"/>
              <a:t> </a:t>
            </a:r>
            <a:r>
              <a:rPr lang="en-US" b="1" dirty="0"/>
              <a:t>B. Small warehouse with insufficient memory</a:t>
            </a:r>
            <a:endParaRPr lang="en-US" dirty="0"/>
          </a:p>
          <a:p>
            <a:r>
              <a:rPr lang="en-US" b="1" dirty="0"/>
              <a:t>Explanation:</a:t>
            </a:r>
            <a:br>
              <a:rPr lang="en-US" dirty="0"/>
            </a:br>
            <a:r>
              <a:rPr lang="en-US" dirty="0"/>
              <a:t>When query memory exceeds warehouse capacity, Snowflake spills data to local storage, slowing performance. Increasing warehouse size usually resolves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94E585-3BAE-403E-BC00-F139566BC7D4}" type="slidenum">
              <a:rPr lang="en-IN" smtClean="0"/>
              <a:t>72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7947653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Correct Option:</a:t>
            </a:r>
            <a:r>
              <a:rPr lang="en-US" dirty="0"/>
              <a:t> </a:t>
            </a:r>
            <a:r>
              <a:rPr lang="en-US" b="1" dirty="0"/>
              <a:t>D. Load history is reset</a:t>
            </a:r>
            <a:endParaRPr lang="en-US" dirty="0"/>
          </a:p>
          <a:p>
            <a:r>
              <a:rPr lang="en-US" b="1" dirty="0"/>
              <a:t>Explanation:</a:t>
            </a:r>
            <a:br>
              <a:rPr lang="en-US" dirty="0"/>
            </a:br>
            <a:r>
              <a:rPr lang="en-US" dirty="0"/>
              <a:t>Recreating a pipe </a:t>
            </a:r>
            <a:r>
              <a:rPr lang="en-US" b="1" dirty="0"/>
              <a:t>clears its load history</a:t>
            </a:r>
            <a:r>
              <a:rPr lang="en-US" dirty="0"/>
              <a:t>. Files still present in the stage may be reloaded unless managed carefully.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94E585-3BAE-403E-BC00-F139566BC7D4}" type="slidenum">
              <a:rPr lang="en-IN" smtClean="0"/>
              <a:t>73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9779527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✅ Correct Option:</a:t>
            </a:r>
            <a:r>
              <a:rPr lang="en-US" dirty="0"/>
              <a:t> </a:t>
            </a:r>
            <a:r>
              <a:rPr lang="en-US" b="1" dirty="0"/>
              <a:t>C. User must sign out and sign back in</a:t>
            </a:r>
            <a:endParaRPr lang="en-US" dirty="0"/>
          </a:p>
          <a:p>
            <a:r>
              <a:rPr lang="en-US" b="1" dirty="0"/>
              <a:t>Explanation:</a:t>
            </a:r>
            <a:br>
              <a:rPr lang="en-US" dirty="0"/>
            </a:br>
            <a:r>
              <a:rPr lang="en-US" dirty="0"/>
              <a:t>New policies take effect </a:t>
            </a:r>
            <a:r>
              <a:rPr lang="en-US" b="1" dirty="0"/>
              <a:t>only after re-authentication</a:t>
            </a:r>
            <a:r>
              <a:rPr lang="en-US" dirty="0"/>
              <a:t>. The user cannot continue operations until signing out and back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94E585-3BAE-403E-BC00-F139566BC7D4}" type="slidenum">
              <a:rPr lang="en-IN" smtClean="0"/>
              <a:t>74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8398719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✅ Correct Option:</a:t>
            </a:r>
            <a:r>
              <a:rPr lang="en-US" dirty="0"/>
              <a:t> </a:t>
            </a:r>
            <a:r>
              <a:rPr lang="en-US" b="1" dirty="0"/>
              <a:t>E. All of the above</a:t>
            </a:r>
            <a:endParaRPr lang="en-US" dirty="0"/>
          </a:p>
          <a:p>
            <a:r>
              <a:rPr lang="en-US" b="1" dirty="0"/>
              <a:t>Explanation:</a:t>
            </a:r>
            <a:br>
              <a:rPr lang="en-US" dirty="0"/>
            </a:br>
            <a:r>
              <a:rPr lang="en-US" dirty="0"/>
              <a:t>Federated authentication (SSO) is supported across </a:t>
            </a:r>
            <a:r>
              <a:rPr lang="en-US" b="1" dirty="0"/>
              <a:t>all Snowflake editions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94E585-3BAE-403E-BC00-F139566BC7D4}" type="slidenum">
              <a:rPr lang="en-IN" smtClean="0"/>
              <a:t>75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5827973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✅ Correct Option:</a:t>
            </a:r>
            <a:r>
              <a:rPr lang="en-US" dirty="0"/>
              <a:t> </a:t>
            </a:r>
            <a:r>
              <a:rPr lang="en-US" b="1" dirty="0"/>
              <a:t>B. Data is moved to Snowflake Fail-safe</a:t>
            </a:r>
            <a:endParaRPr lang="en-US" dirty="0"/>
          </a:p>
          <a:p>
            <a:r>
              <a:rPr lang="en-US" b="1" dirty="0"/>
              <a:t>Explanation:</a:t>
            </a:r>
            <a:br>
              <a:rPr lang="en-US" dirty="0"/>
            </a:br>
            <a:r>
              <a:rPr lang="en-US" dirty="0"/>
              <a:t>After Time Travel expires, data enters </a:t>
            </a:r>
            <a:r>
              <a:rPr lang="en-US" b="1" dirty="0"/>
              <a:t>Fail-safe</a:t>
            </a:r>
            <a:r>
              <a:rPr lang="en-US" dirty="0"/>
              <a:t>. Only </a:t>
            </a:r>
            <a:r>
              <a:rPr lang="en-US" b="1" dirty="0"/>
              <a:t>Snowflake Support</a:t>
            </a:r>
            <a:r>
              <a:rPr lang="en-US" dirty="0"/>
              <a:t> can restore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94E585-3BAE-403E-BC00-F139566BC7D4}" type="slidenum">
              <a:rPr lang="en-IN" smtClean="0"/>
              <a:t>76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1027132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✅ Correct Option:</a:t>
            </a:r>
            <a:r>
              <a:rPr lang="en-US" dirty="0"/>
              <a:t> </a:t>
            </a:r>
            <a:r>
              <a:rPr lang="en-US" b="1" dirty="0"/>
              <a:t>C. SHOW PARAMETERS</a:t>
            </a:r>
          </a:p>
          <a:p>
            <a:endParaRPr lang="en-US" b="1" dirty="0"/>
          </a:p>
          <a:p>
            <a:r>
              <a:rPr lang="en-US" dirty="0"/>
              <a:t>SHOW PARAMETERS LIKE '</a:t>
            </a:r>
            <a:r>
              <a:rPr lang="en-US" dirty="0" err="1"/>
              <a:t>network_policy</a:t>
            </a:r>
            <a:r>
              <a:rPr lang="en-US" dirty="0"/>
              <a:t>' IN ACCOUNT;</a:t>
            </a:r>
          </a:p>
          <a:p>
            <a:r>
              <a:rPr lang="en-US" dirty="0"/>
              <a:t>SHOW PARAMETERS LIKE '</a:t>
            </a:r>
            <a:r>
              <a:rPr lang="en-US" dirty="0" err="1"/>
              <a:t>network_policy</a:t>
            </a:r>
            <a:r>
              <a:rPr lang="en-US" dirty="0"/>
              <a:t>' IN USER &lt;username&gt;;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94E585-3BAE-403E-BC00-F139566BC7D4}" type="slidenum">
              <a:rPr lang="en-IN" smtClean="0"/>
              <a:t>77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3151377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✅ Correct Options:</a:t>
            </a:r>
            <a:r>
              <a:rPr lang="en-US" dirty="0"/>
              <a:t> </a:t>
            </a:r>
            <a:r>
              <a:rPr lang="en-US" b="1" dirty="0"/>
              <a:t>A, 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94E585-3BAE-403E-BC00-F139566BC7D4}" type="slidenum">
              <a:rPr lang="en-IN" smtClean="0"/>
              <a:t>78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8244277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✅ Correct Option:</a:t>
            </a:r>
            <a:r>
              <a:rPr lang="en-US" dirty="0"/>
              <a:t> </a:t>
            </a:r>
            <a:r>
              <a:rPr lang="en-US" b="1" dirty="0"/>
              <a:t>B. FALSE</a:t>
            </a:r>
            <a:endParaRPr lang="en-US" dirty="0"/>
          </a:p>
          <a:p>
            <a:r>
              <a:rPr lang="en-US" b="1" dirty="0"/>
              <a:t>Explanation:</a:t>
            </a:r>
            <a:br>
              <a:rPr lang="en-US" dirty="0"/>
            </a:br>
            <a:r>
              <a:rPr lang="en-US" dirty="0"/>
              <a:t>Multi-cluster warehouses improve </a:t>
            </a:r>
            <a:r>
              <a:rPr lang="en-US" b="1" dirty="0"/>
              <a:t>concurrency</a:t>
            </a:r>
            <a:r>
              <a:rPr lang="en-US" dirty="0"/>
              <a:t>, not individual query speed. For slow queries, increasing warehouse </a:t>
            </a:r>
            <a:r>
              <a:rPr lang="en-US" b="1" dirty="0"/>
              <a:t>size</a:t>
            </a:r>
            <a:r>
              <a:rPr lang="en-US" dirty="0"/>
              <a:t> is more effective.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94E585-3BAE-403E-BC00-F139566BC7D4}" type="slidenum">
              <a:rPr lang="en-IN" smtClean="0"/>
              <a:t>79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4518436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Correct Option: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C. Pattern matching using regex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Explanation: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Pattern matching requires scanning all files and applying regex, making it the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slowest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selection method.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94E585-3BAE-403E-BC00-F139566BC7D4}" type="slidenum">
              <a:rPr lang="en-IN" smtClean="0"/>
              <a:t>80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6840119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✅ Correct Option:</a:t>
            </a:r>
            <a:r>
              <a:rPr lang="en-US" dirty="0"/>
              <a:t> </a:t>
            </a:r>
            <a:r>
              <a:rPr lang="en-US" b="1" dirty="0"/>
              <a:t>B</a:t>
            </a:r>
            <a:endParaRPr lang="en-US" dirty="0"/>
          </a:p>
          <a:p>
            <a:r>
              <a:rPr lang="en-US" b="1" dirty="0"/>
              <a:t>Explanation:</a:t>
            </a:r>
            <a:br>
              <a:rPr lang="en-US" dirty="0"/>
            </a:br>
            <a:r>
              <a:rPr lang="en-US" dirty="0"/>
              <a:t>Economy policy is conservative and adds clusters only when predicted workload can keep the cluster busy for a minimum duration (commonly referenced as ~6 minutes), prioritizing cost efficiency.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94E585-3BAE-403E-BC00-F139566BC7D4}" type="slidenum">
              <a:rPr lang="en-IN" smtClean="0"/>
              <a:t>81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0216204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Correct Option: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B. SINGLE = TRUE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94E585-3BAE-403E-BC00-F139566BC7D4}" type="slidenum">
              <a:rPr lang="en-IN" smtClean="0"/>
              <a:t>82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2400050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Correct Option: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E. ORGADMIN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Explanation:</a:t>
            </a: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ORGADMIN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manages org-level operations such as creating accounts, viewing org accounts/regions, and org-wide usage.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94E585-3BAE-403E-BC00-F139566BC7D4}" type="slidenum">
              <a:rPr lang="en-IN" smtClean="0"/>
              <a:t>83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0459446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✅ Correct Option:</a:t>
            </a:r>
            <a:r>
              <a:rPr lang="en-US" dirty="0"/>
              <a:t> </a:t>
            </a:r>
            <a:r>
              <a:rPr lang="en-US" b="1" dirty="0"/>
              <a:t>B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94E585-3BAE-403E-BC00-F139566BC7D4}" type="slidenum">
              <a:rPr lang="en-IN" smtClean="0"/>
              <a:t>84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0667120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94E585-3BAE-403E-BC00-F139566BC7D4}" type="slidenum">
              <a:rPr lang="en-IN" smtClean="0"/>
              <a:t>85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5221290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✅ Correct Options:</a:t>
            </a:r>
            <a:r>
              <a:rPr lang="en-US" dirty="0"/>
              <a:t> </a:t>
            </a:r>
            <a:r>
              <a:rPr lang="en-US" b="1" dirty="0"/>
              <a:t>B, C</a:t>
            </a:r>
            <a:endParaRPr lang="en-US" dirty="0"/>
          </a:p>
          <a:p>
            <a:r>
              <a:rPr lang="en-US" b="1" dirty="0"/>
              <a:t>Explanation:</a:t>
            </a:r>
            <a:br>
              <a:rPr lang="en-US" dirty="0"/>
            </a:br>
            <a:r>
              <a:rPr lang="en-US" dirty="0"/>
              <a:t>User-managed tasks fit when you can keep a warehouse efficiently utilized and don’t require strict schedule precision. Serverless tasks fit better for low utilization or strict interval adherence.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94E585-3BAE-403E-BC00-F139566BC7D4}" type="slidenum">
              <a:rPr lang="en-IN" smtClean="0"/>
              <a:t>86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5493377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✅ Correct Option:</a:t>
            </a:r>
            <a:r>
              <a:rPr lang="en-US" dirty="0"/>
              <a:t> </a:t>
            </a:r>
            <a:r>
              <a:rPr lang="en-US" b="1" dirty="0"/>
              <a:t>B. Blocked list first</a:t>
            </a:r>
            <a:endParaRPr lang="en-US" dirty="0"/>
          </a:p>
          <a:p>
            <a:r>
              <a:rPr lang="en-US" b="1" dirty="0"/>
              <a:t>Explanation:</a:t>
            </a:r>
            <a:br>
              <a:rPr lang="en-US" dirty="0"/>
            </a:br>
            <a:r>
              <a:rPr lang="en-US" dirty="0"/>
              <a:t>Snowflake evaluates the </a:t>
            </a:r>
            <a:r>
              <a:rPr lang="en-US" b="1" dirty="0"/>
              <a:t>blocked list first</a:t>
            </a:r>
            <a:r>
              <a:rPr lang="en-US" dirty="0"/>
              <a:t>, then allowed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94E585-3BAE-403E-BC00-F139566BC7D4}" type="slidenum">
              <a:rPr lang="en-IN" smtClean="0"/>
              <a:t>87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5186720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✅ Correct Options:</a:t>
            </a:r>
            <a:r>
              <a:rPr lang="en-US" dirty="0"/>
              <a:t> </a:t>
            </a:r>
            <a:r>
              <a:rPr lang="en-US" b="1" dirty="0"/>
              <a:t>D, E, 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94E585-3BAE-403E-BC00-F139566BC7D4}" type="slidenum">
              <a:rPr lang="en-IN" smtClean="0"/>
              <a:t>88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6360162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✅ Correct Options:</a:t>
            </a:r>
            <a:r>
              <a:rPr lang="en-IN" dirty="0"/>
              <a:t> </a:t>
            </a:r>
            <a:r>
              <a:rPr lang="en-IN" b="1" dirty="0"/>
              <a:t>C, D</a:t>
            </a:r>
            <a:endParaRPr lang="en-IN" dirty="0"/>
          </a:p>
          <a:p>
            <a:r>
              <a:rPr lang="en-IN" b="1" dirty="0"/>
              <a:t>Explanation:</a:t>
            </a:r>
            <a:br>
              <a:rPr lang="en-IN" dirty="0"/>
            </a:br>
            <a:r>
              <a:rPr lang="en-IN" dirty="0"/>
              <a:t>Multi-cluster warehouses operate in </a:t>
            </a:r>
            <a:r>
              <a:rPr lang="en-IN" b="1" dirty="0"/>
              <a:t>Maximized</a:t>
            </a:r>
            <a:r>
              <a:rPr lang="en-IN" dirty="0"/>
              <a:t> (all clusters on) or </a:t>
            </a:r>
            <a:r>
              <a:rPr lang="en-IN" b="1" dirty="0"/>
              <a:t>Auto-scaling</a:t>
            </a:r>
            <a:r>
              <a:rPr lang="en-IN" dirty="0"/>
              <a:t> (clusters start/stop with load).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94E585-3BAE-403E-BC00-F139566BC7D4}" type="slidenum">
              <a:rPr lang="en-IN" smtClean="0"/>
              <a:t>89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7310260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94E585-3BAE-403E-BC00-F139566BC7D4}" type="slidenum">
              <a:rPr lang="en-IN" smtClean="0"/>
              <a:t>90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598356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94E585-3BAE-403E-BC00-F139566BC7D4}" type="slidenum">
              <a:rPr lang="en-IN" smtClean="0"/>
              <a:t>91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6146468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94E585-3BAE-403E-BC00-F139566BC7D4}" type="slidenum">
              <a:rPr lang="en-IN" smtClean="0"/>
              <a:t>92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299745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94E585-3BAE-403E-BC00-F139566BC7D4}" type="slidenum">
              <a:rPr lang="en-IN" smtClean="0"/>
              <a:t>93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1786095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94E585-3BAE-403E-BC00-F139566BC7D4}" type="slidenum">
              <a:rPr lang="en-IN" smtClean="0"/>
              <a:t>94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180045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94E585-3BAE-403E-BC00-F139566BC7D4}" type="slidenum">
              <a:rPr lang="en-IN" smtClean="0"/>
              <a:t>95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146005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94E585-3BAE-403E-BC00-F139566BC7D4}" type="slidenum">
              <a:rPr lang="en-IN" smtClean="0"/>
              <a:t>96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0433597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94E585-3BAE-403E-BC00-F139566BC7D4}" type="slidenum">
              <a:rPr lang="en-IN" smtClean="0"/>
              <a:t>97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5057317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94E585-3BAE-403E-BC00-F139566BC7D4}" type="slidenum">
              <a:rPr lang="en-IN" smtClean="0"/>
              <a:t>98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394997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94E585-3BAE-403E-BC00-F139566BC7D4}" type="slidenum">
              <a:rPr lang="en-IN" smtClean="0"/>
              <a:t>99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90685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DC7C6-5D93-7A55-AC62-2BEFCACBCC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B168E3-B2F0-5A9D-3AC3-D04DB6375B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EDEB6B-B6FE-2A33-D4DB-88FE4C450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3F380-8EA7-409C-AA03-BF5455C6B512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935815-5E64-B4F3-2421-38409D85C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9ECE06-23AE-CF5A-2B22-45F92457B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41991-6594-4D44-B95D-C998301B7F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4270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8741F-0850-E589-5464-F681B0F93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5FBAF2-10EC-100B-0F39-2878566456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9A7387-D374-2A86-FB94-3FB6CC576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3F380-8EA7-409C-AA03-BF5455C6B512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F3E416-5AA2-3402-191C-BDBE619BB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A8518D-C3DB-CA74-BC12-B3729A1D6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41991-6594-4D44-B95D-C998301B7F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883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F9CB2-71F1-F5F3-B8A4-3D9B05330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E7360B-D523-7C08-4331-24D23373B7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7CC681-71C8-8C6A-4861-E7402A1B4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3F380-8EA7-409C-AA03-BF5455C6B512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336355-2A4A-C658-491B-DE66C4B12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37D21C-8972-3604-7615-B8FB9093D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41991-6594-4D44-B95D-C998301B7F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9758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880EC-089D-0FCC-B21E-0984B9A6E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4B7F31-245C-1080-F418-18AB5BFE97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B92D1D-EE89-AB38-4D11-970932B260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D01A49-FD46-736F-5A5A-F3D046A71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3F380-8EA7-409C-AA03-BF5455C6B512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74FEC3-0594-9580-4BCC-E4407E944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15160F-36E5-84C5-3AE5-DD72660C6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41991-6594-4D44-B95D-C998301B7F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2434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2DFCA-3572-69D2-8DBF-3EC1E4D60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D86B17-36D4-4B12-5983-118A9904DA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827B15-DC6F-25EE-CD85-4BF52DC17A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28BE95-854F-4619-674C-F2D3177F84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2085AC-D683-2E1A-8A91-0669B27EA4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6A5E53-ACEE-DF23-FD02-F0C5E040F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3F380-8EA7-409C-AA03-BF5455C6B512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9612AC-0A78-8F57-4A1C-84413B646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D8CB7D-1031-9B2C-11BD-15D9AB4D2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41991-6594-4D44-B95D-C998301B7F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6244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80E69-307D-AE44-C9BD-4FC13F36C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235952-3F75-51B2-FEED-FEAAB067A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3F380-8EA7-409C-AA03-BF5455C6B512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24C1FC-2D5B-8056-296F-1897D4AC4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E03431-983F-8231-FB20-22DC46C61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41991-6594-4D44-B95D-C998301B7F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8729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94AE6A-0211-B8C6-8DD5-1A0B92133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3F380-8EA7-409C-AA03-BF5455C6B512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C3C377-90AA-B120-C7C8-347E75954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D2EBA8-D3CB-2EBA-AF04-050E2CB33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41991-6594-4D44-B95D-C998301B7F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83365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702ED-3C09-A201-0240-BFABCE1E7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2AAE96-4842-BAE8-4EB0-B796E8E383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A149B4-454B-DDFF-9AA1-871C45BC6A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B17E8C-946C-855E-589C-D288CDB8F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3F380-8EA7-409C-AA03-BF5455C6B512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2F1FBF-2940-F436-9945-B866B20A1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3A6A8F-9AC7-FA2A-BFF1-27DE6F7F5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41991-6594-4D44-B95D-C998301B7F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9460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EDE0B-6AC9-D3D8-4F44-09150FE91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5D8FB6-44C3-F364-554D-48C4D50FF2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F88A3D-F98A-2BD5-E0D6-BC92E679D0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17841E-D03D-EC8C-660C-941B47965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3F380-8EA7-409C-AA03-BF5455C6B512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26D3B6-917A-9FBF-D438-218C42F84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AA801F-74A7-57FF-6DF6-25E08748A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41991-6594-4D44-B95D-C998301B7F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7461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A7F0B-BE6C-495E-5B81-B252F475E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5FB8DE-4C52-5B20-4F2F-E7CE380ABB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597408-EC94-C95D-BB9A-0AAD2D175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3F380-8EA7-409C-AA03-BF5455C6B512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BEA40E-3277-7C4E-8716-4435B9AB4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02AE46-8439-B6BD-5D29-2C0D9D22A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41991-6594-4D44-B95D-C998301B7F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5207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4EB1E7-7F2E-54F4-8D7B-B8AC948A25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0E34F3-707D-3B85-FF5D-BF60F379E8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93974E-7ED1-7939-7B4F-EC3E249C3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3F380-8EA7-409C-AA03-BF5455C6B512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F10782-D409-4FD9-BE53-8613BB490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D45437-FF30-606B-EB3E-CE68A2009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41991-6594-4D44-B95D-C998301B7F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0095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C7D5B9-0578-7EE2-BE38-30D312790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82DE1A-4B87-4162-5B0F-8FB0448540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1A80FC-71EB-CB9F-AC96-30494949C2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43F380-8EA7-409C-AA03-BF5455C6B512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05DCB2-9F84-FF78-770C-3ED78A74C0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DAF85C-C7E4-F08B-0FF1-D927E4EA33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C41991-6594-4D44-B95D-C998301B7F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04481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331A83E-F2F7-0D71-75DB-1D451AE9969C}"/>
              </a:ext>
            </a:extLst>
          </p:cNvPr>
          <p:cNvSpPr txBox="1"/>
          <p:nvPr/>
        </p:nvSpPr>
        <p:spPr>
          <a:xfrm>
            <a:off x="138022" y="750498"/>
            <a:ext cx="1020505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Search optimization is a Database-level property applied to all the tables within the database with supported data types. (True/False)</a:t>
            </a:r>
          </a:p>
          <a:p>
            <a:endParaRPr lang="en-IN" dirty="0"/>
          </a:p>
          <a:p>
            <a:r>
              <a:rPr lang="en-IN" dirty="0"/>
              <a:t>A FALSE</a:t>
            </a:r>
          </a:p>
          <a:p>
            <a:endParaRPr lang="en-IN" dirty="0"/>
          </a:p>
          <a:p>
            <a:r>
              <a:rPr lang="en-IN" dirty="0"/>
              <a:t>B TRUE</a:t>
            </a:r>
          </a:p>
        </p:txBody>
      </p:sp>
    </p:spTree>
    <p:extLst>
      <p:ext uri="{BB962C8B-B14F-4D97-AF65-F5344CB8AC3E}">
        <p14:creationId xmlns:p14="http://schemas.microsoft.com/office/powerpoint/2010/main" val="2044328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FB1540E-D30C-656A-1188-7B19D802B3DF}"/>
              </a:ext>
            </a:extLst>
          </p:cNvPr>
          <p:cNvSpPr txBox="1"/>
          <p:nvPr/>
        </p:nvSpPr>
        <p:spPr>
          <a:xfrm>
            <a:off x="740664" y="484632"/>
            <a:ext cx="840105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2 Which services are managed by Snowflake's cloud services layer? </a:t>
            </a:r>
          </a:p>
          <a:p>
            <a:endParaRPr lang="en-IN" dirty="0"/>
          </a:p>
          <a:p>
            <a:r>
              <a:rPr lang="en-IN" dirty="0"/>
              <a:t>A Metadata Management</a:t>
            </a:r>
          </a:p>
          <a:p>
            <a:endParaRPr lang="en-IN" dirty="0"/>
          </a:p>
          <a:p>
            <a:r>
              <a:rPr lang="en-IN" dirty="0"/>
              <a:t>B Access Control</a:t>
            </a:r>
          </a:p>
          <a:p>
            <a:endParaRPr lang="en-IN" dirty="0"/>
          </a:p>
          <a:p>
            <a:r>
              <a:rPr lang="en-IN" dirty="0"/>
              <a:t>C Authentication</a:t>
            </a:r>
          </a:p>
          <a:p>
            <a:endParaRPr lang="en-IN" dirty="0"/>
          </a:p>
          <a:p>
            <a:r>
              <a:rPr lang="en-IN" dirty="0"/>
              <a:t>D Query Parsing and Optimization</a:t>
            </a:r>
          </a:p>
          <a:p>
            <a:endParaRPr lang="en-IN" dirty="0"/>
          </a:p>
          <a:p>
            <a:r>
              <a:rPr lang="en-IN" dirty="0"/>
              <a:t>E Infrastructure Management</a:t>
            </a:r>
          </a:p>
        </p:txBody>
      </p:sp>
    </p:spTree>
    <p:extLst>
      <p:ext uri="{BB962C8B-B14F-4D97-AF65-F5344CB8AC3E}">
        <p14:creationId xmlns:p14="http://schemas.microsoft.com/office/powerpoint/2010/main" val="15108572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1C972E6-B30C-4CAC-8EB1-D70D2DB3797C}"/>
              </a:ext>
            </a:extLst>
          </p:cNvPr>
          <p:cNvSpPr txBox="1"/>
          <p:nvPr/>
        </p:nvSpPr>
        <p:spPr>
          <a:xfrm>
            <a:off x="621792" y="512064"/>
            <a:ext cx="851992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Which view in the Account Usage Schema can be used to query the replication history for a specified database?</a:t>
            </a:r>
          </a:p>
          <a:p>
            <a:endParaRPr lang="en-IN" dirty="0"/>
          </a:p>
          <a:p>
            <a:r>
              <a:rPr lang="en-IN" dirty="0"/>
              <a:t>A REPLICATION_GROUP_REFRESH_HISTORY</a:t>
            </a:r>
          </a:p>
          <a:p>
            <a:endParaRPr lang="en-IN" dirty="0"/>
          </a:p>
          <a:p>
            <a:r>
              <a:rPr lang="en-IN" dirty="0"/>
              <a:t>B REPLICATION_USAGE_HISTORY</a:t>
            </a:r>
          </a:p>
          <a:p>
            <a:endParaRPr lang="en-IN" dirty="0"/>
          </a:p>
          <a:p>
            <a:r>
              <a:rPr lang="en-IN" dirty="0"/>
              <a:t>C DATABASE_REFRESH_HISTORY</a:t>
            </a:r>
          </a:p>
          <a:p>
            <a:endParaRPr lang="en-IN" dirty="0"/>
          </a:p>
          <a:p>
            <a:r>
              <a:rPr lang="en-IN" dirty="0"/>
              <a:t>D DATA_TRANSFER_HISTORY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750773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5904737-62EE-0734-72AF-097008DD69DB}"/>
              </a:ext>
            </a:extLst>
          </p:cNvPr>
          <p:cNvSpPr txBox="1"/>
          <p:nvPr/>
        </p:nvSpPr>
        <p:spPr>
          <a:xfrm>
            <a:off x="274320" y="484632"/>
            <a:ext cx="1137513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Monica has successfully created a task with the 5 minutes schedule. It has been 30 minutes, but the task did not run. What could be the reason?</a:t>
            </a:r>
          </a:p>
          <a:p>
            <a:endParaRPr lang="en-IN" dirty="0"/>
          </a:p>
          <a:p>
            <a:r>
              <a:rPr lang="en-IN" dirty="0"/>
              <a:t>A Monica doesn't have the authority to run the task</a:t>
            </a:r>
          </a:p>
          <a:p>
            <a:endParaRPr lang="en-IN" dirty="0"/>
          </a:p>
          <a:p>
            <a:r>
              <a:rPr lang="en-IN" dirty="0"/>
              <a:t>B Task schedule should not be less than 60 minutes</a:t>
            </a:r>
          </a:p>
          <a:p>
            <a:endParaRPr lang="en-IN" dirty="0"/>
          </a:p>
          <a:p>
            <a:r>
              <a:rPr lang="en-IN" dirty="0"/>
              <a:t>C Monica should run the ALTER TASK command to RESUME the task</a:t>
            </a:r>
          </a:p>
          <a:p>
            <a:endParaRPr lang="en-IN" dirty="0"/>
          </a:p>
          <a:p>
            <a:r>
              <a:rPr lang="en-IN" dirty="0"/>
              <a:t>D Monica should run the ALTER TASK command to SUSPEND the task, and then again run the ALTER TASK command to RESUME the task</a:t>
            </a:r>
          </a:p>
        </p:txBody>
      </p:sp>
    </p:spTree>
    <p:extLst>
      <p:ext uri="{BB962C8B-B14F-4D97-AF65-F5344CB8AC3E}">
        <p14:creationId xmlns:p14="http://schemas.microsoft.com/office/powerpoint/2010/main" val="8721055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57FD356-98EB-940D-69AF-B9CF1A790D0C}"/>
              </a:ext>
            </a:extLst>
          </p:cNvPr>
          <p:cNvSpPr txBox="1"/>
          <p:nvPr/>
        </p:nvSpPr>
        <p:spPr>
          <a:xfrm>
            <a:off x="502920" y="411480"/>
            <a:ext cx="863879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How long do results remain in the Query results cache?</a:t>
            </a:r>
          </a:p>
          <a:p>
            <a:endParaRPr lang="en-IN" dirty="0"/>
          </a:p>
          <a:p>
            <a:r>
              <a:rPr lang="en-IN" dirty="0"/>
              <a:t>A 31 hours</a:t>
            </a:r>
          </a:p>
          <a:p>
            <a:endParaRPr lang="en-IN" dirty="0"/>
          </a:p>
          <a:p>
            <a:r>
              <a:rPr lang="en-IN" dirty="0"/>
              <a:t>B 1 hour</a:t>
            </a:r>
          </a:p>
          <a:p>
            <a:endParaRPr lang="en-IN" dirty="0"/>
          </a:p>
          <a:p>
            <a:r>
              <a:rPr lang="en-IN" dirty="0"/>
              <a:t>C 16 hours</a:t>
            </a:r>
          </a:p>
          <a:p>
            <a:endParaRPr lang="en-IN" dirty="0"/>
          </a:p>
          <a:p>
            <a:r>
              <a:rPr lang="en-IN" dirty="0"/>
              <a:t>D 24 hours</a:t>
            </a:r>
          </a:p>
        </p:txBody>
      </p:sp>
    </p:spTree>
    <p:extLst>
      <p:ext uri="{BB962C8B-B14F-4D97-AF65-F5344CB8AC3E}">
        <p14:creationId xmlns:p14="http://schemas.microsoft.com/office/powerpoint/2010/main" val="8570388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9C6758-AF88-AAFF-04D0-15B67C248F2C}"/>
              </a:ext>
            </a:extLst>
          </p:cNvPr>
          <p:cNvSpPr txBox="1"/>
          <p:nvPr/>
        </p:nvSpPr>
        <p:spPr>
          <a:xfrm>
            <a:off x="292608" y="237744"/>
            <a:ext cx="884910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which of these is a kind of Cache in Snowflake?</a:t>
            </a:r>
          </a:p>
          <a:p>
            <a:endParaRPr lang="en-IN" dirty="0"/>
          </a:p>
          <a:p>
            <a:r>
              <a:rPr lang="en-IN" dirty="0"/>
              <a:t>A All of these</a:t>
            </a:r>
          </a:p>
          <a:p>
            <a:endParaRPr lang="en-IN" dirty="0"/>
          </a:p>
          <a:p>
            <a:r>
              <a:rPr lang="en-IN" dirty="0"/>
              <a:t>B Query Result Cache</a:t>
            </a:r>
          </a:p>
          <a:p>
            <a:endParaRPr lang="en-IN" dirty="0"/>
          </a:p>
          <a:p>
            <a:r>
              <a:rPr lang="en-IN" dirty="0"/>
              <a:t>C Metadata Cache</a:t>
            </a:r>
          </a:p>
          <a:p>
            <a:endParaRPr lang="en-IN" dirty="0"/>
          </a:p>
          <a:p>
            <a:r>
              <a:rPr lang="en-IN" dirty="0"/>
              <a:t>D Data/Local Disk Cache</a:t>
            </a:r>
          </a:p>
        </p:txBody>
      </p:sp>
    </p:spTree>
    <p:extLst>
      <p:ext uri="{BB962C8B-B14F-4D97-AF65-F5344CB8AC3E}">
        <p14:creationId xmlns:p14="http://schemas.microsoft.com/office/powerpoint/2010/main" val="3697734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C9CF34C-814E-7B37-9A0C-118C66AA1356}"/>
              </a:ext>
            </a:extLst>
          </p:cNvPr>
          <p:cNvSpPr txBox="1"/>
          <p:nvPr/>
        </p:nvSpPr>
        <p:spPr>
          <a:xfrm>
            <a:off x="320040" y="393192"/>
            <a:ext cx="989380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Which of these functions helps generate the FILE URL to access the unstructured data file?</a:t>
            </a:r>
          </a:p>
          <a:p>
            <a:endParaRPr lang="en-IN" dirty="0"/>
          </a:p>
          <a:p>
            <a:r>
              <a:rPr lang="en-IN" dirty="0"/>
              <a:t>A GET_PRESIGNED_URL</a:t>
            </a:r>
          </a:p>
          <a:p>
            <a:endParaRPr lang="en-IN" dirty="0"/>
          </a:p>
          <a:p>
            <a:r>
              <a:rPr lang="en-IN" dirty="0"/>
              <a:t>B GET_STAGE_LOCATION</a:t>
            </a:r>
          </a:p>
          <a:p>
            <a:endParaRPr lang="en-IN" dirty="0"/>
          </a:p>
          <a:p>
            <a:r>
              <a:rPr lang="en-IN" dirty="0"/>
              <a:t>C BUILD_STAGE_FILE_URL</a:t>
            </a:r>
          </a:p>
          <a:p>
            <a:endParaRPr lang="en-IN" dirty="0"/>
          </a:p>
          <a:p>
            <a:r>
              <a:rPr lang="en-IN" dirty="0"/>
              <a:t>D GET_ABSOLUTE_PATH</a:t>
            </a:r>
          </a:p>
          <a:p>
            <a:endParaRPr lang="en-IN" dirty="0"/>
          </a:p>
          <a:p>
            <a:r>
              <a:rPr lang="en-IN" dirty="0"/>
              <a:t>E BUILD_SCOPED_FILE_URL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332694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06C5281-D880-67EB-1D45-1DCDB7DFBA97}"/>
              </a:ext>
            </a:extLst>
          </p:cNvPr>
          <p:cNvSpPr txBox="1"/>
          <p:nvPr/>
        </p:nvSpPr>
        <p:spPr>
          <a:xfrm>
            <a:off x="256032" y="310896"/>
            <a:ext cx="888568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Snowflake Query history page allows you to view the details of all the queries executed in the last 31 days. (True/False)</a:t>
            </a:r>
          </a:p>
          <a:p>
            <a:endParaRPr lang="en-IN" dirty="0"/>
          </a:p>
          <a:p>
            <a:r>
              <a:rPr lang="en-IN" dirty="0"/>
              <a:t>A TRUE </a:t>
            </a:r>
          </a:p>
          <a:p>
            <a:endParaRPr lang="en-IN" dirty="0"/>
          </a:p>
          <a:p>
            <a:r>
              <a:rPr lang="en-IN" dirty="0"/>
              <a:t>B FALSE</a:t>
            </a:r>
          </a:p>
        </p:txBody>
      </p:sp>
    </p:spTree>
    <p:extLst>
      <p:ext uri="{BB962C8B-B14F-4D97-AF65-F5344CB8AC3E}">
        <p14:creationId xmlns:p14="http://schemas.microsoft.com/office/powerpoint/2010/main" val="29795178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5370B8F-E629-0E81-2821-D7E17259A3AE}"/>
              </a:ext>
            </a:extLst>
          </p:cNvPr>
          <p:cNvSpPr txBox="1"/>
          <p:nvPr/>
        </p:nvSpPr>
        <p:spPr>
          <a:xfrm>
            <a:off x="164592" y="347472"/>
            <a:ext cx="1109167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select * from t1 sample row(100); What would the above query return?</a:t>
            </a:r>
          </a:p>
          <a:p>
            <a:endParaRPr lang="en-IN" dirty="0"/>
          </a:p>
          <a:p>
            <a:r>
              <a:rPr lang="en-IN" dirty="0"/>
              <a:t>A  Return a sample of a table in which each row has a 10% probability of being included in the sample</a:t>
            </a:r>
          </a:p>
          <a:p>
            <a:endParaRPr lang="en-IN" dirty="0"/>
          </a:p>
          <a:p>
            <a:r>
              <a:rPr lang="en-IN" dirty="0"/>
              <a:t>B  Return an entire table, including all rows in the table</a:t>
            </a:r>
          </a:p>
          <a:p>
            <a:endParaRPr lang="en-IN" dirty="0"/>
          </a:p>
          <a:p>
            <a:r>
              <a:rPr lang="en-IN" dirty="0"/>
              <a:t>C Return a sample of 100 rows from the table</a:t>
            </a:r>
          </a:p>
          <a:p>
            <a:endParaRPr lang="en-IN" dirty="0"/>
          </a:p>
          <a:p>
            <a:r>
              <a:rPr lang="en-IN" dirty="0"/>
              <a:t>D Return an empty sample</a:t>
            </a:r>
          </a:p>
        </p:txBody>
      </p:sp>
    </p:spTree>
    <p:extLst>
      <p:ext uri="{BB962C8B-B14F-4D97-AF65-F5344CB8AC3E}">
        <p14:creationId xmlns:p14="http://schemas.microsoft.com/office/powerpoint/2010/main" val="32718415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DBE5F37-28F1-6058-670E-575147921601}"/>
              </a:ext>
            </a:extLst>
          </p:cNvPr>
          <p:cNvSpPr txBox="1"/>
          <p:nvPr/>
        </p:nvSpPr>
        <p:spPr>
          <a:xfrm>
            <a:off x="731520" y="265177"/>
            <a:ext cx="841019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r>
              <a:rPr lang="en-IN" dirty="0"/>
              <a:t>Which object parameter can users with the ACCOUNTADMIN role use to set the default retention period for their account?</a:t>
            </a:r>
          </a:p>
          <a:p>
            <a:endParaRPr lang="en-IN" dirty="0"/>
          </a:p>
          <a:p>
            <a:r>
              <a:rPr lang="en-IN" dirty="0"/>
              <a:t>A  DATA_RETENTION_TIME_MAX</a:t>
            </a:r>
          </a:p>
          <a:p>
            <a:endParaRPr lang="en-IN" dirty="0"/>
          </a:p>
          <a:p>
            <a:r>
              <a:rPr lang="en-IN" dirty="0"/>
              <a:t>B  DATA_RETENTION_TIME_IN_HOURS</a:t>
            </a:r>
          </a:p>
          <a:p>
            <a:endParaRPr lang="en-IN" dirty="0"/>
          </a:p>
          <a:p>
            <a:r>
              <a:rPr lang="en-IN" dirty="0"/>
              <a:t>C  DATA_RETENTION_IN_TIME_TRAVEL</a:t>
            </a:r>
          </a:p>
          <a:p>
            <a:endParaRPr lang="en-IN" dirty="0"/>
          </a:p>
          <a:p>
            <a:r>
              <a:rPr lang="en-IN" dirty="0"/>
              <a:t>D  DATA_RETENTION_TIME_IN_DAYS</a:t>
            </a:r>
          </a:p>
        </p:txBody>
      </p:sp>
    </p:spTree>
    <p:extLst>
      <p:ext uri="{BB962C8B-B14F-4D97-AF65-F5344CB8AC3E}">
        <p14:creationId xmlns:p14="http://schemas.microsoft.com/office/powerpoint/2010/main" val="4994596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98ECC2F-CCDB-6332-FFF5-8FC7F234588E}"/>
              </a:ext>
            </a:extLst>
          </p:cNvPr>
          <p:cNvSpPr txBox="1"/>
          <p:nvPr/>
        </p:nvSpPr>
        <p:spPr>
          <a:xfrm>
            <a:off x="73152" y="384049"/>
            <a:ext cx="906856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Which of the following file format is not supported by Snowflake?</a:t>
            </a:r>
          </a:p>
          <a:p>
            <a:endParaRPr lang="en-IN" dirty="0"/>
          </a:p>
          <a:p>
            <a:r>
              <a:rPr lang="en-IN" dirty="0"/>
              <a:t>A  PARQUET</a:t>
            </a:r>
          </a:p>
          <a:p>
            <a:endParaRPr lang="en-IN" dirty="0"/>
          </a:p>
          <a:p>
            <a:r>
              <a:rPr lang="en-IN" dirty="0"/>
              <a:t>B EDI</a:t>
            </a:r>
          </a:p>
          <a:p>
            <a:endParaRPr lang="en-IN" dirty="0"/>
          </a:p>
          <a:p>
            <a:r>
              <a:rPr lang="en-IN" dirty="0"/>
              <a:t>C AVRO</a:t>
            </a:r>
          </a:p>
          <a:p>
            <a:endParaRPr lang="en-IN" dirty="0"/>
          </a:p>
          <a:p>
            <a:r>
              <a:rPr lang="en-IN" dirty="0"/>
              <a:t>D JSON</a:t>
            </a:r>
          </a:p>
          <a:p>
            <a:endParaRPr lang="en-IN" dirty="0"/>
          </a:p>
          <a:p>
            <a:r>
              <a:rPr lang="en-IN" dirty="0"/>
              <a:t>E ORC</a:t>
            </a:r>
          </a:p>
          <a:p>
            <a:endParaRPr lang="en-IN" dirty="0"/>
          </a:p>
          <a:p>
            <a:r>
              <a:rPr lang="en-IN" dirty="0"/>
              <a:t>F CSV</a:t>
            </a:r>
          </a:p>
        </p:txBody>
      </p:sp>
    </p:spTree>
    <p:extLst>
      <p:ext uri="{BB962C8B-B14F-4D97-AF65-F5344CB8AC3E}">
        <p14:creationId xmlns:p14="http://schemas.microsoft.com/office/powerpoint/2010/main" val="38640561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BBE8D25-4E25-4AA1-EB8D-620E2119DFBC}"/>
              </a:ext>
            </a:extLst>
          </p:cNvPr>
          <p:cNvSpPr txBox="1"/>
          <p:nvPr/>
        </p:nvSpPr>
        <p:spPr>
          <a:xfrm>
            <a:off x="256032" y="283464"/>
            <a:ext cx="888568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Which primary tool loads data to Snowflake from a local file system?</a:t>
            </a:r>
          </a:p>
          <a:p>
            <a:endParaRPr lang="en-IN" dirty="0"/>
          </a:p>
          <a:p>
            <a:r>
              <a:rPr lang="en-IN" dirty="0"/>
              <a:t>A  Snowflake UI</a:t>
            </a:r>
          </a:p>
          <a:p>
            <a:endParaRPr lang="en-IN" dirty="0"/>
          </a:p>
          <a:p>
            <a:r>
              <a:rPr lang="en-IN" dirty="0"/>
              <a:t>B  ETL tools</a:t>
            </a:r>
          </a:p>
          <a:p>
            <a:endParaRPr lang="en-IN" dirty="0"/>
          </a:p>
          <a:p>
            <a:r>
              <a:rPr lang="en-IN" dirty="0"/>
              <a:t>C  External Stage</a:t>
            </a:r>
          </a:p>
          <a:p>
            <a:endParaRPr lang="en-IN" dirty="0"/>
          </a:p>
          <a:p>
            <a:r>
              <a:rPr lang="en-IN" dirty="0"/>
              <a:t>D  </a:t>
            </a:r>
            <a:r>
              <a:rPr lang="en-IN" dirty="0" err="1"/>
              <a:t>SnowSQL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12816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EA6740A-488E-1CA3-6434-072491DDD27C}"/>
              </a:ext>
            </a:extLst>
          </p:cNvPr>
          <p:cNvSpPr txBox="1"/>
          <p:nvPr/>
        </p:nvSpPr>
        <p:spPr>
          <a:xfrm>
            <a:off x="530352" y="923545"/>
            <a:ext cx="861136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What is the expiration period of a File URL?</a:t>
            </a:r>
          </a:p>
          <a:p>
            <a:endParaRPr lang="en-IN" dirty="0"/>
          </a:p>
          <a:p>
            <a:r>
              <a:rPr lang="en-IN" dirty="0"/>
              <a:t>A  Length of time specified in the </a:t>
            </a:r>
            <a:r>
              <a:rPr lang="en-IN" dirty="0" err="1"/>
              <a:t>expiration_time</a:t>
            </a:r>
            <a:r>
              <a:rPr lang="en-IN" dirty="0"/>
              <a:t> argument</a:t>
            </a:r>
          </a:p>
          <a:p>
            <a:endParaRPr lang="en-IN" dirty="0"/>
          </a:p>
          <a:p>
            <a:r>
              <a:rPr lang="en-IN" dirty="0"/>
              <a:t>B  The URL expires when the persisted query result period ends</a:t>
            </a:r>
          </a:p>
          <a:p>
            <a:endParaRPr lang="en-IN" dirty="0"/>
          </a:p>
          <a:p>
            <a:r>
              <a:rPr lang="en-IN" dirty="0"/>
              <a:t>C  It is Permanent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86507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7446891-43BD-2253-0B39-39934901EFF5}"/>
              </a:ext>
            </a:extLst>
          </p:cNvPr>
          <p:cNvSpPr txBox="1"/>
          <p:nvPr/>
        </p:nvSpPr>
        <p:spPr>
          <a:xfrm>
            <a:off x="466344" y="621792"/>
            <a:ext cx="983894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What all options are available for data transformation while loading data into a table using the COPY command? (Select all that apply)</a:t>
            </a:r>
          </a:p>
          <a:p>
            <a:endParaRPr lang="en-IN" dirty="0"/>
          </a:p>
          <a:p>
            <a:r>
              <a:rPr lang="en-IN" dirty="0"/>
              <a:t>A  Join</a:t>
            </a:r>
          </a:p>
          <a:p>
            <a:endParaRPr lang="en-IN" dirty="0"/>
          </a:p>
          <a:p>
            <a:r>
              <a:rPr lang="en-IN" dirty="0"/>
              <a:t>B  Casts</a:t>
            </a:r>
          </a:p>
          <a:p>
            <a:endParaRPr lang="en-IN" dirty="0"/>
          </a:p>
          <a:p>
            <a:r>
              <a:rPr lang="en-IN" dirty="0"/>
              <a:t>C  Truncation of Text Strings</a:t>
            </a:r>
          </a:p>
          <a:p>
            <a:endParaRPr lang="en-IN" dirty="0"/>
          </a:p>
          <a:p>
            <a:r>
              <a:rPr lang="en-IN" dirty="0"/>
              <a:t>D  Column reordering</a:t>
            </a:r>
          </a:p>
          <a:p>
            <a:endParaRPr lang="en-IN" dirty="0"/>
          </a:p>
          <a:p>
            <a:r>
              <a:rPr lang="en-IN" dirty="0"/>
              <a:t>E  Correct selection</a:t>
            </a:r>
          </a:p>
          <a:p>
            <a:endParaRPr lang="en-IN" dirty="0"/>
          </a:p>
          <a:p>
            <a:r>
              <a:rPr lang="en-IN" dirty="0"/>
              <a:t>F  Column omission</a:t>
            </a:r>
          </a:p>
        </p:txBody>
      </p:sp>
    </p:spTree>
    <p:extLst>
      <p:ext uri="{BB962C8B-B14F-4D97-AF65-F5344CB8AC3E}">
        <p14:creationId xmlns:p14="http://schemas.microsoft.com/office/powerpoint/2010/main" val="16985143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C5F86AB-B9B3-0B06-7A37-A8C746579EDA}"/>
              </a:ext>
            </a:extLst>
          </p:cNvPr>
          <p:cNvSpPr txBox="1"/>
          <p:nvPr/>
        </p:nvSpPr>
        <p:spPr>
          <a:xfrm>
            <a:off x="521208" y="475488"/>
            <a:ext cx="862050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Which is not the DML (Data Manipulation Language) command?</a:t>
            </a:r>
          </a:p>
          <a:p>
            <a:endParaRPr lang="en-IN" dirty="0"/>
          </a:p>
          <a:p>
            <a:r>
              <a:rPr lang="en-IN" dirty="0"/>
              <a:t>A  MERGE</a:t>
            </a:r>
          </a:p>
          <a:p>
            <a:endParaRPr lang="en-IN" dirty="0"/>
          </a:p>
          <a:p>
            <a:r>
              <a:rPr lang="en-IN" dirty="0"/>
              <a:t>B  DELETE</a:t>
            </a:r>
          </a:p>
          <a:p>
            <a:endParaRPr lang="en-IN" dirty="0"/>
          </a:p>
          <a:p>
            <a:r>
              <a:rPr lang="en-IN" dirty="0"/>
              <a:t>C  INSERT</a:t>
            </a:r>
          </a:p>
          <a:p>
            <a:endParaRPr lang="en-IN" dirty="0"/>
          </a:p>
          <a:p>
            <a:r>
              <a:rPr lang="en-IN" dirty="0"/>
              <a:t>D  UPDATE</a:t>
            </a:r>
          </a:p>
          <a:p>
            <a:endParaRPr lang="en-IN" dirty="0"/>
          </a:p>
          <a:p>
            <a:r>
              <a:rPr lang="en-IN" dirty="0"/>
              <a:t>E  UNDROP</a:t>
            </a:r>
          </a:p>
        </p:txBody>
      </p:sp>
    </p:spTree>
    <p:extLst>
      <p:ext uri="{BB962C8B-B14F-4D97-AF65-F5344CB8AC3E}">
        <p14:creationId xmlns:p14="http://schemas.microsoft.com/office/powerpoint/2010/main" val="21474148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52377E5-F7FF-A4A9-AC44-4AFED2CB4650}"/>
              </a:ext>
            </a:extLst>
          </p:cNvPr>
          <p:cNvSpPr txBox="1"/>
          <p:nvPr/>
        </p:nvSpPr>
        <p:spPr>
          <a:xfrm>
            <a:off x="438912" y="548640"/>
            <a:ext cx="1001268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Which of the following are </a:t>
            </a:r>
            <a:r>
              <a:rPr lang="en-US" b="1" dirty="0"/>
              <a:t>NOT supported</a:t>
            </a:r>
            <a:r>
              <a:rPr lang="en-US" dirty="0"/>
              <a:t> by the </a:t>
            </a:r>
            <a:r>
              <a:rPr lang="en-US" b="1" dirty="0"/>
              <a:t>Search Optimization Service</a:t>
            </a:r>
            <a:r>
              <a:rPr lang="en-US" dirty="0"/>
              <a:t> in </a:t>
            </a:r>
            <a:r>
              <a:rPr lang="en-US" b="1" dirty="0"/>
              <a:t>Snowflake</a:t>
            </a:r>
            <a:r>
              <a:rPr lang="en-US" dirty="0"/>
              <a:t>? </a:t>
            </a:r>
            <a:r>
              <a:rPr lang="en-US" i="1" dirty="0"/>
              <a:t>(Select all that apply)</a:t>
            </a:r>
          </a:p>
          <a:p>
            <a:endParaRPr lang="en-US" i="1" dirty="0"/>
          </a:p>
          <a:p>
            <a:endParaRPr lang="en-US" i="1" dirty="0"/>
          </a:p>
          <a:p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A. Materialized Views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B. External Tables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C. Analytical Expressions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D. Casts on table columns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E. Column Concatenation </a:t>
            </a:r>
          </a:p>
          <a:p>
            <a:endParaRPr lang="en-US" i="1" dirty="0"/>
          </a:p>
          <a:p>
            <a:endParaRPr lang="en-US" i="1" dirty="0"/>
          </a:p>
          <a:p>
            <a:endParaRPr lang="en-US" dirty="0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6DE4D383-7C54-8A3A-8E9E-C58ECBE4AA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088" y="-2081948"/>
            <a:ext cx="184731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97492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B8B204B-B95A-7F2C-C75B-85D8F7A71126}"/>
              </a:ext>
            </a:extLst>
          </p:cNvPr>
          <p:cNvSpPr txBox="1"/>
          <p:nvPr/>
        </p:nvSpPr>
        <p:spPr>
          <a:xfrm>
            <a:off x="384048" y="685800"/>
            <a:ext cx="875766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Which stream type is supported for streams on external tables only in Snowflake?</a:t>
            </a:r>
          </a:p>
          <a:p>
            <a:endParaRPr lang="en-IN" dirty="0"/>
          </a:p>
          <a:p>
            <a:r>
              <a:rPr lang="en-IN" dirty="0"/>
              <a:t>A. Insert-only</a:t>
            </a:r>
          </a:p>
          <a:p>
            <a:endParaRPr lang="en-IN" dirty="0"/>
          </a:p>
          <a:p>
            <a:r>
              <a:rPr lang="en-IN" dirty="0"/>
              <a:t>B. External</a:t>
            </a:r>
          </a:p>
          <a:p>
            <a:endParaRPr lang="en-IN" dirty="0"/>
          </a:p>
          <a:p>
            <a:r>
              <a:rPr lang="en-IN" dirty="0"/>
              <a:t>C. Append-only</a:t>
            </a:r>
          </a:p>
          <a:p>
            <a:endParaRPr lang="en-IN" dirty="0"/>
          </a:p>
          <a:p>
            <a:r>
              <a:rPr lang="en-IN" dirty="0"/>
              <a:t>D. Update-only</a:t>
            </a:r>
          </a:p>
          <a:p>
            <a:endParaRPr lang="en-IN" dirty="0"/>
          </a:p>
          <a:p>
            <a:r>
              <a:rPr lang="en-IN" dirty="0"/>
              <a:t>E. Standard</a:t>
            </a:r>
          </a:p>
        </p:txBody>
      </p:sp>
    </p:spTree>
    <p:extLst>
      <p:ext uri="{BB962C8B-B14F-4D97-AF65-F5344CB8AC3E}">
        <p14:creationId xmlns:p14="http://schemas.microsoft.com/office/powerpoint/2010/main" val="21582648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337D17-B092-32DD-40DB-58A14E20BEEF}"/>
              </a:ext>
            </a:extLst>
          </p:cNvPr>
          <p:cNvSpPr txBox="1"/>
          <p:nvPr/>
        </p:nvSpPr>
        <p:spPr>
          <a:xfrm>
            <a:off x="201168" y="320040"/>
            <a:ext cx="1048816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How can we explicitly add a Directory table to a stage to store a </a:t>
            </a:r>
            <a:r>
              <a:rPr lang="en-IN" dirty="0" err="1"/>
              <a:t>catalog</a:t>
            </a:r>
            <a:r>
              <a:rPr lang="en-IN" dirty="0"/>
              <a:t> of staged files in Snowflake?</a:t>
            </a:r>
          </a:p>
          <a:p>
            <a:endParaRPr lang="en-IN" dirty="0"/>
          </a:p>
          <a:p>
            <a:r>
              <a:rPr lang="en-IN" dirty="0"/>
              <a:t>A. Using CREATE STAGE command</a:t>
            </a:r>
          </a:p>
          <a:p>
            <a:endParaRPr lang="en-IN" dirty="0"/>
          </a:p>
          <a:p>
            <a:r>
              <a:rPr lang="en-IN" dirty="0"/>
              <a:t>B. Using CREATE DIRECTORY TABLE command and then add it to the stage using ALTER STAGE</a:t>
            </a:r>
          </a:p>
          <a:p>
            <a:endParaRPr lang="en-IN" dirty="0"/>
          </a:p>
          <a:p>
            <a:r>
              <a:rPr lang="en-IN" dirty="0"/>
              <a:t>C. Using CREATE DIRECTORY TABLES command and then add it to the stage using ALTER STAGE</a:t>
            </a:r>
          </a:p>
        </p:txBody>
      </p:sp>
    </p:spTree>
    <p:extLst>
      <p:ext uri="{BB962C8B-B14F-4D97-AF65-F5344CB8AC3E}">
        <p14:creationId xmlns:p14="http://schemas.microsoft.com/office/powerpoint/2010/main" val="11673841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5F1DE36-593E-3CB7-F1B9-B506E11C9B26}"/>
              </a:ext>
            </a:extLst>
          </p:cNvPr>
          <p:cNvSpPr txBox="1"/>
          <p:nvPr/>
        </p:nvSpPr>
        <p:spPr>
          <a:xfrm>
            <a:off x="374904" y="484632"/>
            <a:ext cx="876681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What value will be returned by the following query in Snowflake?</a:t>
            </a:r>
          </a:p>
          <a:p>
            <a:endParaRPr lang="en-IN" dirty="0"/>
          </a:p>
          <a:p>
            <a:r>
              <a:rPr lang="en-IN" dirty="0"/>
              <a:t>SELECT *</a:t>
            </a:r>
          </a:p>
          <a:p>
            <a:r>
              <a:rPr lang="en-IN" dirty="0"/>
              <a:t>FROM TABLE(</a:t>
            </a:r>
          </a:p>
          <a:p>
            <a:r>
              <a:rPr lang="en-IN" dirty="0"/>
              <a:t>  FLATTEN(input =&gt; PARSE_JSON('[]'))</a:t>
            </a:r>
          </a:p>
          <a:p>
            <a:r>
              <a:rPr lang="en-IN" dirty="0"/>
              <a:t>) f;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A. 0</a:t>
            </a:r>
          </a:p>
          <a:p>
            <a:endParaRPr lang="en-IN" dirty="0"/>
          </a:p>
          <a:p>
            <a:r>
              <a:rPr lang="en-IN" dirty="0"/>
              <a:t>B. NULL</a:t>
            </a:r>
          </a:p>
          <a:p>
            <a:endParaRPr lang="en-IN" dirty="0"/>
          </a:p>
          <a:p>
            <a:r>
              <a:rPr lang="en-IN" dirty="0"/>
              <a:t>C. []</a:t>
            </a:r>
          </a:p>
          <a:p>
            <a:endParaRPr lang="en-IN" dirty="0"/>
          </a:p>
          <a:p>
            <a:r>
              <a:rPr lang="en-IN" dirty="0"/>
              <a:t>D. Nothing will be returned (the input row is omitted)</a:t>
            </a:r>
          </a:p>
        </p:txBody>
      </p:sp>
    </p:spTree>
    <p:extLst>
      <p:ext uri="{BB962C8B-B14F-4D97-AF65-F5344CB8AC3E}">
        <p14:creationId xmlns:p14="http://schemas.microsoft.com/office/powerpoint/2010/main" val="704356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37FC879-79B8-4002-74C2-E4EA9DA2CB77}"/>
              </a:ext>
            </a:extLst>
          </p:cNvPr>
          <p:cNvSpPr txBox="1"/>
          <p:nvPr/>
        </p:nvSpPr>
        <p:spPr>
          <a:xfrm>
            <a:off x="155448" y="173736"/>
            <a:ext cx="906856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The VALIDATION_MODE parameter does not support COPY statements that transform data during a load. (True / False)</a:t>
            </a:r>
          </a:p>
          <a:p>
            <a:pPr marL="342900" indent="-342900">
              <a:buAutoNum type="alphaUcPeriod"/>
            </a:pPr>
            <a:r>
              <a:rPr lang="en-IN" dirty="0"/>
              <a:t>TRUE</a:t>
            </a:r>
          </a:p>
          <a:p>
            <a:pPr marL="342900" indent="-342900">
              <a:buAutoNum type="alphaUcPeriod"/>
            </a:pPr>
            <a:r>
              <a:rPr lang="en-IN" dirty="0"/>
              <a:t>FALSE</a:t>
            </a:r>
          </a:p>
        </p:txBody>
      </p:sp>
    </p:spTree>
    <p:extLst>
      <p:ext uri="{BB962C8B-B14F-4D97-AF65-F5344CB8AC3E}">
        <p14:creationId xmlns:p14="http://schemas.microsoft.com/office/powerpoint/2010/main" val="18459868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7CEE71A-4F32-0681-2A72-8021EF0B0241}"/>
              </a:ext>
            </a:extLst>
          </p:cNvPr>
          <p:cNvSpPr txBox="1"/>
          <p:nvPr/>
        </p:nvSpPr>
        <p:spPr>
          <a:xfrm>
            <a:off x="320040" y="338328"/>
            <a:ext cx="1036929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Which objects are NOT available for replication in the Standard Edition of Snowflake?(Select THREE)</a:t>
            </a:r>
          </a:p>
          <a:p>
            <a:endParaRPr lang="en-IN" dirty="0"/>
          </a:p>
          <a:p>
            <a:r>
              <a:rPr lang="en-IN" dirty="0"/>
              <a:t>A. Users</a:t>
            </a:r>
          </a:p>
          <a:p>
            <a:endParaRPr lang="en-IN" dirty="0"/>
          </a:p>
          <a:p>
            <a:r>
              <a:rPr lang="en-IN" dirty="0"/>
              <a:t>B. Integrations</a:t>
            </a:r>
          </a:p>
          <a:p>
            <a:endParaRPr lang="en-IN" dirty="0"/>
          </a:p>
          <a:p>
            <a:r>
              <a:rPr lang="en-IN" dirty="0"/>
              <a:t>C. Databases</a:t>
            </a:r>
          </a:p>
          <a:p>
            <a:endParaRPr lang="en-IN" dirty="0"/>
          </a:p>
          <a:p>
            <a:r>
              <a:rPr lang="en-IN" dirty="0"/>
              <a:t>D. Roles</a:t>
            </a:r>
          </a:p>
          <a:p>
            <a:endParaRPr lang="en-IN" dirty="0"/>
          </a:p>
          <a:p>
            <a:r>
              <a:rPr lang="en-IN" dirty="0"/>
              <a:t>E. Shares</a:t>
            </a:r>
          </a:p>
        </p:txBody>
      </p:sp>
    </p:spTree>
    <p:extLst>
      <p:ext uri="{BB962C8B-B14F-4D97-AF65-F5344CB8AC3E}">
        <p14:creationId xmlns:p14="http://schemas.microsoft.com/office/powerpoint/2010/main" val="12849663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77B7D10-8580-EFFB-F4EA-33D5758FDDBB}"/>
              </a:ext>
            </a:extLst>
          </p:cNvPr>
          <p:cNvSpPr txBox="1"/>
          <p:nvPr/>
        </p:nvSpPr>
        <p:spPr>
          <a:xfrm>
            <a:off x="265176" y="237745"/>
            <a:ext cx="887653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In which of the following cloud platforms can a Snowflake account be hosted?</a:t>
            </a:r>
          </a:p>
          <a:p>
            <a:r>
              <a:rPr lang="en-IN" dirty="0"/>
              <a:t>(Select THREE)</a:t>
            </a:r>
          </a:p>
          <a:p>
            <a:endParaRPr lang="en-IN" dirty="0"/>
          </a:p>
          <a:p>
            <a:r>
              <a:rPr lang="en-IN" dirty="0"/>
              <a:t>A. IBM Cloud</a:t>
            </a:r>
          </a:p>
          <a:p>
            <a:endParaRPr lang="en-IN" dirty="0"/>
          </a:p>
          <a:p>
            <a:r>
              <a:rPr lang="en-IN" dirty="0"/>
              <a:t>B. Oracle Cloud</a:t>
            </a:r>
          </a:p>
          <a:p>
            <a:endParaRPr lang="en-IN" dirty="0"/>
          </a:p>
          <a:p>
            <a:r>
              <a:rPr lang="en-IN" dirty="0"/>
              <a:t>C. Google Cloud Platform (GCP)</a:t>
            </a:r>
          </a:p>
          <a:p>
            <a:endParaRPr lang="en-IN" dirty="0"/>
          </a:p>
          <a:p>
            <a:r>
              <a:rPr lang="en-IN" dirty="0"/>
              <a:t>D. Microsoft Azure</a:t>
            </a:r>
          </a:p>
          <a:p>
            <a:endParaRPr lang="en-IN" dirty="0"/>
          </a:p>
          <a:p>
            <a:r>
              <a:rPr lang="en-IN" dirty="0"/>
              <a:t>E. Amazon Web Services (AWS)</a:t>
            </a:r>
          </a:p>
        </p:txBody>
      </p:sp>
    </p:spTree>
    <p:extLst>
      <p:ext uri="{BB962C8B-B14F-4D97-AF65-F5344CB8AC3E}">
        <p14:creationId xmlns:p14="http://schemas.microsoft.com/office/powerpoint/2010/main" val="40690196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704365D-FF05-9F63-275C-384A7BA8E4CB}"/>
              </a:ext>
            </a:extLst>
          </p:cNvPr>
          <p:cNvSpPr txBox="1"/>
          <p:nvPr/>
        </p:nvSpPr>
        <p:spPr>
          <a:xfrm>
            <a:off x="91440" y="173736"/>
            <a:ext cx="105156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Select the type of function that can operate on a subset of rows within the set of input rows in Snowflake.</a:t>
            </a:r>
          </a:p>
          <a:p>
            <a:endParaRPr lang="en-IN" dirty="0"/>
          </a:p>
          <a:p>
            <a:r>
              <a:rPr lang="en-IN" dirty="0"/>
              <a:t>A. Aggregate Function</a:t>
            </a:r>
          </a:p>
          <a:p>
            <a:endParaRPr lang="en-IN" dirty="0"/>
          </a:p>
          <a:p>
            <a:r>
              <a:rPr lang="en-IN" dirty="0"/>
              <a:t>B. System Function</a:t>
            </a:r>
          </a:p>
          <a:p>
            <a:endParaRPr lang="en-IN" dirty="0"/>
          </a:p>
          <a:p>
            <a:r>
              <a:rPr lang="en-IN" dirty="0"/>
              <a:t>C. User-Defined Function</a:t>
            </a:r>
          </a:p>
          <a:p>
            <a:endParaRPr lang="en-IN" dirty="0"/>
          </a:p>
          <a:p>
            <a:r>
              <a:rPr lang="en-IN" dirty="0"/>
              <a:t>D. Window Function</a:t>
            </a:r>
          </a:p>
          <a:p>
            <a:endParaRPr lang="en-IN" dirty="0"/>
          </a:p>
          <a:p>
            <a:r>
              <a:rPr lang="en-IN" dirty="0"/>
              <a:t>E. Scalar Function</a:t>
            </a:r>
          </a:p>
          <a:p>
            <a:endParaRPr lang="en-IN" dirty="0"/>
          </a:p>
          <a:p>
            <a:r>
              <a:rPr lang="en-IN" dirty="0"/>
              <a:t>F. Table Function</a:t>
            </a:r>
          </a:p>
        </p:txBody>
      </p:sp>
    </p:spTree>
    <p:extLst>
      <p:ext uri="{BB962C8B-B14F-4D97-AF65-F5344CB8AC3E}">
        <p14:creationId xmlns:p14="http://schemas.microsoft.com/office/powerpoint/2010/main" val="27620707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1484BB7-7005-40BE-FE89-563470D8968B}"/>
              </a:ext>
            </a:extLst>
          </p:cNvPr>
          <p:cNvSpPr txBox="1"/>
          <p:nvPr/>
        </p:nvSpPr>
        <p:spPr>
          <a:xfrm>
            <a:off x="409903" y="609600"/>
            <a:ext cx="1209740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What is the purpose of VALIDATION_MODE in the COPY INTO &lt;table&gt; command in Snowflake?</a:t>
            </a:r>
          </a:p>
          <a:p>
            <a:endParaRPr lang="en-IN" dirty="0"/>
          </a:p>
          <a:p>
            <a:r>
              <a:rPr lang="en-IN" dirty="0"/>
              <a:t>A. VALIDATION_MODE validates the load file, skips the errored data, and then loads the remaining data into the table.</a:t>
            </a:r>
          </a:p>
          <a:p>
            <a:endParaRPr lang="en-IN" dirty="0"/>
          </a:p>
          <a:p>
            <a:r>
              <a:rPr lang="en-IN" dirty="0"/>
              <a:t>B. VALIDATION_MODE validates the load file for errors instead of loading it into the specified table.</a:t>
            </a:r>
          </a:p>
          <a:p>
            <a:endParaRPr lang="en-IN" dirty="0"/>
          </a:p>
          <a:p>
            <a:r>
              <a:rPr lang="en-IN" dirty="0"/>
              <a:t>C. VALIDATION_MODE validates the load file and loads it into the table if no errors are found.</a:t>
            </a:r>
          </a:p>
        </p:txBody>
      </p:sp>
    </p:spTree>
    <p:extLst>
      <p:ext uri="{BB962C8B-B14F-4D97-AF65-F5344CB8AC3E}">
        <p14:creationId xmlns:p14="http://schemas.microsoft.com/office/powerpoint/2010/main" val="42598900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E478755-54F0-5316-E042-9658237D5BF3}"/>
              </a:ext>
            </a:extLst>
          </p:cNvPr>
          <p:cNvSpPr txBox="1"/>
          <p:nvPr/>
        </p:nvSpPr>
        <p:spPr>
          <a:xfrm>
            <a:off x="325821" y="493986"/>
            <a:ext cx="1000584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Select the correct statements for Table Clustering in Snowflake.</a:t>
            </a:r>
          </a:p>
          <a:p>
            <a:r>
              <a:rPr lang="en-IN" dirty="0"/>
              <a:t>(Select THREE)</a:t>
            </a:r>
          </a:p>
          <a:p>
            <a:endParaRPr lang="en-IN" dirty="0"/>
          </a:p>
          <a:p>
            <a:r>
              <a:rPr lang="en-IN" dirty="0"/>
              <a:t>A. Automatic Clustering doesn’t consume credits.</a:t>
            </a:r>
          </a:p>
          <a:p>
            <a:endParaRPr lang="en-IN" dirty="0"/>
          </a:p>
          <a:p>
            <a:r>
              <a:rPr lang="en-IN" dirty="0"/>
              <a:t>B. Tables in the multi-terabyte range are good candidates for clustering keys.</a:t>
            </a:r>
          </a:p>
          <a:p>
            <a:endParaRPr lang="en-IN" dirty="0"/>
          </a:p>
          <a:p>
            <a:r>
              <a:rPr lang="en-IN" dirty="0"/>
              <a:t>C. Clustering keys are not for every table.</a:t>
            </a:r>
          </a:p>
          <a:p>
            <a:endParaRPr lang="en-IN" dirty="0"/>
          </a:p>
          <a:p>
            <a:r>
              <a:rPr lang="en-IN" dirty="0"/>
              <a:t>D. Snowflake recommends a maximum of three or four columns (or expressions) per key.</a:t>
            </a:r>
          </a:p>
          <a:p>
            <a:endParaRPr lang="en-IN" dirty="0"/>
          </a:p>
          <a:p>
            <a:r>
              <a:rPr lang="en-IN" dirty="0"/>
              <a:t>E. Automatic clustering cannot be suspended or resumed.</a:t>
            </a:r>
          </a:p>
          <a:p>
            <a:endParaRPr lang="en-IN" dirty="0"/>
          </a:p>
          <a:p>
            <a:r>
              <a:rPr lang="en-IN" dirty="0"/>
              <a:t>F. Snowflake doesn’t charge for </a:t>
            </a:r>
            <a:r>
              <a:rPr lang="en-IN" dirty="0" err="1"/>
              <a:t>reclustering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23102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D12AE5F-F459-8E53-69B3-DD3C063EBAF6}"/>
              </a:ext>
            </a:extLst>
          </p:cNvPr>
          <p:cNvSpPr txBox="1"/>
          <p:nvPr/>
        </p:nvSpPr>
        <p:spPr>
          <a:xfrm>
            <a:off x="409903" y="105103"/>
            <a:ext cx="1031064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What authentication methods does Snowflake support for REST API (Snowflake SQL API) authentication? (Select TWO)</a:t>
            </a:r>
          </a:p>
          <a:p>
            <a:endParaRPr lang="en-IN" dirty="0"/>
          </a:p>
          <a:p>
            <a:r>
              <a:rPr lang="en-IN" dirty="0"/>
              <a:t>A. Key Pair Authentication</a:t>
            </a:r>
          </a:p>
          <a:p>
            <a:endParaRPr lang="en-IN" dirty="0"/>
          </a:p>
          <a:p>
            <a:r>
              <a:rPr lang="en-IN" dirty="0"/>
              <a:t>B. Snowflake Account User ID and Password</a:t>
            </a:r>
          </a:p>
          <a:p>
            <a:endParaRPr lang="en-IN" dirty="0"/>
          </a:p>
          <a:p>
            <a:r>
              <a:rPr lang="en-IN" dirty="0"/>
              <a:t>C. Authentication is not required for Snowflake SQL API</a:t>
            </a:r>
          </a:p>
          <a:p>
            <a:endParaRPr lang="en-IN" dirty="0"/>
          </a:p>
          <a:p>
            <a:r>
              <a:rPr lang="en-IN" dirty="0"/>
              <a:t>D. OAuth</a:t>
            </a:r>
          </a:p>
        </p:txBody>
      </p:sp>
    </p:spTree>
    <p:extLst>
      <p:ext uri="{BB962C8B-B14F-4D97-AF65-F5344CB8AC3E}">
        <p14:creationId xmlns:p14="http://schemas.microsoft.com/office/powerpoint/2010/main" val="16752811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A81818D-628F-B372-5CDF-E200E5E32EA7}"/>
              </a:ext>
            </a:extLst>
          </p:cNvPr>
          <p:cNvSpPr txBox="1"/>
          <p:nvPr/>
        </p:nvSpPr>
        <p:spPr>
          <a:xfrm>
            <a:off x="578069" y="220717"/>
            <a:ext cx="1020554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 user cannot view the result set from a query that another user executed except for the ACCOUNTADMIN role. (True / False)</a:t>
            </a:r>
          </a:p>
          <a:p>
            <a:endParaRPr lang="en-IN" dirty="0"/>
          </a:p>
          <a:p>
            <a:r>
              <a:rPr lang="en-IN" dirty="0"/>
              <a:t>A. True</a:t>
            </a:r>
          </a:p>
          <a:p>
            <a:endParaRPr lang="en-IN" dirty="0"/>
          </a:p>
          <a:p>
            <a:r>
              <a:rPr lang="en-IN" dirty="0"/>
              <a:t>B. False</a:t>
            </a:r>
          </a:p>
        </p:txBody>
      </p:sp>
    </p:spTree>
    <p:extLst>
      <p:ext uri="{BB962C8B-B14F-4D97-AF65-F5344CB8AC3E}">
        <p14:creationId xmlns:p14="http://schemas.microsoft.com/office/powerpoint/2010/main" val="18114385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3FE60FB-DEEF-ABB0-FF1B-C6576F27283D}"/>
              </a:ext>
            </a:extLst>
          </p:cNvPr>
          <p:cNvSpPr txBox="1"/>
          <p:nvPr/>
        </p:nvSpPr>
        <p:spPr>
          <a:xfrm>
            <a:off x="346841" y="189187"/>
            <a:ext cx="1170852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John is trying to load JSON datasets with a huge array containing multiple records. Considering the VARIANT data type size limit of 16 MB, what do you recommend for optimally loading the data in Snowflake?</a:t>
            </a:r>
          </a:p>
          <a:p>
            <a:endParaRPr lang="en-IN" dirty="0"/>
          </a:p>
          <a:p>
            <a:r>
              <a:rPr lang="en-IN" dirty="0"/>
              <a:t>A. Separate the documents with line breaks or commas.</a:t>
            </a:r>
          </a:p>
          <a:p>
            <a:endParaRPr lang="en-IN" dirty="0"/>
          </a:p>
          <a:p>
            <a:r>
              <a:rPr lang="en-IN" dirty="0"/>
              <a:t>B. Enable VARIANT_OUTER_ARRAY file format option for the COPY INTO &lt;table&gt; command.</a:t>
            </a:r>
          </a:p>
          <a:p>
            <a:endParaRPr lang="en-IN" dirty="0"/>
          </a:p>
          <a:p>
            <a:r>
              <a:rPr lang="en-IN" dirty="0"/>
              <a:t>C. Enable the STRIP_OUTER_ARRAY file format option for the COPY INTO &lt;table&gt; command.</a:t>
            </a:r>
          </a:p>
          <a:p>
            <a:endParaRPr lang="en-IN" dirty="0"/>
          </a:p>
          <a:p>
            <a:r>
              <a:rPr lang="en-IN" dirty="0"/>
              <a:t>D. No need to remove the outer array structure; Snowflake will handle it automatically.</a:t>
            </a:r>
          </a:p>
        </p:txBody>
      </p:sp>
    </p:spTree>
    <p:extLst>
      <p:ext uri="{BB962C8B-B14F-4D97-AF65-F5344CB8AC3E}">
        <p14:creationId xmlns:p14="http://schemas.microsoft.com/office/powerpoint/2010/main" val="38128292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527108D-F187-4994-AD77-B9DAA65434D5}"/>
              </a:ext>
            </a:extLst>
          </p:cNvPr>
          <p:cNvSpPr txBox="1"/>
          <p:nvPr/>
        </p:nvSpPr>
        <p:spPr>
          <a:xfrm>
            <a:off x="262759" y="599091"/>
            <a:ext cx="1184515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What would happen if a warehouse is suspended while it is executing an SQL statement in Snowflake?</a:t>
            </a:r>
          </a:p>
          <a:p>
            <a:endParaRPr lang="en-IN" dirty="0"/>
          </a:p>
          <a:p>
            <a:r>
              <a:rPr lang="en-IN" dirty="0"/>
              <a:t>A. All compute resources of the warehouse will remain up until the statement is complete.</a:t>
            </a:r>
          </a:p>
          <a:p>
            <a:endParaRPr lang="en-IN" dirty="0"/>
          </a:p>
          <a:p>
            <a:r>
              <a:rPr lang="en-IN" dirty="0"/>
              <a:t>B. An error will occur when trying to suspend the warehouse while it is executing SQL statements.</a:t>
            </a:r>
          </a:p>
          <a:p>
            <a:endParaRPr lang="en-IN" dirty="0"/>
          </a:p>
          <a:p>
            <a:r>
              <a:rPr lang="en-IN" dirty="0"/>
              <a:t>C. All compute resources of the warehouse will be shut down immediately, and the running statement will be </a:t>
            </a:r>
            <a:r>
              <a:rPr lang="en-IN" dirty="0" err="1"/>
              <a:t>canceled</a:t>
            </a:r>
            <a:r>
              <a:rPr lang="en-IN" dirty="0"/>
              <a:t>.</a:t>
            </a:r>
          </a:p>
          <a:p>
            <a:endParaRPr lang="en-IN" dirty="0"/>
          </a:p>
          <a:p>
            <a:r>
              <a:rPr lang="en-IN" dirty="0"/>
              <a:t>D. Only idle compute resources of the warehouse will be shut down, allowing active statements to complete.</a:t>
            </a:r>
          </a:p>
        </p:txBody>
      </p:sp>
    </p:spTree>
    <p:extLst>
      <p:ext uri="{BB962C8B-B14F-4D97-AF65-F5344CB8AC3E}">
        <p14:creationId xmlns:p14="http://schemas.microsoft.com/office/powerpoint/2010/main" val="14614262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953E83A-4B6C-A219-D59D-E8C4065DBCFE}"/>
              </a:ext>
            </a:extLst>
          </p:cNvPr>
          <p:cNvSpPr txBox="1"/>
          <p:nvPr/>
        </p:nvSpPr>
        <p:spPr>
          <a:xfrm>
            <a:off x="367862" y="283779"/>
            <a:ext cx="877613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Which of the following languages does Snowflake support for writing UDFs? (Select 4)</a:t>
            </a:r>
          </a:p>
          <a:p>
            <a:endParaRPr lang="en-IN" dirty="0"/>
          </a:p>
          <a:p>
            <a:r>
              <a:rPr lang="en-IN" dirty="0"/>
              <a:t>A. GO</a:t>
            </a:r>
          </a:p>
          <a:p>
            <a:endParaRPr lang="en-IN" dirty="0"/>
          </a:p>
          <a:p>
            <a:r>
              <a:rPr lang="en-IN" dirty="0"/>
              <a:t>B. SQL</a:t>
            </a:r>
          </a:p>
          <a:p>
            <a:endParaRPr lang="en-IN" dirty="0"/>
          </a:p>
          <a:p>
            <a:r>
              <a:rPr lang="en-IN" dirty="0"/>
              <a:t>C. C#</a:t>
            </a:r>
          </a:p>
          <a:p>
            <a:endParaRPr lang="en-IN" dirty="0"/>
          </a:p>
          <a:p>
            <a:r>
              <a:rPr lang="en-IN" dirty="0"/>
              <a:t>D. JAVA</a:t>
            </a:r>
          </a:p>
          <a:p>
            <a:endParaRPr lang="en-IN" dirty="0"/>
          </a:p>
          <a:p>
            <a:r>
              <a:rPr lang="en-IN" dirty="0"/>
              <a:t>E. JavaScript</a:t>
            </a:r>
          </a:p>
          <a:p>
            <a:endParaRPr lang="en-IN" dirty="0"/>
          </a:p>
          <a:p>
            <a:r>
              <a:rPr lang="en-IN" dirty="0"/>
              <a:t>F. Python</a:t>
            </a:r>
          </a:p>
        </p:txBody>
      </p:sp>
    </p:spTree>
    <p:extLst>
      <p:ext uri="{BB962C8B-B14F-4D97-AF65-F5344CB8AC3E}">
        <p14:creationId xmlns:p14="http://schemas.microsoft.com/office/powerpoint/2010/main" val="22368640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7A1770D-3235-70B9-94EF-6A2033E44D3C}"/>
              </a:ext>
            </a:extLst>
          </p:cNvPr>
          <p:cNvSpPr txBox="1"/>
          <p:nvPr/>
        </p:nvSpPr>
        <p:spPr>
          <a:xfrm>
            <a:off x="325821" y="567559"/>
            <a:ext cx="881817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Which schema can be used to find out about storage, compute, and objects in a Snowflake account?</a:t>
            </a:r>
          </a:p>
          <a:p>
            <a:endParaRPr lang="en-IN" dirty="0"/>
          </a:p>
          <a:p>
            <a:r>
              <a:rPr lang="en-IN" dirty="0"/>
              <a:t>A. INFORMATION_SCHEMA</a:t>
            </a:r>
          </a:p>
          <a:p>
            <a:endParaRPr lang="en-IN" dirty="0"/>
          </a:p>
          <a:p>
            <a:r>
              <a:rPr lang="en-IN" dirty="0"/>
              <a:t>B. SNOWFLAKE_SCHEMA</a:t>
            </a:r>
          </a:p>
          <a:p>
            <a:endParaRPr lang="en-IN" dirty="0"/>
          </a:p>
          <a:p>
            <a:r>
              <a:rPr lang="en-IN" dirty="0"/>
              <a:t>C. RESOURCE_SCHEMA</a:t>
            </a:r>
          </a:p>
          <a:p>
            <a:endParaRPr lang="en-IN" dirty="0"/>
          </a:p>
          <a:p>
            <a:r>
              <a:rPr lang="en-IN" dirty="0"/>
              <a:t>D. USAGE_SCHEMA</a:t>
            </a:r>
          </a:p>
        </p:txBody>
      </p:sp>
    </p:spTree>
    <p:extLst>
      <p:ext uri="{BB962C8B-B14F-4D97-AF65-F5344CB8AC3E}">
        <p14:creationId xmlns:p14="http://schemas.microsoft.com/office/powerpoint/2010/main" val="30563572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732F239-BA1F-C0ED-5356-68A01CDD71DE}"/>
              </a:ext>
            </a:extLst>
          </p:cNvPr>
          <p:cNvSpPr txBox="1"/>
          <p:nvPr/>
        </p:nvSpPr>
        <p:spPr>
          <a:xfrm>
            <a:off x="283779" y="283780"/>
            <a:ext cx="925961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What locations does Snowflake support for staging data? (Select all that apply)</a:t>
            </a:r>
          </a:p>
          <a:p>
            <a:endParaRPr lang="en-IN" dirty="0"/>
          </a:p>
          <a:p>
            <a:r>
              <a:rPr lang="en-IN" dirty="0"/>
              <a:t>A. Amazon S3</a:t>
            </a:r>
          </a:p>
          <a:p>
            <a:endParaRPr lang="en-IN" dirty="0"/>
          </a:p>
          <a:p>
            <a:r>
              <a:rPr lang="en-IN" dirty="0"/>
              <a:t>B. Google Cloud Storage</a:t>
            </a:r>
          </a:p>
          <a:p>
            <a:endParaRPr lang="en-IN" dirty="0"/>
          </a:p>
          <a:p>
            <a:r>
              <a:rPr lang="en-IN" dirty="0"/>
              <a:t>C. Oracle Cloud Storage</a:t>
            </a:r>
          </a:p>
          <a:p>
            <a:r>
              <a:rPr lang="en-IN" dirty="0"/>
              <a:t>D. Microsoft Azure Blob Storage</a:t>
            </a:r>
          </a:p>
          <a:p>
            <a:endParaRPr lang="en-IN" dirty="0"/>
          </a:p>
          <a:p>
            <a:r>
              <a:rPr lang="en-IN" dirty="0"/>
              <a:t>E. Snowflake Internal Stages</a:t>
            </a:r>
          </a:p>
        </p:txBody>
      </p:sp>
    </p:spTree>
    <p:extLst>
      <p:ext uri="{BB962C8B-B14F-4D97-AF65-F5344CB8AC3E}">
        <p14:creationId xmlns:p14="http://schemas.microsoft.com/office/powerpoint/2010/main" val="22993194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97C4EC-E9C0-7EA6-6520-39BFC343F0E9}"/>
              </a:ext>
            </a:extLst>
          </p:cNvPr>
          <p:cNvSpPr txBox="1"/>
          <p:nvPr/>
        </p:nvSpPr>
        <p:spPr>
          <a:xfrm>
            <a:off x="199697" y="357352"/>
            <a:ext cx="1032115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You can create an account-level network policy using which of the following? (Select all that apply)</a:t>
            </a:r>
          </a:p>
          <a:p>
            <a:endParaRPr lang="en-IN" dirty="0"/>
          </a:p>
          <a:p>
            <a:r>
              <a:rPr lang="en-IN" dirty="0"/>
              <a:t>A. </a:t>
            </a:r>
            <a:r>
              <a:rPr lang="en-IN" dirty="0" err="1"/>
              <a:t>Snowsight</a:t>
            </a:r>
            <a:endParaRPr lang="en-IN" dirty="0"/>
          </a:p>
          <a:p>
            <a:endParaRPr lang="en-IN" dirty="0"/>
          </a:p>
          <a:p>
            <a:r>
              <a:rPr lang="en-IN" dirty="0"/>
              <a:t>B. Only Snowflake Support</a:t>
            </a:r>
          </a:p>
          <a:p>
            <a:endParaRPr lang="en-IN" dirty="0"/>
          </a:p>
          <a:p>
            <a:r>
              <a:rPr lang="en-IN" dirty="0"/>
              <a:t>C. Classic Web Interface</a:t>
            </a:r>
          </a:p>
          <a:p>
            <a:endParaRPr lang="en-IN" dirty="0"/>
          </a:p>
          <a:p>
            <a:r>
              <a:rPr lang="en-IN" dirty="0"/>
              <a:t>D. SQL</a:t>
            </a:r>
          </a:p>
        </p:txBody>
      </p:sp>
    </p:spTree>
    <p:extLst>
      <p:ext uri="{BB962C8B-B14F-4D97-AF65-F5344CB8AC3E}">
        <p14:creationId xmlns:p14="http://schemas.microsoft.com/office/powerpoint/2010/main" val="35215076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F4F872C-7CC2-B2D9-65E1-B58AD32EBA8A}"/>
              </a:ext>
            </a:extLst>
          </p:cNvPr>
          <p:cNvSpPr txBox="1"/>
          <p:nvPr/>
        </p:nvSpPr>
        <p:spPr>
          <a:xfrm>
            <a:off x="620109" y="704193"/>
            <a:ext cx="10562897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5. Which IdP vendors provide native Snowflake support for federated authentication and SSO? (Select 2)</a:t>
            </a:r>
          </a:p>
          <a:p>
            <a:endParaRPr lang="en-IN" dirty="0"/>
          </a:p>
          <a:p>
            <a:r>
              <a:rPr lang="en-IN" dirty="0"/>
              <a:t>A. Google G Suite</a:t>
            </a:r>
          </a:p>
          <a:p>
            <a:endParaRPr lang="en-IN" dirty="0"/>
          </a:p>
          <a:p>
            <a:r>
              <a:rPr lang="en-IN" dirty="0"/>
              <a:t>B. Okta</a:t>
            </a:r>
          </a:p>
          <a:p>
            <a:endParaRPr lang="en-IN" dirty="0"/>
          </a:p>
          <a:p>
            <a:r>
              <a:rPr lang="en-IN" dirty="0"/>
              <a:t>C. Microsoft Azure Active Directory</a:t>
            </a:r>
          </a:p>
          <a:p>
            <a:endParaRPr lang="en-IN" dirty="0"/>
          </a:p>
          <a:p>
            <a:r>
              <a:rPr lang="en-IN" dirty="0"/>
              <a:t>D. OneLogin</a:t>
            </a:r>
          </a:p>
          <a:p>
            <a:endParaRPr lang="en-IN" dirty="0"/>
          </a:p>
          <a:p>
            <a:r>
              <a:rPr lang="en-IN" dirty="0"/>
              <a:t>E. Microsoft ADFS</a:t>
            </a:r>
          </a:p>
        </p:txBody>
      </p:sp>
    </p:spTree>
    <p:extLst>
      <p:ext uri="{BB962C8B-B14F-4D97-AF65-F5344CB8AC3E}">
        <p14:creationId xmlns:p14="http://schemas.microsoft.com/office/powerpoint/2010/main" val="22400930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A70388-EEF8-C971-42B4-982379F31925}"/>
              </a:ext>
            </a:extLst>
          </p:cNvPr>
          <p:cNvSpPr txBox="1"/>
          <p:nvPr/>
        </p:nvSpPr>
        <p:spPr>
          <a:xfrm>
            <a:off x="641131" y="578069"/>
            <a:ext cx="1056289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Both external (cloud storage) and internal (Snowflake) stages support unstructured data. (True / False)</a:t>
            </a:r>
          </a:p>
          <a:p>
            <a:endParaRPr lang="en-IN" dirty="0"/>
          </a:p>
          <a:p>
            <a:r>
              <a:rPr lang="en-IN" dirty="0"/>
              <a:t>A. TRUE</a:t>
            </a:r>
          </a:p>
          <a:p>
            <a:endParaRPr lang="en-IN" dirty="0"/>
          </a:p>
          <a:p>
            <a:r>
              <a:rPr lang="en-IN" dirty="0"/>
              <a:t>B. FALSE</a:t>
            </a:r>
          </a:p>
        </p:txBody>
      </p:sp>
    </p:spTree>
    <p:extLst>
      <p:ext uri="{BB962C8B-B14F-4D97-AF65-F5344CB8AC3E}">
        <p14:creationId xmlns:p14="http://schemas.microsoft.com/office/powerpoint/2010/main" val="11722801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FFDCFC4-518A-63E4-F620-FD0D766B01DC}"/>
              </a:ext>
            </a:extLst>
          </p:cNvPr>
          <p:cNvSpPr txBox="1"/>
          <p:nvPr/>
        </p:nvSpPr>
        <p:spPr>
          <a:xfrm>
            <a:off x="662152" y="525517"/>
            <a:ext cx="848184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If we make any changes to the original table, then _________.</a:t>
            </a:r>
          </a:p>
          <a:p>
            <a:endParaRPr lang="en-US" dirty="0"/>
          </a:p>
          <a:p>
            <a:pPr marL="342900" indent="-342900">
              <a:buAutoNum type="alphaUcPeriod"/>
            </a:pPr>
            <a:r>
              <a:rPr lang="en-US" dirty="0"/>
              <a:t>The changes get immediately reflected in the cloned table</a:t>
            </a:r>
            <a:br>
              <a:rPr lang="en-US" dirty="0"/>
            </a:br>
            <a:endParaRPr lang="en-US" dirty="0"/>
          </a:p>
          <a:p>
            <a:r>
              <a:rPr lang="en-US" dirty="0"/>
              <a:t>B. The cloned table data gets refreshed with the entire new data of the source table</a:t>
            </a:r>
          </a:p>
          <a:p>
            <a:br>
              <a:rPr lang="en-US" dirty="0"/>
            </a:br>
            <a:r>
              <a:rPr lang="en-US" dirty="0"/>
              <a:t>C. The changes do not reflect in the cloned table</a:t>
            </a:r>
          </a:p>
        </p:txBody>
      </p:sp>
    </p:spTree>
    <p:extLst>
      <p:ext uri="{BB962C8B-B14F-4D97-AF65-F5344CB8AC3E}">
        <p14:creationId xmlns:p14="http://schemas.microsoft.com/office/powerpoint/2010/main" val="229058970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ED241ED-F708-6601-3B99-B7911AF179A3}"/>
              </a:ext>
            </a:extLst>
          </p:cNvPr>
          <p:cNvSpPr txBox="1"/>
          <p:nvPr/>
        </p:nvSpPr>
        <p:spPr>
          <a:xfrm>
            <a:off x="525517" y="704193"/>
            <a:ext cx="861848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 query spills large bytes to local and remote storage. What should be done to improve performance? </a:t>
            </a:r>
            <a:r>
              <a:rPr lang="en-US" b="1" i="1" dirty="0"/>
              <a:t>(Select 3)</a:t>
            </a:r>
            <a:endParaRPr lang="en-US" b="1" dirty="0"/>
          </a:p>
          <a:p>
            <a:endParaRPr lang="en-US" dirty="0"/>
          </a:p>
          <a:p>
            <a:pPr marL="342900" indent="-342900">
              <a:buAutoNum type="alphaUcPeriod"/>
            </a:pPr>
            <a:r>
              <a:rPr lang="en-US" dirty="0"/>
              <a:t>Use a larger warehouse</a:t>
            </a:r>
            <a:br>
              <a:rPr lang="en-US" dirty="0"/>
            </a:br>
            <a:endParaRPr lang="en-US" dirty="0"/>
          </a:p>
          <a:p>
            <a:r>
              <a:rPr lang="en-US" dirty="0"/>
              <a:t>B. Process data in larger batches</a:t>
            </a:r>
            <a:br>
              <a:rPr lang="en-US" dirty="0"/>
            </a:br>
            <a:endParaRPr lang="en-US" dirty="0"/>
          </a:p>
          <a:p>
            <a:r>
              <a:rPr lang="en-US" dirty="0"/>
              <a:t>C. Split the processing into multiple steps</a:t>
            </a:r>
            <a:br>
              <a:rPr lang="en-US" dirty="0"/>
            </a:br>
            <a:endParaRPr lang="en-US" dirty="0"/>
          </a:p>
          <a:p>
            <a:r>
              <a:rPr lang="en-US" dirty="0"/>
              <a:t>D. Increase concurrent queries</a:t>
            </a:r>
          </a:p>
          <a:p>
            <a:endParaRPr lang="en-US" dirty="0"/>
          </a:p>
          <a:p>
            <a:r>
              <a:rPr lang="en-US" dirty="0"/>
              <a:t>E. Process data in smaller batches</a:t>
            </a:r>
          </a:p>
        </p:txBody>
      </p:sp>
    </p:spTree>
    <p:extLst>
      <p:ext uri="{BB962C8B-B14F-4D97-AF65-F5344CB8AC3E}">
        <p14:creationId xmlns:p14="http://schemas.microsoft.com/office/powerpoint/2010/main" val="286045143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20C3032-0038-A253-9FA1-EA9DFA222E54}"/>
              </a:ext>
            </a:extLst>
          </p:cNvPr>
          <p:cNvSpPr txBox="1"/>
          <p:nvPr/>
        </p:nvSpPr>
        <p:spPr>
          <a:xfrm>
            <a:off x="367862" y="430925"/>
            <a:ext cx="1004789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An account-level resource monitor overrides warehouse-level monitors. </a:t>
            </a:r>
            <a:r>
              <a:rPr lang="en-US" b="1" i="1" dirty="0"/>
              <a:t>(True / False)</a:t>
            </a:r>
          </a:p>
          <a:p>
            <a:endParaRPr lang="en-US" b="1" dirty="0"/>
          </a:p>
          <a:p>
            <a:pPr marL="342900" indent="-342900">
              <a:buAutoNum type="alphaUcPeriod"/>
            </a:pPr>
            <a:r>
              <a:rPr lang="en-US" b="1" dirty="0"/>
              <a:t>FALSE</a:t>
            </a:r>
          </a:p>
          <a:p>
            <a:pPr marL="342900" indent="-342900">
              <a:buAutoNum type="alphaUcPeriod"/>
            </a:pPr>
            <a:endParaRPr lang="en-US" b="1" dirty="0"/>
          </a:p>
          <a:p>
            <a:pPr marL="342900" indent="-342900">
              <a:buAutoNum type="alphaUcPeriod"/>
            </a:pPr>
            <a:r>
              <a:rPr lang="en-US" b="1" dirty="0"/>
              <a:t>TRUE</a:t>
            </a:r>
          </a:p>
          <a:p>
            <a:pPr marL="342900" indent="-342900">
              <a:buAutoNum type="alphaU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545693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D3D1DB9-5D14-51E8-FCBB-946F526DE26E}"/>
              </a:ext>
            </a:extLst>
          </p:cNvPr>
          <p:cNvSpPr txBox="1"/>
          <p:nvPr/>
        </p:nvSpPr>
        <p:spPr>
          <a:xfrm>
            <a:off x="767255" y="294291"/>
            <a:ext cx="1003737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Snowflake automatically and transparently maintains materialized views. </a:t>
            </a:r>
            <a:r>
              <a:rPr lang="en-US" b="1" i="1" dirty="0"/>
              <a:t>(True / False)</a:t>
            </a:r>
            <a:endParaRPr lang="en-US" b="1" dirty="0"/>
          </a:p>
          <a:p>
            <a:endParaRPr lang="en-US" b="1" dirty="0"/>
          </a:p>
          <a:p>
            <a:pPr marL="342900" indent="-342900">
              <a:buAutoNum type="alphaUcPeriod"/>
            </a:pPr>
            <a:r>
              <a:rPr lang="en-US" b="1" dirty="0"/>
              <a:t>TRUE</a:t>
            </a:r>
          </a:p>
          <a:p>
            <a:pPr marL="342900" indent="-342900">
              <a:buAutoNum type="alphaUcPeriod"/>
            </a:pPr>
            <a:endParaRPr lang="en-US" b="1" dirty="0"/>
          </a:p>
          <a:p>
            <a:pPr marL="342900" indent="-342900">
              <a:buAutoNum type="alphaUcPeriod"/>
            </a:pPr>
            <a:r>
              <a:rPr lang="en-US" b="1" dirty="0"/>
              <a:t>FALSE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188326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AA7501C-BA31-FDF6-587F-474CB8F6785C}"/>
              </a:ext>
            </a:extLst>
          </p:cNvPr>
          <p:cNvSpPr txBox="1"/>
          <p:nvPr/>
        </p:nvSpPr>
        <p:spPr>
          <a:xfrm>
            <a:off x="966952" y="472967"/>
            <a:ext cx="817704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 suspended warehouse cannot be resized until it resumes. </a:t>
            </a:r>
            <a:r>
              <a:rPr lang="en-US" b="1" i="1" dirty="0"/>
              <a:t>(True / False)</a:t>
            </a:r>
            <a:endParaRPr lang="en-US" b="1" dirty="0"/>
          </a:p>
          <a:p>
            <a:endParaRPr lang="en-US" b="1" dirty="0"/>
          </a:p>
          <a:p>
            <a:r>
              <a:rPr lang="en-US" b="1" dirty="0"/>
              <a:t>A. TRUE</a:t>
            </a:r>
          </a:p>
          <a:p>
            <a:endParaRPr lang="en-US" b="1" dirty="0"/>
          </a:p>
          <a:p>
            <a:r>
              <a:rPr lang="en-US" b="1" dirty="0"/>
              <a:t>B. FALSE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441312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CEFEF89-343B-1533-BF3B-AC591A2FB676}"/>
              </a:ext>
            </a:extLst>
          </p:cNvPr>
          <p:cNvSpPr txBox="1"/>
          <p:nvPr/>
        </p:nvSpPr>
        <p:spPr>
          <a:xfrm>
            <a:off x="357351" y="199697"/>
            <a:ext cx="10888717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To recursively expand all nested sub-elements using FLATTEN, which argument must be set?</a:t>
            </a:r>
          </a:p>
          <a:p>
            <a:endParaRPr lang="en-IN" dirty="0"/>
          </a:p>
          <a:p>
            <a:pPr marL="342900" indent="-342900">
              <a:buAutoNum type="alphaUcPeriod"/>
            </a:pPr>
            <a:r>
              <a:rPr lang="en-IN" dirty="0"/>
              <a:t>RECURSIVE ⇒ FALSE</a:t>
            </a:r>
            <a:br>
              <a:rPr lang="en-IN" dirty="0"/>
            </a:br>
            <a:endParaRPr lang="en-IN" dirty="0"/>
          </a:p>
          <a:p>
            <a:r>
              <a:rPr lang="en-IN" dirty="0"/>
              <a:t>B. OUTER ⇒ FALSE</a:t>
            </a:r>
          </a:p>
          <a:p>
            <a:br>
              <a:rPr lang="en-IN" dirty="0"/>
            </a:br>
            <a:r>
              <a:rPr lang="en-IN" dirty="0"/>
              <a:t>C. RECURSIVE ⇒ TRUE</a:t>
            </a:r>
          </a:p>
          <a:p>
            <a:br>
              <a:rPr lang="en-IN" dirty="0"/>
            </a:br>
            <a:r>
              <a:rPr lang="en-IN" dirty="0"/>
              <a:t>D. OUTER ⇒ TRUE</a:t>
            </a:r>
          </a:p>
        </p:txBody>
      </p:sp>
    </p:spTree>
    <p:extLst>
      <p:ext uri="{BB962C8B-B14F-4D97-AF65-F5344CB8AC3E}">
        <p14:creationId xmlns:p14="http://schemas.microsoft.com/office/powerpoint/2010/main" val="2954416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A18DE23-AB84-E5F3-5209-B662E15C9269}"/>
              </a:ext>
            </a:extLst>
          </p:cNvPr>
          <p:cNvSpPr txBox="1"/>
          <p:nvPr/>
        </p:nvSpPr>
        <p:spPr>
          <a:xfrm>
            <a:off x="94593" y="462455"/>
            <a:ext cx="1057340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Micro-partitioning is an on-demand feature that must be enabled by ACCOUNTADMIN. </a:t>
            </a:r>
            <a:r>
              <a:rPr lang="en-US" b="1" i="1" dirty="0"/>
              <a:t>(True / False)</a:t>
            </a:r>
            <a:endParaRPr lang="en-US" b="1" dirty="0"/>
          </a:p>
          <a:p>
            <a:endParaRPr lang="en-US" b="1" dirty="0"/>
          </a:p>
          <a:p>
            <a:r>
              <a:rPr lang="en-US" b="1" dirty="0"/>
              <a:t>A. TRUE</a:t>
            </a:r>
          </a:p>
          <a:p>
            <a:endParaRPr lang="en-US" b="1" dirty="0"/>
          </a:p>
          <a:p>
            <a:r>
              <a:rPr lang="en-US" b="1" dirty="0"/>
              <a:t>B. FALSE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015580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A10BCF6-19F4-D5F7-2F5D-C8D2C0B7357F}"/>
              </a:ext>
            </a:extLst>
          </p:cNvPr>
          <p:cNvSpPr txBox="1"/>
          <p:nvPr/>
        </p:nvSpPr>
        <p:spPr>
          <a:xfrm>
            <a:off x="399393" y="367862"/>
            <a:ext cx="8744607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 user’s default role is _________.</a:t>
            </a:r>
          </a:p>
          <a:p>
            <a:endParaRPr lang="en-US" dirty="0"/>
          </a:p>
          <a:p>
            <a:r>
              <a:rPr lang="en-US" dirty="0"/>
              <a:t>A. Always the PUBLIC role</a:t>
            </a:r>
          </a:p>
          <a:p>
            <a:br>
              <a:rPr lang="en-US" dirty="0"/>
            </a:br>
            <a:r>
              <a:rPr lang="en-US" dirty="0"/>
              <a:t>B. Changed every time the user logs in</a:t>
            </a:r>
          </a:p>
          <a:p>
            <a:br>
              <a:rPr lang="en-US" dirty="0"/>
            </a:br>
            <a:r>
              <a:rPr lang="en-US" dirty="0"/>
              <a:t>C. The name used to log in to Snowflake</a:t>
            </a:r>
          </a:p>
          <a:p>
            <a:br>
              <a:rPr lang="en-US" dirty="0"/>
            </a:br>
            <a:r>
              <a:rPr lang="en-US" dirty="0"/>
              <a:t>D. The role set when the user logs in</a:t>
            </a:r>
          </a:p>
        </p:txBody>
      </p:sp>
    </p:spTree>
    <p:extLst>
      <p:ext uri="{BB962C8B-B14F-4D97-AF65-F5344CB8AC3E}">
        <p14:creationId xmlns:p14="http://schemas.microsoft.com/office/powerpoint/2010/main" val="162033114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24D43D-B81D-D3E7-B942-C0D2F4F466A6}"/>
              </a:ext>
            </a:extLst>
          </p:cNvPr>
          <p:cNvSpPr txBox="1"/>
          <p:nvPr/>
        </p:nvSpPr>
        <p:spPr>
          <a:xfrm>
            <a:off x="451945" y="609600"/>
            <a:ext cx="1133015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The data objects stored by Snowflake are not directly visible nor accessible by customers; they are only accessible through SQL query operations. </a:t>
            </a:r>
            <a:r>
              <a:rPr lang="en-US" b="1" i="1" dirty="0"/>
              <a:t>(True / False)</a:t>
            </a:r>
            <a:endParaRPr lang="en-US" b="1" dirty="0"/>
          </a:p>
          <a:p>
            <a:endParaRPr lang="en-US" b="1" dirty="0"/>
          </a:p>
          <a:p>
            <a:pPr marL="342900" indent="-342900">
              <a:buAutoNum type="alphaUcPeriod"/>
            </a:pPr>
            <a:r>
              <a:rPr lang="en-US" b="1" dirty="0"/>
              <a:t>TRUE</a:t>
            </a:r>
          </a:p>
          <a:p>
            <a:pPr marL="342900" indent="-342900">
              <a:buAutoNum type="alphaUcPeriod"/>
            </a:pPr>
            <a:endParaRPr lang="en-US" b="1" dirty="0"/>
          </a:p>
          <a:p>
            <a:pPr marL="342900" indent="-342900">
              <a:buAutoNum type="alphaUcPeriod"/>
            </a:pPr>
            <a:r>
              <a:rPr lang="en-US" b="1" dirty="0"/>
              <a:t>FALSE</a:t>
            </a:r>
          </a:p>
          <a:p>
            <a:pPr marL="342900" indent="-342900">
              <a:buAutoNum type="alphaUcPeriod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839705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7282AEB-FD4A-51C5-6EBB-6A12076151B4}"/>
              </a:ext>
            </a:extLst>
          </p:cNvPr>
          <p:cNvSpPr txBox="1"/>
          <p:nvPr/>
        </p:nvSpPr>
        <p:spPr>
          <a:xfrm>
            <a:off x="641132" y="641132"/>
            <a:ext cx="897583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Permissions on database objects such as databases or tables are granted to:</a:t>
            </a:r>
          </a:p>
          <a:p>
            <a:endParaRPr lang="en-US" dirty="0"/>
          </a:p>
          <a:p>
            <a:pPr marL="342900" indent="-342900">
              <a:buAutoNum type="alphaUcPeriod"/>
            </a:pPr>
            <a:r>
              <a:rPr lang="en-US" dirty="0"/>
              <a:t>Users</a:t>
            </a:r>
            <a:br>
              <a:rPr lang="en-US" dirty="0"/>
            </a:br>
            <a:endParaRPr lang="en-US" dirty="0"/>
          </a:p>
          <a:p>
            <a:r>
              <a:rPr lang="en-US" dirty="0"/>
              <a:t>B. Schemas</a:t>
            </a:r>
          </a:p>
          <a:p>
            <a:endParaRPr lang="en-US" dirty="0"/>
          </a:p>
          <a:p>
            <a:r>
              <a:rPr lang="en-US" dirty="0"/>
              <a:t>C. Roles</a:t>
            </a:r>
            <a:br>
              <a:rPr lang="en-US" dirty="0"/>
            </a:br>
            <a:endParaRPr lang="en-US" dirty="0"/>
          </a:p>
          <a:p>
            <a:r>
              <a:rPr lang="en-US" dirty="0"/>
              <a:t>D. Virtual Warehouse</a:t>
            </a:r>
          </a:p>
        </p:txBody>
      </p:sp>
    </p:spTree>
    <p:extLst>
      <p:ext uri="{BB962C8B-B14F-4D97-AF65-F5344CB8AC3E}">
        <p14:creationId xmlns:p14="http://schemas.microsoft.com/office/powerpoint/2010/main" val="362085875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FAA2D73-B834-2CE9-BAD8-D832B22978D3}"/>
              </a:ext>
            </a:extLst>
          </p:cNvPr>
          <p:cNvSpPr txBox="1"/>
          <p:nvPr/>
        </p:nvSpPr>
        <p:spPr>
          <a:xfrm>
            <a:off x="178676" y="210207"/>
            <a:ext cx="896532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John wants to create a PIPE triggered by calling </a:t>
            </a:r>
            <a:r>
              <a:rPr lang="en-IN" b="1" dirty="0" err="1"/>
              <a:t>Snowpipe</a:t>
            </a:r>
            <a:r>
              <a:rPr lang="en-IN" b="1" dirty="0"/>
              <a:t> REST endpoints. Which parameter must be specified?</a:t>
            </a:r>
          </a:p>
          <a:p>
            <a:endParaRPr lang="en-IN" dirty="0"/>
          </a:p>
          <a:p>
            <a:pPr marL="342900" indent="-342900">
              <a:buAutoNum type="alphaUcPeriod"/>
            </a:pPr>
            <a:r>
              <a:rPr lang="en-IN" dirty="0"/>
              <a:t>API_INGEST = TRUE</a:t>
            </a:r>
            <a:br>
              <a:rPr lang="en-IN" dirty="0"/>
            </a:br>
            <a:endParaRPr lang="en-IN" dirty="0"/>
          </a:p>
          <a:p>
            <a:r>
              <a:rPr lang="en-IN" dirty="0"/>
              <a:t>B. AUTO_INGEST = FALSE</a:t>
            </a:r>
            <a:br>
              <a:rPr lang="en-IN" dirty="0"/>
            </a:br>
            <a:endParaRPr lang="en-IN" dirty="0"/>
          </a:p>
          <a:p>
            <a:r>
              <a:rPr lang="en-IN" dirty="0"/>
              <a:t>C. AUTO_INGEST = TRUE</a:t>
            </a:r>
            <a:br>
              <a:rPr lang="en-IN" dirty="0"/>
            </a:br>
            <a:endParaRPr lang="en-IN" dirty="0"/>
          </a:p>
          <a:p>
            <a:r>
              <a:rPr lang="en-IN" dirty="0"/>
              <a:t>D. API_INGEST = FALSE</a:t>
            </a:r>
          </a:p>
        </p:txBody>
      </p:sp>
    </p:spTree>
    <p:extLst>
      <p:ext uri="{BB962C8B-B14F-4D97-AF65-F5344CB8AC3E}">
        <p14:creationId xmlns:p14="http://schemas.microsoft.com/office/powerpoint/2010/main" val="239433524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CADE32D-800B-3D8D-7D09-CD19C55F10CF}"/>
              </a:ext>
            </a:extLst>
          </p:cNvPr>
          <p:cNvSpPr txBox="1"/>
          <p:nvPr/>
        </p:nvSpPr>
        <p:spPr>
          <a:xfrm>
            <a:off x="430924" y="357352"/>
            <a:ext cx="871307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Which role is dedicated to user and role management only?</a:t>
            </a:r>
          </a:p>
          <a:p>
            <a:endParaRPr lang="en-US" dirty="0"/>
          </a:p>
          <a:p>
            <a:pPr marL="342900" indent="-342900">
              <a:buAutoNum type="alphaUcPeriod"/>
            </a:pPr>
            <a:r>
              <a:rPr lang="en-US" dirty="0"/>
              <a:t>SECURITYADMIN</a:t>
            </a:r>
            <a:br>
              <a:rPr lang="en-US" dirty="0"/>
            </a:br>
            <a:endParaRPr lang="en-US" dirty="0"/>
          </a:p>
          <a:p>
            <a:r>
              <a:rPr lang="en-US" dirty="0"/>
              <a:t>B. ORGADMIN</a:t>
            </a:r>
            <a:br>
              <a:rPr lang="en-US" dirty="0"/>
            </a:br>
            <a:endParaRPr lang="en-US" dirty="0"/>
          </a:p>
          <a:p>
            <a:r>
              <a:rPr lang="en-US" dirty="0"/>
              <a:t>C. ACCOUNTADMIN</a:t>
            </a:r>
            <a:br>
              <a:rPr lang="en-US" dirty="0"/>
            </a:br>
            <a:endParaRPr lang="en-US" dirty="0"/>
          </a:p>
          <a:p>
            <a:r>
              <a:rPr lang="en-US" dirty="0"/>
              <a:t>D. SYSADMIN</a:t>
            </a:r>
            <a:br>
              <a:rPr lang="en-US" dirty="0"/>
            </a:br>
            <a:endParaRPr lang="en-US" dirty="0"/>
          </a:p>
          <a:p>
            <a:r>
              <a:rPr lang="en-US" dirty="0"/>
              <a:t>E. USERADMIN</a:t>
            </a:r>
          </a:p>
        </p:txBody>
      </p:sp>
    </p:spTree>
    <p:extLst>
      <p:ext uri="{BB962C8B-B14F-4D97-AF65-F5344CB8AC3E}">
        <p14:creationId xmlns:p14="http://schemas.microsoft.com/office/powerpoint/2010/main" val="230629792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E78F8CA-1BE9-DBA3-F604-A07ACA61E1DD}"/>
              </a:ext>
            </a:extLst>
          </p:cNvPr>
          <p:cNvSpPr txBox="1"/>
          <p:nvPr/>
        </p:nvSpPr>
        <p:spPr>
          <a:xfrm>
            <a:off x="525517" y="388883"/>
            <a:ext cx="861848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User access history can be found by querying which view?</a:t>
            </a:r>
          </a:p>
          <a:p>
            <a:endParaRPr lang="en-IN" dirty="0"/>
          </a:p>
          <a:p>
            <a:pPr marL="342900" indent="-342900">
              <a:buAutoNum type="alphaUcPeriod"/>
            </a:pPr>
            <a:r>
              <a:rPr lang="en-IN" dirty="0"/>
              <a:t>INFORMATION_SCHEMA.ACCESS_REPORT</a:t>
            </a:r>
            <a:br>
              <a:rPr lang="en-IN" dirty="0"/>
            </a:br>
            <a:endParaRPr lang="en-IN" dirty="0"/>
          </a:p>
          <a:p>
            <a:r>
              <a:rPr lang="en-IN" dirty="0"/>
              <a:t>B. INFORMATION_SCHEMA.ACCESS_HISTORY</a:t>
            </a:r>
            <a:br>
              <a:rPr lang="en-IN" dirty="0"/>
            </a:br>
            <a:endParaRPr lang="en-IN" dirty="0"/>
          </a:p>
          <a:p>
            <a:r>
              <a:rPr lang="en-IN" dirty="0"/>
              <a:t>C. ACCOUNT_USAGE.ACCESS_HISTORY</a:t>
            </a:r>
            <a:br>
              <a:rPr lang="en-IN" dirty="0"/>
            </a:br>
            <a:endParaRPr lang="en-IN" dirty="0"/>
          </a:p>
          <a:p>
            <a:r>
              <a:rPr lang="en-IN" dirty="0"/>
              <a:t>D. ACCOUNT_USAGE.ACCESS_REPORT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3944401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2903E55-E6C9-D407-2720-79FD6A3FD4C3}"/>
              </a:ext>
            </a:extLst>
          </p:cNvPr>
          <p:cNvSpPr txBox="1"/>
          <p:nvPr/>
        </p:nvSpPr>
        <p:spPr>
          <a:xfrm>
            <a:off x="115613" y="504498"/>
            <a:ext cx="974308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 stored procedure can simultaneously run the caller’s and the owner’s rights. </a:t>
            </a:r>
            <a:r>
              <a:rPr lang="en-US" b="1" i="1" dirty="0"/>
              <a:t>(True / False)</a:t>
            </a:r>
            <a:endParaRPr lang="en-US" b="1" dirty="0"/>
          </a:p>
          <a:p>
            <a:endParaRPr lang="en-US" b="1" dirty="0"/>
          </a:p>
          <a:p>
            <a:r>
              <a:rPr lang="en-US" b="1" dirty="0"/>
              <a:t>A. TRUE</a:t>
            </a:r>
          </a:p>
          <a:p>
            <a:endParaRPr lang="en-US" b="1" dirty="0"/>
          </a:p>
          <a:p>
            <a:r>
              <a:rPr lang="en-US" b="1" dirty="0"/>
              <a:t>B. FALSE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325838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719684-AA43-45D4-711A-D5F2B4AB8FF2}"/>
              </a:ext>
            </a:extLst>
          </p:cNvPr>
          <p:cNvSpPr txBox="1"/>
          <p:nvPr/>
        </p:nvSpPr>
        <p:spPr>
          <a:xfrm>
            <a:off x="367862" y="325821"/>
            <a:ext cx="877613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If a function must be called inside a SQL statement and return a value, what should you create?</a:t>
            </a:r>
          </a:p>
          <a:p>
            <a:endParaRPr lang="en-US" dirty="0"/>
          </a:p>
          <a:p>
            <a:pPr marL="342900" indent="-342900">
              <a:buAutoNum type="alphaUcPeriod"/>
            </a:pPr>
            <a:r>
              <a:rPr lang="en-US" dirty="0"/>
              <a:t>Stored Procedure</a:t>
            </a:r>
            <a:br>
              <a:rPr lang="en-US" dirty="0"/>
            </a:br>
            <a:endParaRPr lang="en-US" dirty="0"/>
          </a:p>
          <a:p>
            <a:r>
              <a:rPr lang="en-US" dirty="0"/>
              <a:t>B. UDF</a:t>
            </a:r>
          </a:p>
        </p:txBody>
      </p:sp>
    </p:spTree>
    <p:extLst>
      <p:ext uri="{BB962C8B-B14F-4D97-AF65-F5344CB8AC3E}">
        <p14:creationId xmlns:p14="http://schemas.microsoft.com/office/powerpoint/2010/main" val="250323999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01F1248-D9D6-CDFF-BF1E-3335030A631B}"/>
              </a:ext>
            </a:extLst>
          </p:cNvPr>
          <p:cNvSpPr txBox="1"/>
          <p:nvPr/>
        </p:nvSpPr>
        <p:spPr>
          <a:xfrm>
            <a:off x="294290" y="315311"/>
            <a:ext cx="884971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Maximum recommended columns (or expressions) for a clustering key?</a:t>
            </a:r>
          </a:p>
          <a:p>
            <a:endParaRPr lang="en-US" dirty="0"/>
          </a:p>
          <a:p>
            <a:pPr marL="342900" indent="-342900">
              <a:buAutoNum type="alphaUcPeriod"/>
            </a:pPr>
            <a:r>
              <a:rPr lang="en-US" dirty="0"/>
              <a:t>7–8</a:t>
            </a:r>
            <a:br>
              <a:rPr lang="en-US" dirty="0"/>
            </a:br>
            <a:endParaRPr lang="en-US" dirty="0"/>
          </a:p>
          <a:p>
            <a:r>
              <a:rPr lang="en-US" dirty="0"/>
              <a:t>B. 3–4</a:t>
            </a:r>
            <a:br>
              <a:rPr lang="en-US" dirty="0"/>
            </a:br>
            <a:endParaRPr lang="en-US" dirty="0"/>
          </a:p>
          <a:p>
            <a:r>
              <a:rPr lang="en-US" dirty="0"/>
              <a:t>C. 12–16</a:t>
            </a:r>
            <a:br>
              <a:rPr lang="en-US" dirty="0"/>
            </a:br>
            <a:endParaRPr lang="en-US" dirty="0"/>
          </a:p>
          <a:p>
            <a:r>
              <a:rPr lang="en-US" dirty="0"/>
              <a:t>D. More columns = better performance</a:t>
            </a:r>
          </a:p>
        </p:txBody>
      </p:sp>
    </p:spTree>
    <p:extLst>
      <p:ext uri="{BB962C8B-B14F-4D97-AF65-F5344CB8AC3E}">
        <p14:creationId xmlns:p14="http://schemas.microsoft.com/office/powerpoint/2010/main" val="73311310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7B5C220-8F30-B39A-95B7-B004D9BA02E5}"/>
              </a:ext>
            </a:extLst>
          </p:cNvPr>
          <p:cNvSpPr txBox="1"/>
          <p:nvPr/>
        </p:nvSpPr>
        <p:spPr>
          <a:xfrm>
            <a:off x="536028" y="578069"/>
            <a:ext cx="860797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Which role can create a Reader Account?</a:t>
            </a:r>
          </a:p>
          <a:p>
            <a:pPr marL="342900" indent="-342900">
              <a:buAutoNum type="alphaUcPeriod"/>
            </a:pPr>
            <a:endParaRPr lang="en-US" dirty="0"/>
          </a:p>
          <a:p>
            <a:pPr marL="342900" indent="-342900">
              <a:buAutoNum type="alphaUcPeriod"/>
            </a:pPr>
            <a:r>
              <a:rPr lang="en-US" dirty="0"/>
              <a:t>ACCOUNTADMIN</a:t>
            </a:r>
            <a:br>
              <a:rPr lang="en-US" dirty="0"/>
            </a:br>
            <a:endParaRPr lang="en-US" dirty="0"/>
          </a:p>
          <a:p>
            <a:r>
              <a:rPr lang="en-US" dirty="0"/>
              <a:t>B. USERADMIN</a:t>
            </a:r>
            <a:br>
              <a:rPr lang="en-US" dirty="0"/>
            </a:br>
            <a:endParaRPr lang="en-US" dirty="0"/>
          </a:p>
          <a:p>
            <a:r>
              <a:rPr lang="en-US" dirty="0"/>
              <a:t>C. SYSADMIN</a:t>
            </a:r>
            <a:br>
              <a:rPr lang="en-US" dirty="0"/>
            </a:br>
            <a:endParaRPr lang="en-US" dirty="0"/>
          </a:p>
          <a:p>
            <a:r>
              <a:rPr lang="en-US" dirty="0"/>
              <a:t>D. SECURITYADMIN</a:t>
            </a:r>
          </a:p>
        </p:txBody>
      </p:sp>
    </p:spTree>
    <p:extLst>
      <p:ext uri="{BB962C8B-B14F-4D97-AF65-F5344CB8AC3E}">
        <p14:creationId xmlns:p14="http://schemas.microsoft.com/office/powerpoint/2010/main" val="81973705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EA5B5E4-92EE-7EB4-5AC3-100A328B8A58}"/>
              </a:ext>
            </a:extLst>
          </p:cNvPr>
          <p:cNvSpPr txBox="1"/>
          <p:nvPr/>
        </p:nvSpPr>
        <p:spPr>
          <a:xfrm>
            <a:off x="798786" y="420414"/>
            <a:ext cx="834521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Major benefits of defining Clustering Keys </a:t>
            </a:r>
            <a:r>
              <a:rPr lang="en-US" b="1" i="1" dirty="0"/>
              <a:t>(Select 2)</a:t>
            </a:r>
            <a:endParaRPr lang="en-US" b="1" dirty="0"/>
          </a:p>
          <a:p>
            <a:endParaRPr lang="en-US" dirty="0"/>
          </a:p>
          <a:p>
            <a:pPr marL="342900" indent="-342900">
              <a:buAutoNum type="alphaUcPeriod"/>
            </a:pPr>
            <a:r>
              <a:rPr lang="en-US" dirty="0"/>
              <a:t>Faster data sharing</a:t>
            </a:r>
            <a:br>
              <a:rPr lang="en-US" dirty="0"/>
            </a:br>
            <a:endParaRPr lang="en-US" dirty="0"/>
          </a:p>
          <a:p>
            <a:r>
              <a:rPr lang="en-US" dirty="0"/>
              <a:t>B. Optimize table maintenance</a:t>
            </a:r>
            <a:br>
              <a:rPr lang="en-US" dirty="0"/>
            </a:br>
            <a:endParaRPr lang="en-US" dirty="0"/>
          </a:p>
          <a:p>
            <a:r>
              <a:rPr lang="en-US" dirty="0"/>
              <a:t>C. Improve query performance</a:t>
            </a:r>
            <a:br>
              <a:rPr lang="en-US" dirty="0"/>
            </a:br>
            <a:endParaRPr lang="en-US" dirty="0"/>
          </a:p>
          <a:p>
            <a:r>
              <a:rPr lang="en-US" dirty="0"/>
              <a:t>D. Organize small tables (&lt;1 GB)</a:t>
            </a:r>
          </a:p>
        </p:txBody>
      </p:sp>
    </p:spTree>
    <p:extLst>
      <p:ext uri="{BB962C8B-B14F-4D97-AF65-F5344CB8AC3E}">
        <p14:creationId xmlns:p14="http://schemas.microsoft.com/office/powerpoint/2010/main" val="20037315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E589260-D080-2994-BA4A-677B3E60080D}"/>
              </a:ext>
            </a:extLst>
          </p:cNvPr>
          <p:cNvSpPr txBox="1"/>
          <p:nvPr/>
        </p:nvSpPr>
        <p:spPr>
          <a:xfrm>
            <a:off x="693683" y="557499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 task can execute which SQL code types? </a:t>
            </a:r>
            <a:r>
              <a:rPr lang="en-US" b="1" i="1" dirty="0"/>
              <a:t>(Select 3)</a:t>
            </a:r>
            <a:endParaRPr lang="en-US" b="1" dirty="0"/>
          </a:p>
          <a:p>
            <a:endParaRPr lang="en-US" b="1" dirty="0"/>
          </a:p>
          <a:p>
            <a:pPr marL="342900" indent="-342900">
              <a:buAutoNum type="alphaUcPeriod"/>
            </a:pPr>
            <a:r>
              <a:rPr lang="en-US" dirty="0"/>
              <a:t>Procedural logic using Snowflake Scripting</a:t>
            </a:r>
          </a:p>
          <a:p>
            <a:br>
              <a:rPr lang="en-US" dirty="0"/>
            </a:br>
            <a:r>
              <a:rPr lang="en-US" dirty="0"/>
              <a:t>B. Call to a stored procedure</a:t>
            </a:r>
            <a:br>
              <a:rPr lang="en-US" dirty="0"/>
            </a:br>
            <a:endParaRPr lang="en-US" dirty="0"/>
          </a:p>
          <a:p>
            <a:r>
              <a:rPr lang="en-US" dirty="0"/>
              <a:t>C. Single SQL statement</a:t>
            </a:r>
            <a:br>
              <a:rPr lang="en-US" dirty="0"/>
            </a:br>
            <a:endParaRPr lang="en-US" dirty="0"/>
          </a:p>
          <a:p>
            <a:r>
              <a:rPr lang="en-US" dirty="0"/>
              <a:t>D. Multiple SQL statements</a:t>
            </a:r>
          </a:p>
        </p:txBody>
      </p:sp>
    </p:spTree>
    <p:extLst>
      <p:ext uri="{BB962C8B-B14F-4D97-AF65-F5344CB8AC3E}">
        <p14:creationId xmlns:p14="http://schemas.microsoft.com/office/powerpoint/2010/main" val="232836386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383471C-B327-6326-31F1-56310873BE87}"/>
              </a:ext>
            </a:extLst>
          </p:cNvPr>
          <p:cNvSpPr txBox="1"/>
          <p:nvPr/>
        </p:nvSpPr>
        <p:spPr>
          <a:xfrm>
            <a:off x="210207" y="325821"/>
            <a:ext cx="893379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If an account has federated authentication enabled, can Snowflake administrators still maintain user IDs and passwords in Snowflake?</a:t>
            </a:r>
            <a:endParaRPr lang="en-US" dirty="0"/>
          </a:p>
          <a:p>
            <a:r>
              <a:rPr lang="en-US" b="1" dirty="0"/>
              <a:t>Options:</a:t>
            </a:r>
            <a:br>
              <a:rPr lang="en-US" dirty="0"/>
            </a:br>
            <a:r>
              <a:rPr lang="en-US" dirty="0"/>
              <a:t>A. No, Snowflake passwords are completely disabled</a:t>
            </a:r>
            <a:br>
              <a:rPr lang="en-US" dirty="0"/>
            </a:br>
            <a:r>
              <a:rPr lang="en-US" dirty="0"/>
              <a:t>B. Yes, Snowflake user IDs and passwords can still be maintained</a:t>
            </a:r>
            <a:br>
              <a:rPr lang="en-US" dirty="0"/>
            </a:br>
            <a:r>
              <a:rPr lang="en-US" dirty="0"/>
              <a:t>C. Only ACCOUNTADMIN can maintain passwords</a:t>
            </a:r>
            <a:br>
              <a:rPr lang="en-US" dirty="0"/>
            </a:br>
            <a:r>
              <a:rPr lang="en-US" dirty="0"/>
              <a:t>D. Only users without SSO can log in</a:t>
            </a:r>
          </a:p>
        </p:txBody>
      </p:sp>
    </p:spTree>
    <p:extLst>
      <p:ext uri="{BB962C8B-B14F-4D97-AF65-F5344CB8AC3E}">
        <p14:creationId xmlns:p14="http://schemas.microsoft.com/office/powerpoint/2010/main" val="296238674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01F8601-FB1A-473D-0556-5C3E59C57FAC}"/>
              </a:ext>
            </a:extLst>
          </p:cNvPr>
          <p:cNvSpPr txBox="1"/>
          <p:nvPr/>
        </p:nvSpPr>
        <p:spPr>
          <a:xfrm>
            <a:off x="462456" y="914401"/>
            <a:ext cx="1046830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Snowflake blocks certain IP addresses by default to improve network security. (TRUE / FALSE)</a:t>
            </a:r>
            <a:endParaRPr lang="en-US" dirty="0"/>
          </a:p>
          <a:p>
            <a:r>
              <a:rPr lang="en-US" b="1" dirty="0"/>
              <a:t>Options:</a:t>
            </a:r>
            <a:br>
              <a:rPr lang="en-US" dirty="0"/>
            </a:br>
            <a:r>
              <a:rPr lang="en-US" dirty="0"/>
              <a:t>A. TRUE</a:t>
            </a:r>
            <a:br>
              <a:rPr lang="en-US" dirty="0"/>
            </a:br>
            <a:r>
              <a:rPr lang="en-US" dirty="0"/>
              <a:t>B. FALSE</a:t>
            </a:r>
          </a:p>
        </p:txBody>
      </p:sp>
    </p:spTree>
    <p:extLst>
      <p:ext uri="{BB962C8B-B14F-4D97-AF65-F5344CB8AC3E}">
        <p14:creationId xmlns:p14="http://schemas.microsoft.com/office/powerpoint/2010/main" val="276552490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7AE220A-0844-6F24-82D2-37EC7127B44E}"/>
              </a:ext>
            </a:extLst>
          </p:cNvPr>
          <p:cNvSpPr txBox="1"/>
          <p:nvPr/>
        </p:nvSpPr>
        <p:spPr>
          <a:xfrm>
            <a:off x="599089" y="430924"/>
            <a:ext cx="996380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Dynamic Data Masking is supported in which Snowflake editions? (Select all that apply)</a:t>
            </a:r>
            <a:endParaRPr lang="en-US" dirty="0"/>
          </a:p>
          <a:p>
            <a:r>
              <a:rPr lang="en-US" b="1" dirty="0"/>
              <a:t>Options:</a:t>
            </a:r>
            <a:br>
              <a:rPr lang="en-US" dirty="0"/>
            </a:br>
            <a:r>
              <a:rPr lang="en-US" dirty="0"/>
              <a:t>A. Standard Edition</a:t>
            </a:r>
            <a:br>
              <a:rPr lang="en-US" dirty="0"/>
            </a:br>
            <a:r>
              <a:rPr lang="en-US" dirty="0"/>
              <a:t>B. Enterprise Edition</a:t>
            </a:r>
            <a:br>
              <a:rPr lang="en-US" dirty="0"/>
            </a:br>
            <a:r>
              <a:rPr lang="en-US" dirty="0"/>
              <a:t>C. Business Critical Edition</a:t>
            </a:r>
            <a:br>
              <a:rPr lang="en-US" dirty="0"/>
            </a:br>
            <a:r>
              <a:rPr lang="en-US" dirty="0"/>
              <a:t>D. VPS</a:t>
            </a:r>
          </a:p>
        </p:txBody>
      </p:sp>
    </p:spTree>
    <p:extLst>
      <p:ext uri="{BB962C8B-B14F-4D97-AF65-F5344CB8AC3E}">
        <p14:creationId xmlns:p14="http://schemas.microsoft.com/office/powerpoint/2010/main" val="383796845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9B99AA4-9F65-27B8-C81E-1D0FFA0D5886}"/>
              </a:ext>
            </a:extLst>
          </p:cNvPr>
          <p:cNvSpPr txBox="1"/>
          <p:nvPr/>
        </p:nvSpPr>
        <p:spPr>
          <a:xfrm>
            <a:off x="273269" y="819807"/>
            <a:ext cx="1090973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What are the major benefits of defining clustering keys in Snowflake? (Select 2)</a:t>
            </a:r>
            <a:endParaRPr lang="en-US" dirty="0"/>
          </a:p>
          <a:p>
            <a:r>
              <a:rPr lang="en-US" b="1" dirty="0"/>
              <a:t>Options:</a:t>
            </a:r>
            <a:br>
              <a:rPr lang="en-US" dirty="0"/>
            </a:br>
            <a:r>
              <a:rPr lang="en-US" dirty="0"/>
              <a:t>A. Faster data sharing</a:t>
            </a:r>
            <a:br>
              <a:rPr lang="en-US" dirty="0"/>
            </a:br>
            <a:r>
              <a:rPr lang="en-US" dirty="0"/>
              <a:t>B. Organizing small tables (&lt;1 GB)</a:t>
            </a:r>
            <a:br>
              <a:rPr lang="en-US" dirty="0"/>
            </a:br>
            <a:r>
              <a:rPr lang="en-US" dirty="0"/>
              <a:t>C. Improved query performance</a:t>
            </a:r>
            <a:br>
              <a:rPr lang="en-US" dirty="0"/>
            </a:br>
            <a:r>
              <a:rPr lang="en-US" dirty="0"/>
              <a:t>D. Optimized table maintenance</a:t>
            </a:r>
          </a:p>
        </p:txBody>
      </p:sp>
    </p:spTree>
    <p:extLst>
      <p:ext uri="{BB962C8B-B14F-4D97-AF65-F5344CB8AC3E}">
        <p14:creationId xmlns:p14="http://schemas.microsoft.com/office/powerpoint/2010/main" val="375559078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9A2407-96EE-62A5-20B6-251C803B6C31}"/>
              </a:ext>
            </a:extLst>
          </p:cNvPr>
          <p:cNvSpPr txBox="1"/>
          <p:nvPr/>
        </p:nvSpPr>
        <p:spPr>
          <a:xfrm>
            <a:off x="430924" y="409903"/>
            <a:ext cx="871307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Which SQL function types are supported by Snowflake? (Select all that apply)</a:t>
            </a:r>
            <a:endParaRPr lang="en-US" dirty="0"/>
          </a:p>
          <a:p>
            <a:r>
              <a:rPr lang="en-US" b="1" dirty="0"/>
              <a:t>Options:</a:t>
            </a:r>
            <a:br>
              <a:rPr lang="en-US" dirty="0"/>
            </a:br>
            <a:r>
              <a:rPr lang="en-US" dirty="0"/>
              <a:t>A. Scalar</a:t>
            </a:r>
            <a:br>
              <a:rPr lang="en-US" dirty="0"/>
            </a:br>
            <a:r>
              <a:rPr lang="en-US" dirty="0"/>
              <a:t>B. Aggregate</a:t>
            </a:r>
            <a:br>
              <a:rPr lang="en-US" dirty="0"/>
            </a:br>
            <a:r>
              <a:rPr lang="en-US" dirty="0"/>
              <a:t>C. Window</a:t>
            </a:r>
            <a:br>
              <a:rPr lang="en-US" dirty="0"/>
            </a:br>
            <a:r>
              <a:rPr lang="en-US" dirty="0"/>
              <a:t>D. Table</a:t>
            </a:r>
            <a:br>
              <a:rPr lang="en-US" dirty="0"/>
            </a:br>
            <a:r>
              <a:rPr lang="en-US" dirty="0"/>
              <a:t>E. System</a:t>
            </a:r>
            <a:br>
              <a:rPr lang="en-US" dirty="0"/>
            </a:br>
            <a:r>
              <a:rPr lang="en-US" dirty="0"/>
              <a:t>F. User-Defined</a:t>
            </a:r>
          </a:p>
        </p:txBody>
      </p:sp>
    </p:spTree>
    <p:extLst>
      <p:ext uri="{BB962C8B-B14F-4D97-AF65-F5344CB8AC3E}">
        <p14:creationId xmlns:p14="http://schemas.microsoft.com/office/powerpoint/2010/main" val="59191559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781F385-19BF-3D30-7741-B980690B4078}"/>
              </a:ext>
            </a:extLst>
          </p:cNvPr>
          <p:cNvSpPr txBox="1"/>
          <p:nvPr/>
        </p:nvSpPr>
        <p:spPr>
          <a:xfrm>
            <a:off x="220717" y="346841"/>
            <a:ext cx="1113045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At what frequency does Snowflake rotate object encryption keys?</a:t>
            </a:r>
            <a:endParaRPr lang="en-US" dirty="0"/>
          </a:p>
          <a:p>
            <a:r>
              <a:rPr lang="en-US" b="1" dirty="0"/>
              <a:t>Options:</a:t>
            </a:r>
            <a:br>
              <a:rPr lang="en-US" dirty="0"/>
            </a:br>
            <a:r>
              <a:rPr lang="en-US" dirty="0"/>
              <a:t>A. 16 days</a:t>
            </a:r>
            <a:br>
              <a:rPr lang="en-US" dirty="0"/>
            </a:br>
            <a:r>
              <a:rPr lang="en-US" dirty="0"/>
              <a:t>B. 30 days</a:t>
            </a:r>
            <a:br>
              <a:rPr lang="en-US" dirty="0"/>
            </a:br>
            <a:r>
              <a:rPr lang="en-US" dirty="0"/>
              <a:t>C. 60 days</a:t>
            </a:r>
            <a:br>
              <a:rPr lang="en-US" dirty="0"/>
            </a:br>
            <a:r>
              <a:rPr lang="en-US" dirty="0"/>
              <a:t>D. 1 year</a:t>
            </a:r>
          </a:p>
        </p:txBody>
      </p:sp>
    </p:spTree>
    <p:extLst>
      <p:ext uri="{BB962C8B-B14F-4D97-AF65-F5344CB8AC3E}">
        <p14:creationId xmlns:p14="http://schemas.microsoft.com/office/powerpoint/2010/main" val="230824987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4933C7C-70E1-8083-2441-8E4B63921A1D}"/>
              </a:ext>
            </a:extLst>
          </p:cNvPr>
          <p:cNvSpPr txBox="1"/>
          <p:nvPr/>
        </p:nvSpPr>
        <p:spPr>
          <a:xfrm>
            <a:off x="325821" y="893379"/>
            <a:ext cx="1081514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Time Travel can be disabled for an account by ACCOUNTADMIN. (True / False)</a:t>
            </a:r>
            <a:endParaRPr lang="en-US" dirty="0"/>
          </a:p>
          <a:p>
            <a:r>
              <a:rPr lang="en-US" b="1" dirty="0"/>
              <a:t>Options:</a:t>
            </a:r>
            <a:br>
              <a:rPr lang="en-US" dirty="0"/>
            </a:br>
            <a:r>
              <a:rPr lang="en-US" dirty="0"/>
              <a:t>A. TRUE</a:t>
            </a:r>
            <a:br>
              <a:rPr lang="en-US" dirty="0"/>
            </a:br>
            <a:r>
              <a:rPr lang="en-US" dirty="0"/>
              <a:t>B. FALSE</a:t>
            </a:r>
          </a:p>
        </p:txBody>
      </p:sp>
    </p:spTree>
    <p:extLst>
      <p:ext uri="{BB962C8B-B14F-4D97-AF65-F5344CB8AC3E}">
        <p14:creationId xmlns:p14="http://schemas.microsoft.com/office/powerpoint/2010/main" val="194045314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5B78FA1-61C7-CCC5-630A-6A04D2608D28}"/>
              </a:ext>
            </a:extLst>
          </p:cNvPr>
          <p:cNvSpPr txBox="1"/>
          <p:nvPr/>
        </p:nvSpPr>
        <p:spPr>
          <a:xfrm>
            <a:off x="472966" y="325821"/>
            <a:ext cx="867103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Which type of data does NOT fit into a predefined schema?</a:t>
            </a:r>
            <a:endParaRPr lang="en-US" dirty="0"/>
          </a:p>
          <a:p>
            <a:r>
              <a:rPr lang="en-US" b="1" dirty="0"/>
              <a:t>Options:</a:t>
            </a:r>
            <a:br>
              <a:rPr lang="en-US" dirty="0"/>
            </a:br>
            <a:r>
              <a:rPr lang="en-US" dirty="0"/>
              <a:t>A. Structured data</a:t>
            </a:r>
            <a:br>
              <a:rPr lang="en-US" dirty="0"/>
            </a:br>
            <a:r>
              <a:rPr lang="en-US" dirty="0"/>
              <a:t>B. Semi-structured data</a:t>
            </a:r>
            <a:br>
              <a:rPr lang="en-US" dirty="0"/>
            </a:br>
            <a:r>
              <a:rPr lang="en-US" dirty="0"/>
              <a:t>C. Unstructured data</a:t>
            </a:r>
            <a:br>
              <a:rPr lang="en-US" dirty="0"/>
            </a:br>
            <a:r>
              <a:rPr lang="en-US" dirty="0"/>
              <a:t>D. All of these</a:t>
            </a:r>
          </a:p>
        </p:txBody>
      </p:sp>
    </p:spTree>
    <p:extLst>
      <p:ext uri="{BB962C8B-B14F-4D97-AF65-F5344CB8AC3E}">
        <p14:creationId xmlns:p14="http://schemas.microsoft.com/office/powerpoint/2010/main" val="86625858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2A74E28-F6FC-790F-5BA1-1DC020EEA511}"/>
              </a:ext>
            </a:extLst>
          </p:cNvPr>
          <p:cNvSpPr txBox="1"/>
          <p:nvPr/>
        </p:nvSpPr>
        <p:spPr>
          <a:xfrm>
            <a:off x="262759" y="220717"/>
            <a:ext cx="888124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 user can be assigned multiple roles in Snowflake. (True / False)</a:t>
            </a:r>
            <a:endParaRPr lang="en-US" dirty="0"/>
          </a:p>
          <a:p>
            <a:r>
              <a:rPr lang="en-US" b="1" dirty="0"/>
              <a:t>Options:</a:t>
            </a:r>
            <a:br>
              <a:rPr lang="en-US" dirty="0"/>
            </a:br>
            <a:r>
              <a:rPr lang="en-US" dirty="0"/>
              <a:t>A. TRUE</a:t>
            </a:r>
            <a:br>
              <a:rPr lang="en-US" dirty="0"/>
            </a:br>
            <a:r>
              <a:rPr lang="en-US" dirty="0"/>
              <a:t>B. FALSE</a:t>
            </a:r>
          </a:p>
        </p:txBody>
      </p:sp>
    </p:spTree>
    <p:extLst>
      <p:ext uri="{BB962C8B-B14F-4D97-AF65-F5344CB8AC3E}">
        <p14:creationId xmlns:p14="http://schemas.microsoft.com/office/powerpoint/2010/main" val="424307798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3A87CD6-F78C-E85B-4F20-BA4D5468D297}"/>
              </a:ext>
            </a:extLst>
          </p:cNvPr>
          <p:cNvSpPr txBox="1"/>
          <p:nvPr/>
        </p:nvSpPr>
        <p:spPr>
          <a:xfrm>
            <a:off x="588579" y="241738"/>
            <a:ext cx="855542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If the IdP session times out, what happens to an active Snowflake session?</a:t>
            </a:r>
            <a:endParaRPr lang="en-US" dirty="0"/>
          </a:p>
          <a:p>
            <a:r>
              <a:rPr lang="en-US" b="1" dirty="0"/>
              <a:t>Options:</a:t>
            </a:r>
            <a:br>
              <a:rPr lang="en-US" dirty="0"/>
            </a:br>
            <a:r>
              <a:rPr lang="en-US" dirty="0"/>
              <a:t>A. Session is terminated immediately</a:t>
            </a:r>
            <a:br>
              <a:rPr lang="en-US" dirty="0"/>
            </a:br>
            <a:r>
              <a:rPr lang="en-US" dirty="0"/>
              <a:t>B. User is forced to re-authenticate</a:t>
            </a:r>
            <a:br>
              <a:rPr lang="en-US" dirty="0"/>
            </a:br>
            <a:r>
              <a:rPr lang="en-US" dirty="0"/>
              <a:t>C. Existing Snowflake sessions remain active</a:t>
            </a:r>
            <a:br>
              <a:rPr lang="en-US" dirty="0"/>
            </a:br>
            <a:r>
              <a:rPr lang="en-US" dirty="0"/>
              <a:t>D. Snowflake UI is locked</a:t>
            </a:r>
          </a:p>
        </p:txBody>
      </p:sp>
    </p:spTree>
    <p:extLst>
      <p:ext uri="{BB962C8B-B14F-4D97-AF65-F5344CB8AC3E}">
        <p14:creationId xmlns:p14="http://schemas.microsoft.com/office/powerpoint/2010/main" val="117379974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1DF57C-33D8-9EA3-FE00-F5F31C1DB466}"/>
              </a:ext>
            </a:extLst>
          </p:cNvPr>
          <p:cNvSpPr txBox="1"/>
          <p:nvPr/>
        </p:nvSpPr>
        <p:spPr>
          <a:xfrm>
            <a:off x="399393" y="73572"/>
            <a:ext cx="874460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Which file formats are supported for data unloading in Snowflake? (Select all that apply)</a:t>
            </a:r>
            <a:endParaRPr lang="en-IN" dirty="0"/>
          </a:p>
          <a:p>
            <a:r>
              <a:rPr lang="en-IN" b="1" dirty="0"/>
              <a:t>Options:</a:t>
            </a:r>
            <a:br>
              <a:rPr lang="en-IN" dirty="0"/>
            </a:br>
            <a:r>
              <a:rPr lang="en-IN" dirty="0"/>
              <a:t>A. JSON</a:t>
            </a:r>
            <a:br>
              <a:rPr lang="en-IN" dirty="0"/>
            </a:br>
            <a:r>
              <a:rPr lang="en-IN" dirty="0"/>
              <a:t>B. Parquet</a:t>
            </a:r>
            <a:br>
              <a:rPr lang="en-IN" dirty="0"/>
            </a:br>
            <a:r>
              <a:rPr lang="en-IN" dirty="0"/>
              <a:t>C. Avro</a:t>
            </a:r>
            <a:br>
              <a:rPr lang="en-IN" dirty="0"/>
            </a:br>
            <a:r>
              <a:rPr lang="en-IN" dirty="0"/>
              <a:t>D. ORC</a:t>
            </a:r>
            <a:br>
              <a:rPr lang="en-IN" dirty="0"/>
            </a:br>
            <a:r>
              <a:rPr lang="en-IN" dirty="0"/>
              <a:t>E. XML</a:t>
            </a:r>
          </a:p>
          <a:p>
            <a:r>
              <a:rPr lang="en-IN" b="1" dirty="0"/>
              <a:t>✅ Correct Options:</a:t>
            </a:r>
            <a:r>
              <a:rPr lang="en-IN" dirty="0"/>
              <a:t> </a:t>
            </a:r>
            <a:r>
              <a:rPr lang="en-IN" b="1" dirty="0"/>
              <a:t>A. JSON, B. Parquet</a:t>
            </a:r>
            <a:endParaRPr lang="en-IN" dirty="0"/>
          </a:p>
          <a:p>
            <a:r>
              <a:rPr lang="en-IN" b="1" dirty="0"/>
              <a:t>Explanation:</a:t>
            </a:r>
            <a:br>
              <a:rPr lang="en-IN" dirty="0"/>
            </a:br>
            <a:r>
              <a:rPr lang="en-IN" dirty="0"/>
              <a:t>Snowflake supports </a:t>
            </a:r>
            <a:r>
              <a:rPr lang="en-IN" b="1" dirty="0"/>
              <a:t>JSON (NDJSON)</a:t>
            </a:r>
            <a:r>
              <a:rPr lang="en-IN" dirty="0"/>
              <a:t> and </a:t>
            </a:r>
            <a:r>
              <a:rPr lang="en-IN" b="1" dirty="0"/>
              <a:t>Parquet</a:t>
            </a:r>
            <a:r>
              <a:rPr lang="en-IN" dirty="0"/>
              <a:t> for unloading.</a:t>
            </a:r>
            <a:br>
              <a:rPr lang="en-IN" dirty="0"/>
            </a:br>
            <a:r>
              <a:rPr lang="en-IN" dirty="0"/>
              <a:t>Avro and ORC are supported for </a:t>
            </a:r>
            <a:r>
              <a:rPr lang="en-IN" b="1" dirty="0"/>
              <a:t>loading</a:t>
            </a:r>
            <a:r>
              <a:rPr lang="en-IN" dirty="0"/>
              <a:t>, not unloading.</a:t>
            </a:r>
          </a:p>
        </p:txBody>
      </p:sp>
    </p:spTree>
    <p:extLst>
      <p:ext uri="{BB962C8B-B14F-4D97-AF65-F5344CB8AC3E}">
        <p14:creationId xmlns:p14="http://schemas.microsoft.com/office/powerpoint/2010/main" val="327275930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3FD339-FA9F-C6A7-9E67-996BA3286F3A}"/>
              </a:ext>
            </a:extLst>
          </p:cNvPr>
          <p:cNvSpPr txBox="1"/>
          <p:nvPr/>
        </p:nvSpPr>
        <p:spPr>
          <a:xfrm>
            <a:off x="294290" y="94593"/>
            <a:ext cx="884971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Which Snowflake editions store data encrypted by default?</a:t>
            </a:r>
            <a:endParaRPr lang="en-US" dirty="0"/>
          </a:p>
          <a:p>
            <a:r>
              <a:rPr lang="en-US" b="1" dirty="0"/>
              <a:t>Options:</a:t>
            </a:r>
            <a:br>
              <a:rPr lang="en-US" dirty="0"/>
            </a:br>
            <a:r>
              <a:rPr lang="en-US" dirty="0"/>
              <a:t>A. Standard</a:t>
            </a:r>
            <a:br>
              <a:rPr lang="en-US" dirty="0"/>
            </a:br>
            <a:r>
              <a:rPr lang="en-US" dirty="0"/>
              <a:t>B. Enterprise</a:t>
            </a:r>
            <a:br>
              <a:rPr lang="en-US" dirty="0"/>
            </a:br>
            <a:r>
              <a:rPr lang="en-US" dirty="0"/>
              <a:t>C. Business Critical</a:t>
            </a:r>
            <a:br>
              <a:rPr lang="en-US" dirty="0"/>
            </a:br>
            <a:r>
              <a:rPr lang="en-US" dirty="0"/>
              <a:t>D. VPS</a:t>
            </a:r>
            <a:br>
              <a:rPr lang="en-US" dirty="0"/>
            </a:br>
            <a:r>
              <a:rPr lang="en-US" dirty="0"/>
              <a:t>E. All of the above</a:t>
            </a:r>
          </a:p>
        </p:txBody>
      </p:sp>
    </p:spTree>
    <p:extLst>
      <p:ext uri="{BB962C8B-B14F-4D97-AF65-F5344CB8AC3E}">
        <p14:creationId xmlns:p14="http://schemas.microsoft.com/office/powerpoint/2010/main" val="59525686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3ED8ADF-D1EA-28B0-F5B6-0F8A02DBA6A7}"/>
              </a:ext>
            </a:extLst>
          </p:cNvPr>
          <p:cNvSpPr txBox="1"/>
          <p:nvPr/>
        </p:nvSpPr>
        <p:spPr>
          <a:xfrm>
            <a:off x="220717" y="315311"/>
            <a:ext cx="892328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How can the query result cache be turned off?</a:t>
            </a:r>
            <a:endParaRPr lang="en-US" dirty="0"/>
          </a:p>
          <a:p>
            <a:r>
              <a:rPr lang="en-US" b="1" dirty="0"/>
              <a:t>Options:</a:t>
            </a:r>
            <a:br>
              <a:rPr lang="en-US" dirty="0"/>
            </a:br>
            <a:r>
              <a:rPr lang="en-US" dirty="0"/>
              <a:t>A. USE_QUERY_CACHED = FALSE</a:t>
            </a:r>
            <a:br>
              <a:rPr lang="en-US" dirty="0"/>
            </a:br>
            <a:r>
              <a:rPr lang="en-US" dirty="0"/>
              <a:t>B. USE_CACHED_INFO = FALSE</a:t>
            </a:r>
            <a:br>
              <a:rPr lang="en-US" dirty="0"/>
            </a:br>
            <a:r>
              <a:rPr lang="en-US" dirty="0"/>
              <a:t>C. Query result cache cannot be disabled</a:t>
            </a:r>
            <a:br>
              <a:rPr lang="en-US" dirty="0"/>
            </a:br>
            <a:r>
              <a:rPr lang="en-US" dirty="0"/>
              <a:t>D. USE_CACHED_RESULT = FALSE</a:t>
            </a:r>
          </a:p>
        </p:txBody>
      </p:sp>
    </p:spTree>
    <p:extLst>
      <p:ext uri="{BB962C8B-B14F-4D97-AF65-F5344CB8AC3E}">
        <p14:creationId xmlns:p14="http://schemas.microsoft.com/office/powerpoint/2010/main" val="204529468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8902E57-676C-FF30-7C1E-96F85EFC5526}"/>
              </a:ext>
            </a:extLst>
          </p:cNvPr>
          <p:cNvSpPr txBox="1"/>
          <p:nvPr/>
        </p:nvSpPr>
        <p:spPr>
          <a:xfrm>
            <a:off x="304800" y="483476"/>
            <a:ext cx="88392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Which Snowflake feature enables accessing historical data (data that has been changed or deleted) within a defined period?</a:t>
            </a:r>
            <a:endParaRPr lang="en-US" dirty="0"/>
          </a:p>
          <a:p>
            <a:r>
              <a:rPr lang="en-US" b="1" dirty="0"/>
              <a:t>Options:</a:t>
            </a:r>
            <a:br>
              <a:rPr lang="en-US" dirty="0"/>
            </a:br>
            <a:r>
              <a:rPr lang="en-US" dirty="0"/>
              <a:t>A. Search Optimization Service</a:t>
            </a:r>
            <a:br>
              <a:rPr lang="en-US" dirty="0"/>
            </a:br>
            <a:r>
              <a:rPr lang="en-US" dirty="0"/>
              <a:t>B. Data Sharing</a:t>
            </a:r>
            <a:br>
              <a:rPr lang="en-US" dirty="0"/>
            </a:br>
            <a:r>
              <a:rPr lang="en-US" dirty="0"/>
              <a:t>C. Time Travel</a:t>
            </a:r>
            <a:br>
              <a:rPr lang="en-US" dirty="0"/>
            </a:br>
            <a:r>
              <a:rPr lang="en-US" dirty="0"/>
              <a:t>D. Zero Copy Cloning</a:t>
            </a:r>
          </a:p>
        </p:txBody>
      </p:sp>
    </p:spTree>
    <p:extLst>
      <p:ext uri="{BB962C8B-B14F-4D97-AF65-F5344CB8AC3E}">
        <p14:creationId xmlns:p14="http://schemas.microsoft.com/office/powerpoint/2010/main" val="82663204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DC5F901-D0D8-FB8D-1F29-F0335ED7DF48}"/>
              </a:ext>
            </a:extLst>
          </p:cNvPr>
          <p:cNvSpPr txBox="1"/>
          <p:nvPr/>
        </p:nvSpPr>
        <p:spPr>
          <a:xfrm>
            <a:off x="420414" y="714704"/>
            <a:ext cx="872358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When deciding whether to suspend a warehouse or leave it running, what should you consider?</a:t>
            </a:r>
            <a:endParaRPr lang="en-US" dirty="0"/>
          </a:p>
          <a:p>
            <a:r>
              <a:rPr lang="en-US" b="1" dirty="0"/>
              <a:t>Options:</a:t>
            </a:r>
            <a:br>
              <a:rPr lang="en-US" dirty="0"/>
            </a:br>
            <a:r>
              <a:rPr lang="en-US" dirty="0"/>
              <a:t>A. Only credit savings from suspension</a:t>
            </a:r>
            <a:br>
              <a:rPr lang="en-US" dirty="0"/>
            </a:br>
            <a:r>
              <a:rPr lang="en-US" dirty="0"/>
              <a:t>B. Warehouse size and active queries only</a:t>
            </a:r>
            <a:br>
              <a:rPr lang="en-US" dirty="0"/>
            </a:br>
            <a:r>
              <a:rPr lang="en-US" dirty="0"/>
              <a:t>C. Trade-off between credit savings and cache retention</a:t>
            </a:r>
            <a:br>
              <a:rPr lang="en-US" dirty="0"/>
            </a:br>
            <a:r>
              <a:rPr lang="en-US" dirty="0"/>
              <a:t>D. Warehouse must always be suspended when idle</a:t>
            </a:r>
          </a:p>
        </p:txBody>
      </p:sp>
    </p:spTree>
    <p:extLst>
      <p:ext uri="{BB962C8B-B14F-4D97-AF65-F5344CB8AC3E}">
        <p14:creationId xmlns:p14="http://schemas.microsoft.com/office/powerpoint/2010/main" val="46288737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884F47-791B-AC27-1BED-D39067B45AD8}"/>
              </a:ext>
            </a:extLst>
          </p:cNvPr>
          <p:cNvSpPr txBox="1"/>
          <p:nvPr/>
        </p:nvSpPr>
        <p:spPr>
          <a:xfrm>
            <a:off x="357352" y="0"/>
            <a:ext cx="878664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Which database objects can be shared using Snowflake Secure Data Sharing? (Select all that apply)</a:t>
            </a:r>
            <a:endParaRPr lang="en-US" dirty="0"/>
          </a:p>
          <a:p>
            <a:r>
              <a:rPr lang="en-US" b="1" dirty="0"/>
              <a:t>Options:</a:t>
            </a:r>
            <a:br>
              <a:rPr lang="en-US" dirty="0"/>
            </a:br>
            <a:r>
              <a:rPr lang="en-US" dirty="0"/>
              <a:t>A. Tables</a:t>
            </a:r>
            <a:br>
              <a:rPr lang="en-US" dirty="0"/>
            </a:br>
            <a:r>
              <a:rPr lang="en-US" dirty="0"/>
              <a:t>B. Secure Views</a:t>
            </a:r>
            <a:br>
              <a:rPr lang="en-US" dirty="0"/>
            </a:br>
            <a:r>
              <a:rPr lang="en-US" dirty="0"/>
              <a:t>C. Secure Materialized Views</a:t>
            </a:r>
            <a:br>
              <a:rPr lang="en-US" dirty="0"/>
            </a:br>
            <a:r>
              <a:rPr lang="en-US" dirty="0"/>
              <a:t>D. Secure UDFs</a:t>
            </a:r>
            <a:br>
              <a:rPr lang="en-US" dirty="0"/>
            </a:br>
            <a:r>
              <a:rPr lang="en-US" dirty="0"/>
              <a:t>E. External Tables</a:t>
            </a:r>
            <a:br>
              <a:rPr lang="en-US" dirty="0"/>
            </a:br>
            <a:r>
              <a:rPr lang="en-US" dirty="0"/>
              <a:t>F. Roles</a:t>
            </a:r>
          </a:p>
        </p:txBody>
      </p:sp>
    </p:spTree>
    <p:extLst>
      <p:ext uri="{BB962C8B-B14F-4D97-AF65-F5344CB8AC3E}">
        <p14:creationId xmlns:p14="http://schemas.microsoft.com/office/powerpoint/2010/main" val="203790987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67F88E2-2377-17C0-3B5E-DB7C9EAB8529}"/>
              </a:ext>
            </a:extLst>
          </p:cNvPr>
          <p:cNvSpPr txBox="1"/>
          <p:nvPr/>
        </p:nvSpPr>
        <p:spPr>
          <a:xfrm>
            <a:off x="136634" y="0"/>
            <a:ext cx="900736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If a user is dropped or disabled in Snowflake but exists in Okta, can the user access Snowflake? (True / False)</a:t>
            </a:r>
            <a:endParaRPr lang="en-US" dirty="0"/>
          </a:p>
          <a:p>
            <a:r>
              <a:rPr lang="en-US" b="1" dirty="0"/>
              <a:t>Options:</a:t>
            </a:r>
            <a:br>
              <a:rPr lang="en-US" dirty="0"/>
            </a:br>
            <a:r>
              <a:rPr lang="en-US" dirty="0"/>
              <a:t>A. TRUE</a:t>
            </a:r>
            <a:br>
              <a:rPr lang="en-US" dirty="0"/>
            </a:br>
            <a:r>
              <a:rPr lang="en-US" dirty="0"/>
              <a:t>B. FALSE</a:t>
            </a:r>
          </a:p>
        </p:txBody>
      </p:sp>
    </p:spTree>
    <p:extLst>
      <p:ext uri="{BB962C8B-B14F-4D97-AF65-F5344CB8AC3E}">
        <p14:creationId xmlns:p14="http://schemas.microsoft.com/office/powerpoint/2010/main" val="329396549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67507D1-3389-AD31-FE84-0464D99E7417}"/>
              </a:ext>
            </a:extLst>
          </p:cNvPr>
          <p:cNvSpPr txBox="1"/>
          <p:nvPr/>
        </p:nvSpPr>
        <p:spPr>
          <a:xfrm>
            <a:off x="557048" y="525518"/>
            <a:ext cx="858695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 query shows high “Bytes spilled to local storage” in Query Profile. What is the most likely cause?</a:t>
            </a:r>
            <a:endParaRPr lang="en-US" dirty="0"/>
          </a:p>
          <a:p>
            <a:r>
              <a:rPr lang="en-US" b="1" dirty="0"/>
              <a:t>Options:</a:t>
            </a:r>
            <a:br>
              <a:rPr lang="en-US" dirty="0"/>
            </a:br>
            <a:r>
              <a:rPr lang="en-US" dirty="0"/>
              <a:t>A. Large warehouse size</a:t>
            </a:r>
            <a:br>
              <a:rPr lang="en-US" dirty="0"/>
            </a:br>
            <a:r>
              <a:rPr lang="en-US" dirty="0"/>
              <a:t>B. Small warehouse with insufficient memory</a:t>
            </a:r>
            <a:br>
              <a:rPr lang="en-US" dirty="0"/>
            </a:br>
            <a:r>
              <a:rPr lang="en-US" dirty="0"/>
              <a:t>C. Snowflake internal error</a:t>
            </a:r>
            <a:br>
              <a:rPr lang="en-US" dirty="0"/>
            </a:br>
            <a:r>
              <a:rPr lang="en-US" dirty="0"/>
              <a:t>D. Warehouse size has no impact</a:t>
            </a:r>
          </a:p>
        </p:txBody>
      </p:sp>
    </p:spTree>
    <p:extLst>
      <p:ext uri="{BB962C8B-B14F-4D97-AF65-F5344CB8AC3E}">
        <p14:creationId xmlns:p14="http://schemas.microsoft.com/office/powerpoint/2010/main" val="126695535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BD6B53C-96A2-2B0D-A38C-9F994A507D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821" y="120869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happens to load history if a pipe is recreated using </a:t>
            </a:r>
            <a:r>
              <a:rPr kumimoji="0" lang="en-US" altLang="en-US" sz="1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CREATE OR REPLACE PIPE</a:t>
            </a: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?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Options: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A. Pipe cannot be recreated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B. Load history is preserved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C. Previously loaded files remain tracked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D. Load history is reset</a:t>
            </a:r>
          </a:p>
        </p:txBody>
      </p:sp>
    </p:spTree>
    <p:extLst>
      <p:ext uri="{BB962C8B-B14F-4D97-AF65-F5344CB8AC3E}">
        <p14:creationId xmlns:p14="http://schemas.microsoft.com/office/powerpoint/2010/main" val="152004619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C4FC303-2BBA-AE86-15C6-711528BB3978}"/>
              </a:ext>
            </a:extLst>
          </p:cNvPr>
          <p:cNvSpPr txBox="1"/>
          <p:nvPr/>
        </p:nvSpPr>
        <p:spPr>
          <a:xfrm>
            <a:off x="220717" y="325822"/>
            <a:ext cx="892328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What happens if a policy is assigned to a user who is already signed in?</a:t>
            </a:r>
            <a:endParaRPr lang="en-US" dirty="0"/>
          </a:p>
          <a:p>
            <a:r>
              <a:rPr lang="en-US" b="1" dirty="0"/>
              <a:t>Options:</a:t>
            </a:r>
            <a:br>
              <a:rPr lang="en-US" dirty="0"/>
            </a:br>
            <a:r>
              <a:rPr lang="en-US" dirty="0"/>
              <a:t>A. Policy applies immediately without impact</a:t>
            </a:r>
            <a:br>
              <a:rPr lang="en-US" dirty="0"/>
            </a:br>
            <a:r>
              <a:rPr lang="en-US" dirty="0"/>
              <a:t>B. User can continue working normally</a:t>
            </a:r>
            <a:br>
              <a:rPr lang="en-US" dirty="0"/>
            </a:br>
            <a:r>
              <a:rPr lang="en-US" dirty="0"/>
              <a:t>C. User must sign out and sign back in</a:t>
            </a:r>
            <a:br>
              <a:rPr lang="en-US" dirty="0"/>
            </a:br>
            <a:r>
              <a:rPr lang="en-US" dirty="0"/>
              <a:t>D. Session is automatically terminated</a:t>
            </a:r>
          </a:p>
        </p:txBody>
      </p:sp>
    </p:spTree>
    <p:extLst>
      <p:ext uri="{BB962C8B-B14F-4D97-AF65-F5344CB8AC3E}">
        <p14:creationId xmlns:p14="http://schemas.microsoft.com/office/powerpoint/2010/main" val="136036400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E01CFCE-015D-2086-96DA-BD6071F86034}"/>
              </a:ext>
            </a:extLst>
          </p:cNvPr>
          <p:cNvSpPr txBox="1"/>
          <p:nvPr/>
        </p:nvSpPr>
        <p:spPr>
          <a:xfrm>
            <a:off x="504497" y="409903"/>
            <a:ext cx="863950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Which Snowflake editions provide federated authentication?</a:t>
            </a:r>
            <a:endParaRPr lang="en-US" dirty="0"/>
          </a:p>
          <a:p>
            <a:r>
              <a:rPr lang="en-US" b="1" dirty="0"/>
              <a:t>Options:</a:t>
            </a:r>
            <a:br>
              <a:rPr lang="en-US" dirty="0"/>
            </a:br>
            <a:r>
              <a:rPr lang="en-US" dirty="0"/>
              <a:t>A. Standard</a:t>
            </a:r>
            <a:br>
              <a:rPr lang="en-US" dirty="0"/>
            </a:br>
            <a:r>
              <a:rPr lang="en-US" dirty="0"/>
              <a:t>B. Enterprise</a:t>
            </a:r>
            <a:br>
              <a:rPr lang="en-US" dirty="0"/>
            </a:br>
            <a:r>
              <a:rPr lang="en-US" dirty="0"/>
              <a:t>C. Business Critical</a:t>
            </a:r>
            <a:br>
              <a:rPr lang="en-US" dirty="0"/>
            </a:br>
            <a:r>
              <a:rPr lang="en-US" dirty="0"/>
              <a:t>D. Virtual Private Snowflake (VPS)</a:t>
            </a:r>
            <a:br>
              <a:rPr lang="en-US" dirty="0"/>
            </a:br>
            <a:r>
              <a:rPr lang="en-US" dirty="0"/>
              <a:t>E. All of the above</a:t>
            </a:r>
          </a:p>
        </p:txBody>
      </p:sp>
    </p:spTree>
    <p:extLst>
      <p:ext uri="{BB962C8B-B14F-4D97-AF65-F5344CB8AC3E}">
        <p14:creationId xmlns:p14="http://schemas.microsoft.com/office/powerpoint/2010/main" val="377174520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104D4B7-BE39-6993-B3E7-2188BEDB60B8}"/>
              </a:ext>
            </a:extLst>
          </p:cNvPr>
          <p:cNvSpPr txBox="1"/>
          <p:nvPr/>
        </p:nvSpPr>
        <p:spPr>
          <a:xfrm>
            <a:off x="399393" y="199697"/>
            <a:ext cx="874460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What happens to data when the Time Travel retention period ends?</a:t>
            </a:r>
            <a:endParaRPr lang="en-US" dirty="0"/>
          </a:p>
          <a:p>
            <a:r>
              <a:rPr lang="en-US" b="1" dirty="0"/>
              <a:t>Options:</a:t>
            </a:r>
            <a:br>
              <a:rPr lang="en-US" dirty="0"/>
            </a:br>
            <a:r>
              <a:rPr lang="en-US" dirty="0"/>
              <a:t>A. Data is permanently deleted</a:t>
            </a:r>
            <a:br>
              <a:rPr lang="en-US" dirty="0"/>
            </a:br>
            <a:r>
              <a:rPr lang="en-US" dirty="0"/>
              <a:t>B. Data is moved to Snowflake Fail-safe</a:t>
            </a:r>
            <a:br>
              <a:rPr lang="en-US" dirty="0"/>
            </a:br>
            <a:r>
              <a:rPr lang="en-US" dirty="0"/>
              <a:t>C. SYSADMIN can restore the data</a:t>
            </a:r>
            <a:br>
              <a:rPr lang="en-US" dirty="0"/>
            </a:br>
            <a:r>
              <a:rPr lang="en-US" dirty="0"/>
              <a:t>D. Retention can be increased to recover data</a:t>
            </a:r>
          </a:p>
        </p:txBody>
      </p:sp>
    </p:spTree>
    <p:extLst>
      <p:ext uri="{BB962C8B-B14F-4D97-AF65-F5344CB8AC3E}">
        <p14:creationId xmlns:p14="http://schemas.microsoft.com/office/powerpoint/2010/main" val="168585011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C703E1C-74BE-531E-ABB2-10AA333B31C2}"/>
              </a:ext>
            </a:extLst>
          </p:cNvPr>
          <p:cNvSpPr txBox="1"/>
          <p:nvPr/>
        </p:nvSpPr>
        <p:spPr>
          <a:xfrm>
            <a:off x="147145" y="241738"/>
            <a:ext cx="899685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Which SQL command determines whether a network policy is set at account or user level?</a:t>
            </a:r>
            <a:endParaRPr lang="en-US" dirty="0"/>
          </a:p>
          <a:p>
            <a:r>
              <a:rPr lang="en-US" b="1" dirty="0"/>
              <a:t>Options:</a:t>
            </a:r>
            <a:br>
              <a:rPr lang="en-US" dirty="0"/>
            </a:br>
            <a:r>
              <a:rPr lang="en-US" dirty="0"/>
              <a:t>A. SHOW NETWORK_POLICIES</a:t>
            </a:r>
            <a:br>
              <a:rPr lang="en-US" dirty="0"/>
            </a:br>
            <a:r>
              <a:rPr lang="en-US" dirty="0"/>
              <a:t>B. SHOW POLICY</a:t>
            </a:r>
            <a:br>
              <a:rPr lang="en-US" dirty="0"/>
            </a:br>
            <a:r>
              <a:rPr lang="en-US" dirty="0"/>
              <a:t>C. SHOW PARAMETERS</a:t>
            </a:r>
            <a:br>
              <a:rPr lang="en-US" dirty="0"/>
            </a:br>
            <a:r>
              <a:rPr lang="en-US" dirty="0"/>
              <a:t>D. SHOW POLICIES</a:t>
            </a:r>
          </a:p>
        </p:txBody>
      </p:sp>
    </p:spTree>
    <p:extLst>
      <p:ext uri="{BB962C8B-B14F-4D97-AF65-F5344CB8AC3E}">
        <p14:creationId xmlns:p14="http://schemas.microsoft.com/office/powerpoint/2010/main" val="56194255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FF223FA-3FDC-2CD0-AB85-FC0A3A8764FF}"/>
              </a:ext>
            </a:extLst>
          </p:cNvPr>
          <p:cNvSpPr txBox="1"/>
          <p:nvPr/>
        </p:nvSpPr>
        <p:spPr>
          <a:xfrm>
            <a:off x="294290" y="168167"/>
            <a:ext cx="884971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Which privileges are provided by a share? (Select 2)</a:t>
            </a:r>
            <a:endParaRPr lang="en-US" dirty="0"/>
          </a:p>
          <a:p>
            <a:r>
              <a:rPr lang="en-US" b="1" dirty="0"/>
              <a:t>Options:</a:t>
            </a:r>
            <a:br>
              <a:rPr lang="en-US" dirty="0"/>
            </a:br>
            <a:r>
              <a:rPr lang="en-US" dirty="0"/>
              <a:t>A. SELECT on shared tables</a:t>
            </a:r>
            <a:br>
              <a:rPr lang="en-US" dirty="0"/>
            </a:br>
            <a:r>
              <a:rPr lang="en-US" dirty="0"/>
              <a:t>B. MODIFY on shared tables</a:t>
            </a:r>
            <a:br>
              <a:rPr lang="en-US" dirty="0"/>
            </a:br>
            <a:r>
              <a:rPr lang="en-US" dirty="0"/>
              <a:t>C. USAGE on database and schema</a:t>
            </a:r>
            <a:br>
              <a:rPr lang="en-US" dirty="0"/>
            </a:br>
            <a:r>
              <a:rPr lang="en-US" dirty="0"/>
              <a:t>D. USAGE on tables</a:t>
            </a:r>
          </a:p>
        </p:txBody>
      </p:sp>
    </p:spTree>
    <p:extLst>
      <p:ext uri="{BB962C8B-B14F-4D97-AF65-F5344CB8AC3E}">
        <p14:creationId xmlns:p14="http://schemas.microsoft.com/office/powerpoint/2010/main" val="248896111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36DABC0-C47E-3519-F776-10CC8228DEDA}"/>
              </a:ext>
            </a:extLst>
          </p:cNvPr>
          <p:cNvSpPr txBox="1"/>
          <p:nvPr/>
        </p:nvSpPr>
        <p:spPr>
          <a:xfrm>
            <a:off x="0" y="220717"/>
            <a:ext cx="9144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Multi-cluster warehouses improve performance of slow-running queries. (True / False)</a:t>
            </a:r>
            <a:endParaRPr lang="en-US" dirty="0"/>
          </a:p>
          <a:p>
            <a:r>
              <a:rPr lang="en-US" b="1" dirty="0"/>
              <a:t>Options:</a:t>
            </a:r>
            <a:br>
              <a:rPr lang="en-US" dirty="0"/>
            </a:br>
            <a:r>
              <a:rPr lang="en-US" dirty="0"/>
              <a:t>A. TRUE</a:t>
            </a:r>
            <a:br>
              <a:rPr lang="en-US" dirty="0"/>
            </a:br>
            <a:r>
              <a:rPr lang="en-US" dirty="0"/>
              <a:t>B. FALSE</a:t>
            </a:r>
          </a:p>
        </p:txBody>
      </p:sp>
    </p:spTree>
    <p:extLst>
      <p:ext uri="{BB962C8B-B14F-4D97-AF65-F5344CB8AC3E}">
        <p14:creationId xmlns:p14="http://schemas.microsoft.com/office/powerpoint/2010/main" val="425303350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C450829-2A2F-E3E4-6285-0C66892E3A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614" y="593522"/>
            <a:ext cx="10058399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Which is the slowest method to select staged files for loading?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Options: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A. Specifying file list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B. Selecting by path or prefix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C. Pattern matching using regex</a:t>
            </a:r>
          </a:p>
        </p:txBody>
      </p:sp>
    </p:spTree>
    <p:extLst>
      <p:ext uri="{BB962C8B-B14F-4D97-AF65-F5344CB8AC3E}">
        <p14:creationId xmlns:p14="http://schemas.microsoft.com/office/powerpoint/2010/main" val="300239308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5E671E3-DA2C-1F98-74E2-5C22297E8734}"/>
              </a:ext>
            </a:extLst>
          </p:cNvPr>
          <p:cNvSpPr txBox="1"/>
          <p:nvPr/>
        </p:nvSpPr>
        <p:spPr>
          <a:xfrm>
            <a:off x="0" y="367862"/>
            <a:ext cx="9144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In auto-scaling mode with an Economy scaling policy, when does Snowflake spin up an additional cluster?</a:t>
            </a:r>
            <a:endParaRPr lang="en-US" dirty="0"/>
          </a:p>
          <a:p>
            <a:r>
              <a:rPr lang="en-US" b="1" dirty="0"/>
              <a:t>Options:</a:t>
            </a:r>
            <a:br>
              <a:rPr lang="en-US" dirty="0"/>
            </a:br>
            <a:r>
              <a:rPr lang="en-US" dirty="0"/>
              <a:t>A. Immediately when any query queues</a:t>
            </a:r>
            <a:br>
              <a:rPr lang="en-US" dirty="0"/>
            </a:br>
            <a:r>
              <a:rPr lang="en-US" dirty="0"/>
              <a:t>B. Only if it estimates enough load to keep the new cluster busy for ~6 minutes</a:t>
            </a:r>
            <a:br>
              <a:rPr lang="en-US" dirty="0"/>
            </a:br>
            <a:r>
              <a:rPr lang="en-US" dirty="0"/>
              <a:t>C. Always keeps max clusters running</a:t>
            </a:r>
            <a:br>
              <a:rPr lang="en-US" dirty="0"/>
            </a:br>
            <a:r>
              <a:rPr lang="en-US" dirty="0"/>
              <a:t>D. Only when warehouse is resized</a:t>
            </a:r>
          </a:p>
        </p:txBody>
      </p:sp>
    </p:spTree>
    <p:extLst>
      <p:ext uri="{BB962C8B-B14F-4D97-AF65-F5344CB8AC3E}">
        <p14:creationId xmlns:p14="http://schemas.microsoft.com/office/powerpoint/2010/main" val="56608032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80ABFA1-C406-FE4C-AB2A-883E886C30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144" y="801865"/>
            <a:ext cx="8058616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 can you unload data from Snowflake into a single file using 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COPY INTO</a:t>
            </a:r>
            <a:r>
              <a:rPr kumimoji="0" lang="en-US" altLang="en-US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?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Options: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A. MULTIPLE_FILES = FALSE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B. SINGLE = TRUE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C. MULTIPLE = FALSE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D. ONE_FILE = TRUE</a:t>
            </a:r>
          </a:p>
        </p:txBody>
      </p:sp>
    </p:spTree>
    <p:extLst>
      <p:ext uri="{BB962C8B-B14F-4D97-AF65-F5344CB8AC3E}">
        <p14:creationId xmlns:p14="http://schemas.microsoft.com/office/powerpoint/2010/main" val="8842885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DD3919D-317B-24F6-E443-77B69093A9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124" y="631834"/>
            <a:ext cx="8597225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Which system-defined role can manage operations at the organization level?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Options: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A. SECURITYADMIN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B. USERADMIN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C. SYSADMIN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D. ACCOUNTADMIN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E. ORGADMIN</a:t>
            </a:r>
          </a:p>
        </p:txBody>
      </p:sp>
    </p:spTree>
    <p:extLst>
      <p:ext uri="{BB962C8B-B14F-4D97-AF65-F5344CB8AC3E}">
        <p14:creationId xmlns:p14="http://schemas.microsoft.com/office/powerpoint/2010/main" val="106666281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3046003-1094-8B7F-FA39-644A539E41F6}"/>
              </a:ext>
            </a:extLst>
          </p:cNvPr>
          <p:cNvSpPr txBox="1"/>
          <p:nvPr/>
        </p:nvSpPr>
        <p:spPr>
          <a:xfrm>
            <a:off x="483476" y="210208"/>
            <a:ext cx="866052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 table has 30-day retention. If you reduce it to 20 days, what happens to data that would have remained until day 30?</a:t>
            </a:r>
            <a:endParaRPr lang="en-US" dirty="0"/>
          </a:p>
          <a:p>
            <a:r>
              <a:rPr lang="en-US" b="1" dirty="0"/>
              <a:t>Options:</a:t>
            </a:r>
            <a:br>
              <a:rPr lang="en-US" dirty="0"/>
            </a:br>
            <a:r>
              <a:rPr lang="en-US" dirty="0"/>
              <a:t>A. Data still retains 30 days before Fail-safe</a:t>
            </a:r>
            <a:br>
              <a:rPr lang="en-US" dirty="0"/>
            </a:br>
            <a:r>
              <a:rPr lang="en-US" dirty="0"/>
              <a:t>B. Data now retains only 20 days</a:t>
            </a:r>
            <a:br>
              <a:rPr lang="en-US" dirty="0"/>
            </a:br>
            <a:r>
              <a:rPr lang="en-US" dirty="0"/>
              <a:t>C. Data is permanently deleted immediately</a:t>
            </a:r>
            <a:br>
              <a:rPr lang="en-US" dirty="0"/>
            </a:br>
            <a:r>
              <a:rPr lang="en-US" dirty="0"/>
              <a:t>D. Nothing changes for existing historical data</a:t>
            </a:r>
          </a:p>
        </p:txBody>
      </p:sp>
    </p:spTree>
    <p:extLst>
      <p:ext uri="{BB962C8B-B14F-4D97-AF65-F5344CB8AC3E}">
        <p14:creationId xmlns:p14="http://schemas.microsoft.com/office/powerpoint/2010/main" val="121612740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DFA170A-F569-42F9-F134-D73328633264}"/>
              </a:ext>
            </a:extLst>
          </p:cNvPr>
          <p:cNvSpPr txBox="1"/>
          <p:nvPr/>
        </p:nvSpPr>
        <p:spPr>
          <a:xfrm>
            <a:off x="294290" y="451945"/>
            <a:ext cx="884971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Snowflake is available in four editions. Which are those? (Select 4)</a:t>
            </a:r>
            <a:endParaRPr lang="en-US" dirty="0"/>
          </a:p>
          <a:p>
            <a:r>
              <a:rPr lang="en-US" b="1" dirty="0"/>
              <a:t>Options:</a:t>
            </a:r>
            <a:br>
              <a:rPr lang="en-US" dirty="0"/>
            </a:br>
            <a:r>
              <a:rPr lang="en-US" dirty="0"/>
              <a:t>A. Standard</a:t>
            </a:r>
            <a:br>
              <a:rPr lang="en-US" dirty="0"/>
            </a:br>
            <a:r>
              <a:rPr lang="en-US" dirty="0"/>
              <a:t>B. Enterprise</a:t>
            </a:r>
            <a:br>
              <a:rPr lang="en-US" dirty="0"/>
            </a:br>
            <a:r>
              <a:rPr lang="en-US" dirty="0"/>
              <a:t>C. Business Critical</a:t>
            </a:r>
            <a:br>
              <a:rPr lang="en-US" dirty="0"/>
            </a:br>
            <a:r>
              <a:rPr lang="en-US" dirty="0"/>
              <a:t>D. Virtual Private Snowflake (VPS)</a:t>
            </a:r>
            <a:br>
              <a:rPr lang="en-US" dirty="0"/>
            </a:br>
            <a:r>
              <a:rPr lang="en-US" dirty="0"/>
              <a:t>E. Professional</a:t>
            </a:r>
            <a:br>
              <a:rPr lang="en-US" dirty="0"/>
            </a:br>
            <a:r>
              <a:rPr lang="en-US" dirty="0"/>
              <a:t>F. Professional Plus</a:t>
            </a:r>
          </a:p>
          <a:p>
            <a:r>
              <a:rPr lang="en-US" b="1" dirty="0"/>
              <a:t>✅ Correct Options:</a:t>
            </a:r>
            <a:r>
              <a:rPr lang="en-US" dirty="0"/>
              <a:t> </a:t>
            </a:r>
            <a:r>
              <a:rPr lang="en-US" b="1" dirty="0"/>
              <a:t>A, B, C, 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567174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4C2EE29-4D75-6F19-5402-12ADFDB229EC}"/>
              </a:ext>
            </a:extLst>
          </p:cNvPr>
          <p:cNvSpPr txBox="1"/>
          <p:nvPr/>
        </p:nvSpPr>
        <p:spPr>
          <a:xfrm>
            <a:off x="315310" y="220717"/>
            <a:ext cx="882869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When should you consider User-Managed Tasks over Serverless Tasks? (Select 2)</a:t>
            </a:r>
            <a:endParaRPr lang="en-US" dirty="0"/>
          </a:p>
          <a:p>
            <a:r>
              <a:rPr lang="en-US" b="1" dirty="0"/>
              <a:t>Options:</a:t>
            </a:r>
            <a:br>
              <a:rPr lang="en-US" dirty="0"/>
            </a:br>
            <a:r>
              <a:rPr lang="en-US" dirty="0"/>
              <a:t>A. When you cannot fully utilize a warehouse (few/short tasks)</a:t>
            </a:r>
            <a:br>
              <a:rPr lang="en-US" dirty="0"/>
            </a:br>
            <a:r>
              <a:rPr lang="en-US" dirty="0"/>
              <a:t>B. When you can fully utilize one warehouse with multiple concurrent tasks</a:t>
            </a:r>
            <a:br>
              <a:rPr lang="en-US" dirty="0"/>
            </a:br>
            <a:r>
              <a:rPr lang="en-US" dirty="0"/>
              <a:t>C. When schedule adherence is less important</a:t>
            </a:r>
            <a:br>
              <a:rPr lang="en-US" dirty="0"/>
            </a:br>
            <a:r>
              <a:rPr lang="en-US" dirty="0"/>
              <a:t>D. When schedule adherence is highly important</a:t>
            </a:r>
          </a:p>
        </p:txBody>
      </p:sp>
    </p:spTree>
    <p:extLst>
      <p:ext uri="{BB962C8B-B14F-4D97-AF65-F5344CB8AC3E}">
        <p14:creationId xmlns:p14="http://schemas.microsoft.com/office/powerpoint/2010/main" val="2857983045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D6B0E41-8CA9-2824-F75E-D8D99BF0CA76}"/>
              </a:ext>
            </a:extLst>
          </p:cNvPr>
          <p:cNvSpPr txBox="1"/>
          <p:nvPr/>
        </p:nvSpPr>
        <p:spPr>
          <a:xfrm>
            <a:off x="273269" y="147145"/>
            <a:ext cx="887073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If both Allowed IP Addresses and Blocked IP Addresses are specified in a network policy, which is applied first?</a:t>
            </a:r>
            <a:endParaRPr lang="en-US" dirty="0"/>
          </a:p>
          <a:p>
            <a:r>
              <a:rPr lang="en-US" b="1" dirty="0"/>
              <a:t>Options:</a:t>
            </a:r>
            <a:br>
              <a:rPr lang="en-US" dirty="0"/>
            </a:br>
            <a:r>
              <a:rPr lang="en-US" dirty="0"/>
              <a:t>A. Allowed list first</a:t>
            </a:r>
            <a:br>
              <a:rPr lang="en-US" dirty="0"/>
            </a:br>
            <a:r>
              <a:rPr lang="en-US" dirty="0"/>
              <a:t>B. Blocked list first</a:t>
            </a:r>
          </a:p>
        </p:txBody>
      </p:sp>
    </p:spTree>
    <p:extLst>
      <p:ext uri="{BB962C8B-B14F-4D97-AF65-F5344CB8AC3E}">
        <p14:creationId xmlns:p14="http://schemas.microsoft.com/office/powerpoint/2010/main" val="297865648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D786C11-86C6-4009-E09C-628D8A17F6E5}"/>
              </a:ext>
            </a:extLst>
          </p:cNvPr>
          <p:cNvSpPr txBox="1"/>
          <p:nvPr/>
        </p:nvSpPr>
        <p:spPr>
          <a:xfrm>
            <a:off x="0" y="336332"/>
            <a:ext cx="9144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Which types of VIEW does Snowflake support? (Select 3)</a:t>
            </a:r>
            <a:endParaRPr lang="en-US" dirty="0"/>
          </a:p>
          <a:p>
            <a:r>
              <a:rPr lang="en-US" b="1" dirty="0"/>
              <a:t>Options:</a:t>
            </a:r>
            <a:br>
              <a:rPr lang="en-US" dirty="0"/>
            </a:br>
            <a:r>
              <a:rPr lang="en-US" dirty="0"/>
              <a:t>A. EXTERNAL VIEW</a:t>
            </a:r>
            <a:br>
              <a:rPr lang="en-US" dirty="0"/>
            </a:br>
            <a:r>
              <a:rPr lang="en-US" dirty="0"/>
              <a:t>B. PERMANENT VIEW</a:t>
            </a:r>
            <a:br>
              <a:rPr lang="en-US" dirty="0"/>
            </a:br>
            <a:r>
              <a:rPr lang="en-US" dirty="0"/>
              <a:t>C. TEMPORARY VIEW</a:t>
            </a:r>
            <a:br>
              <a:rPr lang="en-US" dirty="0"/>
            </a:br>
            <a:r>
              <a:rPr lang="en-US" dirty="0"/>
              <a:t>D. STANDARD VIEW</a:t>
            </a:r>
            <a:br>
              <a:rPr lang="en-US" dirty="0"/>
            </a:br>
            <a:r>
              <a:rPr lang="en-US" dirty="0"/>
              <a:t>E. SECURE VIEW</a:t>
            </a:r>
            <a:br>
              <a:rPr lang="en-US" dirty="0"/>
            </a:br>
            <a:r>
              <a:rPr lang="en-US" dirty="0"/>
              <a:t>F. MATERIALIZED VIEW</a:t>
            </a:r>
          </a:p>
        </p:txBody>
      </p:sp>
    </p:spTree>
    <p:extLst>
      <p:ext uri="{BB962C8B-B14F-4D97-AF65-F5344CB8AC3E}">
        <p14:creationId xmlns:p14="http://schemas.microsoft.com/office/powerpoint/2010/main" val="190383479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68EF901-20FA-7CC3-2DA5-059A8B6A75F7}"/>
              </a:ext>
            </a:extLst>
          </p:cNvPr>
          <p:cNvSpPr txBox="1"/>
          <p:nvPr/>
        </p:nvSpPr>
        <p:spPr>
          <a:xfrm>
            <a:off x="262759" y="451945"/>
            <a:ext cx="888124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What are the two modes available for multi-cluster warehouses in Snowflake? (Select 2)</a:t>
            </a:r>
            <a:endParaRPr lang="en-IN" dirty="0"/>
          </a:p>
          <a:p>
            <a:r>
              <a:rPr lang="en-IN" b="1" dirty="0"/>
              <a:t>Options:</a:t>
            </a:r>
            <a:br>
              <a:rPr lang="en-IN" dirty="0"/>
            </a:br>
            <a:r>
              <a:rPr lang="en-IN" dirty="0"/>
              <a:t>A. Economized mode</a:t>
            </a:r>
            <a:br>
              <a:rPr lang="en-IN" dirty="0"/>
            </a:br>
            <a:r>
              <a:rPr lang="en-IN" dirty="0"/>
              <a:t>B. Standard mode</a:t>
            </a:r>
            <a:br>
              <a:rPr lang="en-IN" dirty="0"/>
            </a:br>
            <a:r>
              <a:rPr lang="en-IN" dirty="0"/>
              <a:t>C. Auto-scaling mode</a:t>
            </a:r>
            <a:br>
              <a:rPr lang="en-IN" dirty="0"/>
            </a:br>
            <a:r>
              <a:rPr lang="en-IN" dirty="0"/>
              <a:t>D. Maximized mode</a:t>
            </a:r>
          </a:p>
        </p:txBody>
      </p:sp>
    </p:spTree>
    <p:extLst>
      <p:ext uri="{BB962C8B-B14F-4D97-AF65-F5344CB8AC3E}">
        <p14:creationId xmlns:p14="http://schemas.microsoft.com/office/powerpoint/2010/main" val="420531951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2133110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5076817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2754380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5665142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8813625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6757542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7486248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4123943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6916050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51541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600</TotalTime>
  <Words>5413</Words>
  <Application>Microsoft Office PowerPoint</Application>
  <PresentationFormat>Widescreen</PresentationFormat>
  <Paragraphs>800</Paragraphs>
  <Slides>99</Slides>
  <Notes>99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99</vt:i4>
      </vt:variant>
    </vt:vector>
  </HeadingPairs>
  <TitlesOfParts>
    <vt:vector size="104" baseType="lpstr">
      <vt:lpstr>Aptos</vt:lpstr>
      <vt:lpstr>Aptos Display</vt:lpstr>
      <vt:lpstr>Arial</vt:lpstr>
      <vt:lpstr>Arial Unicode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ponnamreddybabjee@outlook.com</dc:creator>
  <cp:lastModifiedBy>ponnamreddybabjee@outlook.com</cp:lastModifiedBy>
  <cp:revision>1</cp:revision>
  <dcterms:created xsi:type="dcterms:W3CDTF">2026-01-28T09:44:52Z</dcterms:created>
  <dcterms:modified xsi:type="dcterms:W3CDTF">2026-01-29T06:34:05Z</dcterms:modified>
</cp:coreProperties>
</file>