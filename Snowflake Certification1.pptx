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8"/>
  </p:notesMasterIdLst>
  <p:sldIdLst>
    <p:sldId id="256" r:id="rId2"/>
    <p:sldId id="35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namreddybabjee@outlook.com" userId="3e261792aa522278" providerId="LiveId" clId="{1D6D694D-ABB8-4771-9C30-40DB66DFA672}"/>
    <pc:docChg chg="undo custSel delSld modSld">
      <pc:chgData name="ponnamreddybabjee@outlook.com" userId="3e261792aa522278" providerId="LiveId" clId="{1D6D694D-ABB8-4771-9C30-40DB66DFA672}" dt="2026-01-28T06:29:59.512" v="1307" actId="20577"/>
      <pc:docMkLst>
        <pc:docMk/>
      </pc:docMkLst>
      <pc:sldChg chg="modSp mod modNotesTx">
        <pc:chgData name="ponnamreddybabjee@outlook.com" userId="3e261792aa522278" providerId="LiveId" clId="{1D6D694D-ABB8-4771-9C30-40DB66DFA672}" dt="2026-01-28T05:19:45.002" v="608" actId="12"/>
        <pc:sldMkLst>
          <pc:docMk/>
          <pc:sldMk cId="145772548" sldId="257"/>
        </pc:sldMkLst>
        <pc:spChg chg="mod">
          <ac:chgData name="ponnamreddybabjee@outlook.com" userId="3e261792aa522278" providerId="LiveId" clId="{1D6D694D-ABB8-4771-9C30-40DB66DFA672}" dt="2026-01-28T05:19:45.002" v="608" actId="12"/>
          <ac:spMkLst>
            <pc:docMk/>
            <pc:sldMk cId="145772548" sldId="257"/>
            <ac:spMk id="5" creationId="{E211CC4E-8CE9-3C3E-4C2F-04B9E9A90569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19:56.948" v="609" actId="6549"/>
        <pc:sldMkLst>
          <pc:docMk/>
          <pc:sldMk cId="1306145846" sldId="258"/>
        </pc:sldMkLst>
        <pc:spChg chg="mod">
          <ac:chgData name="ponnamreddybabjee@outlook.com" userId="3e261792aa522278" providerId="LiveId" clId="{1D6D694D-ABB8-4771-9C30-40DB66DFA672}" dt="2026-01-28T05:19:56.948" v="609" actId="6549"/>
          <ac:spMkLst>
            <pc:docMk/>
            <pc:sldMk cId="1306145846" sldId="258"/>
            <ac:spMk id="6" creationId="{31BFED1E-AAA9-9598-36D0-9FA0374C68D6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0:09.332" v="612" actId="12"/>
        <pc:sldMkLst>
          <pc:docMk/>
          <pc:sldMk cId="2662838260" sldId="259"/>
        </pc:sldMkLst>
        <pc:spChg chg="mod">
          <ac:chgData name="ponnamreddybabjee@outlook.com" userId="3e261792aa522278" providerId="LiveId" clId="{1D6D694D-ABB8-4771-9C30-40DB66DFA672}" dt="2026-01-28T05:20:09.332" v="612" actId="12"/>
          <ac:spMkLst>
            <pc:docMk/>
            <pc:sldMk cId="2662838260" sldId="259"/>
            <ac:spMk id="5" creationId="{A40CF1F5-7EA9-9F03-48F7-17345FF91206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0:23.347" v="614" actId="1076"/>
        <pc:sldMkLst>
          <pc:docMk/>
          <pc:sldMk cId="2165608104" sldId="260"/>
        </pc:sldMkLst>
        <pc:spChg chg="mod">
          <ac:chgData name="ponnamreddybabjee@outlook.com" userId="3e261792aa522278" providerId="LiveId" clId="{1D6D694D-ABB8-4771-9C30-40DB66DFA672}" dt="2026-01-28T05:20:23.347" v="614" actId="1076"/>
          <ac:spMkLst>
            <pc:docMk/>
            <pc:sldMk cId="2165608104" sldId="260"/>
            <ac:spMk id="5" creationId="{987B2342-E0A3-09BB-170D-EAE169CCCF7B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0:27.603" v="615" actId="6549"/>
        <pc:sldMkLst>
          <pc:docMk/>
          <pc:sldMk cId="209714487" sldId="261"/>
        </pc:sldMkLst>
        <pc:spChg chg="mod">
          <ac:chgData name="ponnamreddybabjee@outlook.com" userId="3e261792aa522278" providerId="LiveId" clId="{1D6D694D-ABB8-4771-9C30-40DB66DFA672}" dt="2026-01-28T05:20:27.603" v="615" actId="6549"/>
          <ac:spMkLst>
            <pc:docMk/>
            <pc:sldMk cId="209714487" sldId="261"/>
            <ac:spMk id="5" creationId="{ACAB4112-3307-AB8D-1BF3-576A6B5B9E20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0:59.420" v="621" actId="12"/>
        <pc:sldMkLst>
          <pc:docMk/>
          <pc:sldMk cId="2424482205" sldId="262"/>
        </pc:sldMkLst>
        <pc:spChg chg="mod">
          <ac:chgData name="ponnamreddybabjee@outlook.com" userId="3e261792aa522278" providerId="LiveId" clId="{1D6D694D-ABB8-4771-9C30-40DB66DFA672}" dt="2026-01-28T05:20:59.420" v="621" actId="12"/>
          <ac:spMkLst>
            <pc:docMk/>
            <pc:sldMk cId="2424482205" sldId="262"/>
            <ac:spMk id="5" creationId="{ACAB4112-3307-AB8D-1BF3-576A6B5B9E20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1:15.095" v="627" actId="12"/>
        <pc:sldMkLst>
          <pc:docMk/>
          <pc:sldMk cId="89303090" sldId="263"/>
        </pc:sldMkLst>
        <pc:spChg chg="mod">
          <ac:chgData name="ponnamreddybabjee@outlook.com" userId="3e261792aa522278" providerId="LiveId" clId="{1D6D694D-ABB8-4771-9C30-40DB66DFA672}" dt="2026-01-28T05:21:15.095" v="627" actId="12"/>
          <ac:spMkLst>
            <pc:docMk/>
            <pc:sldMk cId="89303090" sldId="263"/>
            <ac:spMk id="5" creationId="{ACAB4112-3307-AB8D-1BF3-576A6B5B9E20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1:24.529" v="629" actId="20577"/>
        <pc:sldMkLst>
          <pc:docMk/>
          <pc:sldMk cId="4113804303" sldId="264"/>
        </pc:sldMkLst>
        <pc:spChg chg="mod">
          <ac:chgData name="ponnamreddybabjee@outlook.com" userId="3e261792aa522278" providerId="LiveId" clId="{1D6D694D-ABB8-4771-9C30-40DB66DFA672}" dt="2026-01-28T05:21:24.529" v="629" actId="20577"/>
          <ac:spMkLst>
            <pc:docMk/>
            <pc:sldMk cId="4113804303" sldId="264"/>
            <ac:spMk id="5" creationId="{ACAB4112-3307-AB8D-1BF3-576A6B5B9E20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1:37.379" v="630" actId="6549"/>
        <pc:sldMkLst>
          <pc:docMk/>
          <pc:sldMk cId="205709207" sldId="265"/>
        </pc:sldMkLst>
        <pc:spChg chg="mod">
          <ac:chgData name="ponnamreddybabjee@outlook.com" userId="3e261792aa522278" providerId="LiveId" clId="{1D6D694D-ABB8-4771-9C30-40DB66DFA672}" dt="2026-01-28T05:21:37.379" v="630" actId="6549"/>
          <ac:spMkLst>
            <pc:docMk/>
            <pc:sldMk cId="205709207" sldId="265"/>
            <ac:spMk id="5" creationId="{ACAB4112-3307-AB8D-1BF3-576A6B5B9E20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2:02.546" v="633" actId="12"/>
        <pc:sldMkLst>
          <pc:docMk/>
          <pc:sldMk cId="1720499723" sldId="266"/>
        </pc:sldMkLst>
        <pc:spChg chg="mod">
          <ac:chgData name="ponnamreddybabjee@outlook.com" userId="3e261792aa522278" providerId="LiveId" clId="{1D6D694D-ABB8-4771-9C30-40DB66DFA672}" dt="2026-01-28T05:22:02.546" v="633" actId="12"/>
          <ac:spMkLst>
            <pc:docMk/>
            <pc:sldMk cId="1720499723" sldId="266"/>
            <ac:spMk id="5" creationId="{ACAB4112-3307-AB8D-1BF3-576A6B5B9E20}"/>
          </ac:spMkLst>
        </pc:spChg>
      </pc:sldChg>
      <pc:sldChg chg="del">
        <pc:chgData name="ponnamreddybabjee@outlook.com" userId="3e261792aa522278" providerId="LiveId" clId="{1D6D694D-ABB8-4771-9C30-40DB66DFA672}" dt="2026-01-28T03:34:34.545" v="83" actId="47"/>
        <pc:sldMkLst>
          <pc:docMk/>
          <pc:sldMk cId="3838949957" sldId="267"/>
        </pc:sldMkLst>
      </pc:sldChg>
      <pc:sldChg chg="modSp mod modNotesTx">
        <pc:chgData name="ponnamreddybabjee@outlook.com" userId="3e261792aa522278" providerId="LiveId" clId="{1D6D694D-ABB8-4771-9C30-40DB66DFA672}" dt="2026-01-28T05:22:10.672" v="635" actId="20577"/>
        <pc:sldMkLst>
          <pc:docMk/>
          <pc:sldMk cId="3239833456" sldId="268"/>
        </pc:sldMkLst>
        <pc:spChg chg="mod">
          <ac:chgData name="ponnamreddybabjee@outlook.com" userId="3e261792aa522278" providerId="LiveId" clId="{1D6D694D-ABB8-4771-9C30-40DB66DFA672}" dt="2026-01-28T05:22:10.672" v="635" actId="20577"/>
          <ac:spMkLst>
            <pc:docMk/>
            <pc:sldMk cId="3239833456" sldId="268"/>
            <ac:spMk id="5" creationId="{ACAB4112-3307-AB8D-1BF3-576A6B5B9E20}"/>
          </ac:spMkLst>
        </pc:spChg>
      </pc:sldChg>
      <pc:sldChg chg="modSp mod modNotesTx">
        <pc:chgData name="ponnamreddybabjee@outlook.com" userId="3e261792aa522278" providerId="LiveId" clId="{1D6D694D-ABB8-4771-9C30-40DB66DFA672}" dt="2026-01-28T03:39:48.792" v="136" actId="20577"/>
        <pc:sldMkLst>
          <pc:docMk/>
          <pc:sldMk cId="2321477879" sldId="269"/>
        </pc:sldMkLst>
        <pc:spChg chg="mod">
          <ac:chgData name="ponnamreddybabjee@outlook.com" userId="3e261792aa522278" providerId="LiveId" clId="{1D6D694D-ABB8-4771-9C30-40DB66DFA672}" dt="2026-01-28T03:39:46.350" v="135" actId="20577"/>
          <ac:spMkLst>
            <pc:docMk/>
            <pc:sldMk cId="2321477879" sldId="269"/>
            <ac:spMk id="5" creationId="{ACAB4112-3307-AB8D-1BF3-576A6B5B9E20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3:11.464" v="643" actId="1076"/>
        <pc:sldMkLst>
          <pc:docMk/>
          <pc:sldMk cId="4204897662" sldId="272"/>
        </pc:sldMkLst>
        <pc:spChg chg="mod">
          <ac:chgData name="ponnamreddybabjee@outlook.com" userId="3e261792aa522278" providerId="LiveId" clId="{1D6D694D-ABB8-4771-9C30-40DB66DFA672}" dt="2026-01-28T03:39:53.247" v="137" actId="20577"/>
          <ac:spMkLst>
            <pc:docMk/>
            <pc:sldMk cId="4204897662" sldId="272"/>
            <ac:spMk id="4" creationId="{28951F2B-2071-5ADF-777D-1A55119E3776}"/>
          </ac:spMkLst>
        </pc:spChg>
        <pc:spChg chg="mod">
          <ac:chgData name="ponnamreddybabjee@outlook.com" userId="3e261792aa522278" providerId="LiveId" clId="{1D6D694D-ABB8-4771-9C30-40DB66DFA672}" dt="2026-01-28T05:22:31.644" v="636" actId="6549"/>
          <ac:spMkLst>
            <pc:docMk/>
            <pc:sldMk cId="4204897662" sldId="272"/>
            <ac:spMk id="5" creationId="{ACAB4112-3307-AB8D-1BF3-576A6B5B9E20}"/>
          </ac:spMkLst>
        </pc:spChg>
        <pc:graphicFrameChg chg="mod modGraphic">
          <ac:chgData name="ponnamreddybabjee@outlook.com" userId="3e261792aa522278" providerId="LiveId" clId="{1D6D694D-ABB8-4771-9C30-40DB66DFA672}" dt="2026-01-28T05:23:11.464" v="643" actId="1076"/>
          <ac:graphicFrameMkLst>
            <pc:docMk/>
            <pc:sldMk cId="4204897662" sldId="272"/>
            <ac:graphicFrameMk id="2" creationId="{57B8FAC7-B718-EA9D-CD26-F236E948C294}"/>
          </ac:graphicFrameMkLst>
        </pc:graphicFrameChg>
      </pc:sldChg>
      <pc:sldChg chg="modSp mod modNotesTx">
        <pc:chgData name="ponnamreddybabjee@outlook.com" userId="3e261792aa522278" providerId="LiveId" clId="{1D6D694D-ABB8-4771-9C30-40DB66DFA672}" dt="2026-01-28T05:23:17.703" v="645" actId="20577"/>
        <pc:sldMkLst>
          <pc:docMk/>
          <pc:sldMk cId="1736298827" sldId="273"/>
        </pc:sldMkLst>
        <pc:spChg chg="mod">
          <ac:chgData name="ponnamreddybabjee@outlook.com" userId="3e261792aa522278" providerId="LiveId" clId="{1D6D694D-ABB8-4771-9C30-40DB66DFA672}" dt="2026-01-28T05:23:17.703" v="645" actId="20577"/>
          <ac:spMkLst>
            <pc:docMk/>
            <pc:sldMk cId="1736298827" sldId="273"/>
            <ac:spMk id="224" creationId="{4ABB6E7D-6193-8D0C-DE1B-C7D6791C6D27}"/>
          </ac:spMkLst>
        </pc:spChg>
      </pc:sldChg>
      <pc:sldChg chg="modSp mod modNotesTx">
        <pc:chgData name="ponnamreddybabjee@outlook.com" userId="3e261792aa522278" providerId="LiveId" clId="{1D6D694D-ABB8-4771-9C30-40DB66DFA672}" dt="2026-01-28T03:40:28.553" v="148" actId="20577"/>
        <pc:sldMkLst>
          <pc:docMk/>
          <pc:sldMk cId="1144680976" sldId="274"/>
        </pc:sldMkLst>
        <pc:spChg chg="mod">
          <ac:chgData name="ponnamreddybabjee@outlook.com" userId="3e261792aa522278" providerId="LiveId" clId="{1D6D694D-ABB8-4771-9C30-40DB66DFA672}" dt="2026-01-28T03:40:23.027" v="145" actId="20577"/>
          <ac:spMkLst>
            <pc:docMk/>
            <pc:sldMk cId="1144680976" sldId="274"/>
            <ac:spMk id="224" creationId="{4ABB6E7D-6193-8D0C-DE1B-C7D6791C6D27}"/>
          </ac:spMkLst>
        </pc:spChg>
      </pc:sldChg>
      <pc:sldChg chg="modSp mod modNotesTx">
        <pc:chgData name="ponnamreddybabjee@outlook.com" userId="3e261792aa522278" providerId="LiveId" clId="{1D6D694D-ABB8-4771-9C30-40DB66DFA672}" dt="2026-01-28T03:40:41.911" v="150" actId="20577"/>
        <pc:sldMkLst>
          <pc:docMk/>
          <pc:sldMk cId="3331489405" sldId="275"/>
        </pc:sldMkLst>
        <pc:spChg chg="mod">
          <ac:chgData name="ponnamreddybabjee@outlook.com" userId="3e261792aa522278" providerId="LiveId" clId="{1D6D694D-ABB8-4771-9C30-40DB66DFA672}" dt="2026-01-28T03:40:38.436" v="149" actId="20577"/>
          <ac:spMkLst>
            <pc:docMk/>
            <pc:sldMk cId="3331489405" sldId="275"/>
            <ac:spMk id="224" creationId="{4ABB6E7D-6193-8D0C-DE1B-C7D6791C6D27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3:26.001" v="647" actId="20577"/>
        <pc:sldMkLst>
          <pc:docMk/>
          <pc:sldMk cId="172617380" sldId="276"/>
        </pc:sldMkLst>
        <pc:spChg chg="mod">
          <ac:chgData name="ponnamreddybabjee@outlook.com" userId="3e261792aa522278" providerId="LiveId" clId="{1D6D694D-ABB8-4771-9C30-40DB66DFA672}" dt="2026-01-28T05:23:26.001" v="647" actId="20577"/>
          <ac:spMkLst>
            <pc:docMk/>
            <pc:sldMk cId="172617380" sldId="276"/>
            <ac:spMk id="218" creationId="{D9F6E4BC-C3C5-233D-9C3B-1BE560550908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3:44.970" v="651" actId="12"/>
        <pc:sldMkLst>
          <pc:docMk/>
          <pc:sldMk cId="1309461403" sldId="277"/>
        </pc:sldMkLst>
        <pc:spChg chg="mod">
          <ac:chgData name="ponnamreddybabjee@outlook.com" userId="3e261792aa522278" providerId="LiveId" clId="{1D6D694D-ABB8-4771-9C30-40DB66DFA672}" dt="2026-01-28T05:23:44.970" v="651" actId="12"/>
          <ac:spMkLst>
            <pc:docMk/>
            <pc:sldMk cId="1309461403" sldId="277"/>
            <ac:spMk id="8767" creationId="{504CCEDE-A0D0-DD2E-3B86-517BAD05A692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4:23.197" v="661" actId="12"/>
        <pc:sldMkLst>
          <pc:docMk/>
          <pc:sldMk cId="3149869853" sldId="278"/>
        </pc:sldMkLst>
        <pc:spChg chg="mod">
          <ac:chgData name="ponnamreddybabjee@outlook.com" userId="3e261792aa522278" providerId="LiveId" clId="{1D6D694D-ABB8-4771-9C30-40DB66DFA672}" dt="2026-01-28T05:24:23.197" v="661" actId="12"/>
          <ac:spMkLst>
            <pc:docMk/>
            <pc:sldMk cId="3149869853" sldId="278"/>
            <ac:spMk id="9575" creationId="{0B3ACF89-8C6D-92C3-6F37-D392731CEBE9}"/>
          </ac:spMkLst>
        </pc:spChg>
      </pc:sldChg>
      <pc:sldChg chg="modSp mod modNotesTx">
        <pc:chgData name="ponnamreddybabjee@outlook.com" userId="3e261792aa522278" providerId="LiveId" clId="{1D6D694D-ABB8-4771-9C30-40DB66DFA672}" dt="2026-01-28T03:41:51.233" v="159" actId="20577"/>
        <pc:sldMkLst>
          <pc:docMk/>
          <pc:sldMk cId="3023136045" sldId="279"/>
        </pc:sldMkLst>
        <pc:spChg chg="mod">
          <ac:chgData name="ponnamreddybabjee@outlook.com" userId="3e261792aa522278" providerId="LiveId" clId="{1D6D694D-ABB8-4771-9C30-40DB66DFA672}" dt="2026-01-28T03:41:46.754" v="158" actId="20577"/>
          <ac:spMkLst>
            <pc:docMk/>
            <pc:sldMk cId="3023136045" sldId="279"/>
            <ac:spMk id="9575" creationId="{0B3ACF89-8C6D-92C3-6F37-D392731CEBE9}"/>
          </ac:spMkLst>
        </pc:spChg>
      </pc:sldChg>
      <pc:sldChg chg="modSp mod modNotesTx">
        <pc:chgData name="ponnamreddybabjee@outlook.com" userId="3e261792aa522278" providerId="LiveId" clId="{1D6D694D-ABB8-4771-9C30-40DB66DFA672}" dt="2026-01-28T03:42:28.517" v="165" actId="20577"/>
        <pc:sldMkLst>
          <pc:docMk/>
          <pc:sldMk cId="2296360746" sldId="280"/>
        </pc:sldMkLst>
        <pc:spChg chg="mod">
          <ac:chgData name="ponnamreddybabjee@outlook.com" userId="3e261792aa522278" providerId="LiveId" clId="{1D6D694D-ABB8-4771-9C30-40DB66DFA672}" dt="2026-01-28T03:42:28.517" v="165" actId="20577"/>
          <ac:spMkLst>
            <pc:docMk/>
            <pc:sldMk cId="2296360746" sldId="280"/>
            <ac:spMk id="9575" creationId="{0B3ACF89-8C6D-92C3-6F37-D392731CEBE9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6:01.964" v="714" actId="20577"/>
        <pc:sldMkLst>
          <pc:docMk/>
          <pc:sldMk cId="252833554" sldId="281"/>
        </pc:sldMkLst>
        <pc:spChg chg="mod">
          <ac:chgData name="ponnamreddybabjee@outlook.com" userId="3e261792aa522278" providerId="LiveId" clId="{1D6D694D-ABB8-4771-9C30-40DB66DFA672}" dt="2026-01-28T05:26:01.964" v="714" actId="20577"/>
          <ac:spMkLst>
            <pc:docMk/>
            <pc:sldMk cId="252833554" sldId="281"/>
            <ac:spMk id="9575" creationId="{0B3ACF89-8C6D-92C3-6F37-D392731CEBE9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5:12.733" v="681" actId="20577"/>
        <pc:sldMkLst>
          <pc:docMk/>
          <pc:sldMk cId="970866641" sldId="282"/>
        </pc:sldMkLst>
        <pc:spChg chg="mod">
          <ac:chgData name="ponnamreddybabjee@outlook.com" userId="3e261792aa522278" providerId="LiveId" clId="{1D6D694D-ABB8-4771-9C30-40DB66DFA672}" dt="2026-01-28T05:25:12.733" v="681" actId="20577"/>
          <ac:spMkLst>
            <pc:docMk/>
            <pc:sldMk cId="970866641" sldId="282"/>
            <ac:spMk id="9575" creationId="{0B3ACF89-8C6D-92C3-6F37-D392731CEBE9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5:55.194" v="703" actId="20577"/>
        <pc:sldMkLst>
          <pc:docMk/>
          <pc:sldMk cId="540502490" sldId="283"/>
        </pc:sldMkLst>
        <pc:spChg chg="mod">
          <ac:chgData name="ponnamreddybabjee@outlook.com" userId="3e261792aa522278" providerId="LiveId" clId="{1D6D694D-ABB8-4771-9C30-40DB66DFA672}" dt="2026-01-28T05:25:55.194" v="703" actId="20577"/>
          <ac:spMkLst>
            <pc:docMk/>
            <pc:sldMk cId="540502490" sldId="283"/>
            <ac:spMk id="9575" creationId="{0B3ACF89-8C6D-92C3-6F37-D392731CEBE9}"/>
          </ac:spMkLst>
        </pc:spChg>
      </pc:sldChg>
      <pc:sldChg chg="modSp mod modNotesTx">
        <pc:chgData name="ponnamreddybabjee@outlook.com" userId="3e261792aa522278" providerId="LiveId" clId="{1D6D694D-ABB8-4771-9C30-40DB66DFA672}" dt="2026-01-28T03:51:18.608" v="176" actId="20577"/>
        <pc:sldMkLst>
          <pc:docMk/>
          <pc:sldMk cId="3810923698" sldId="284"/>
        </pc:sldMkLst>
        <pc:spChg chg="mod">
          <ac:chgData name="ponnamreddybabjee@outlook.com" userId="3e261792aa522278" providerId="LiveId" clId="{1D6D694D-ABB8-4771-9C30-40DB66DFA672}" dt="2026-01-28T03:50:37.040" v="172" actId="20577"/>
          <ac:spMkLst>
            <pc:docMk/>
            <pc:sldMk cId="3810923698" sldId="284"/>
            <ac:spMk id="9575" creationId="{0B3ACF89-8C6D-92C3-6F37-D392731CEBE9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6:28.126" v="716" actId="12"/>
        <pc:sldMkLst>
          <pc:docMk/>
          <pc:sldMk cId="4162253966" sldId="285"/>
        </pc:sldMkLst>
        <pc:spChg chg="mod">
          <ac:chgData name="ponnamreddybabjee@outlook.com" userId="3e261792aa522278" providerId="LiveId" clId="{1D6D694D-ABB8-4771-9C30-40DB66DFA672}" dt="2026-01-28T05:26:28.126" v="716" actId="12"/>
          <ac:spMkLst>
            <pc:docMk/>
            <pc:sldMk cId="4162253966" sldId="285"/>
            <ac:spMk id="9575" creationId="{0B3ACF89-8C6D-92C3-6F37-D392731CEBE9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6:53.681" v="724" actId="20577"/>
        <pc:sldMkLst>
          <pc:docMk/>
          <pc:sldMk cId="2836186717" sldId="286"/>
        </pc:sldMkLst>
        <pc:spChg chg="mod">
          <ac:chgData name="ponnamreddybabjee@outlook.com" userId="3e261792aa522278" providerId="LiveId" clId="{1D6D694D-ABB8-4771-9C30-40DB66DFA672}" dt="2026-01-28T05:26:53.681" v="724" actId="20577"/>
          <ac:spMkLst>
            <pc:docMk/>
            <pc:sldMk cId="2836186717" sldId="286"/>
            <ac:spMk id="9575" creationId="{0B3ACF89-8C6D-92C3-6F37-D392731CEBE9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7:02.643" v="731" actId="20577"/>
        <pc:sldMkLst>
          <pc:docMk/>
          <pc:sldMk cId="113888515" sldId="287"/>
        </pc:sldMkLst>
        <pc:spChg chg="mod">
          <ac:chgData name="ponnamreddybabjee@outlook.com" userId="3e261792aa522278" providerId="LiveId" clId="{1D6D694D-ABB8-4771-9C30-40DB66DFA672}" dt="2026-01-28T05:27:02.643" v="731" actId="20577"/>
          <ac:spMkLst>
            <pc:docMk/>
            <pc:sldMk cId="113888515" sldId="287"/>
            <ac:spMk id="9575" creationId="{0B3ACF89-8C6D-92C3-6F37-D392731CEBE9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7:09.827" v="742" actId="20577"/>
        <pc:sldMkLst>
          <pc:docMk/>
          <pc:sldMk cId="931248437" sldId="288"/>
        </pc:sldMkLst>
        <pc:spChg chg="mod">
          <ac:chgData name="ponnamreddybabjee@outlook.com" userId="3e261792aa522278" providerId="LiveId" clId="{1D6D694D-ABB8-4771-9C30-40DB66DFA672}" dt="2026-01-28T05:27:09.827" v="742" actId="20577"/>
          <ac:spMkLst>
            <pc:docMk/>
            <pc:sldMk cId="931248437" sldId="288"/>
            <ac:spMk id="9575" creationId="{0B3ACF89-8C6D-92C3-6F37-D392731CEBE9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7:16.403" v="749" actId="20577"/>
        <pc:sldMkLst>
          <pc:docMk/>
          <pc:sldMk cId="2575866923" sldId="289"/>
        </pc:sldMkLst>
        <pc:spChg chg="mod">
          <ac:chgData name="ponnamreddybabjee@outlook.com" userId="3e261792aa522278" providerId="LiveId" clId="{1D6D694D-ABB8-4771-9C30-40DB66DFA672}" dt="2026-01-28T05:27:16.403" v="749" actId="20577"/>
          <ac:spMkLst>
            <pc:docMk/>
            <pc:sldMk cId="2575866923" sldId="289"/>
            <ac:spMk id="3" creationId="{9E7805FA-D6E2-C63A-2747-0F1FE710625D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7:30.419" v="772" actId="20577"/>
        <pc:sldMkLst>
          <pc:docMk/>
          <pc:sldMk cId="1294552082" sldId="290"/>
        </pc:sldMkLst>
        <pc:spChg chg="mod">
          <ac:chgData name="ponnamreddybabjee@outlook.com" userId="3e261792aa522278" providerId="LiveId" clId="{1D6D694D-ABB8-4771-9C30-40DB66DFA672}" dt="2026-01-28T05:27:30.419" v="772" actId="20577"/>
          <ac:spMkLst>
            <pc:docMk/>
            <pc:sldMk cId="1294552082" sldId="290"/>
            <ac:spMk id="4" creationId="{CDB359FD-9E74-70C8-5944-D67566155AB3}"/>
          </ac:spMkLst>
        </pc:spChg>
        <pc:spChg chg="mod">
          <ac:chgData name="ponnamreddybabjee@outlook.com" userId="3e261792aa522278" providerId="LiveId" clId="{1D6D694D-ABB8-4771-9C30-40DB66DFA672}" dt="2026-01-28T03:57:11.473" v="191" actId="20577"/>
          <ac:spMkLst>
            <pc:docMk/>
            <pc:sldMk cId="1294552082" sldId="290"/>
            <ac:spMk id="7" creationId="{F8DB907C-9AFB-7092-A0B0-D6552F52F00C}"/>
          </ac:spMkLst>
        </pc:spChg>
      </pc:sldChg>
      <pc:sldChg chg="modSp mod modNotesTx">
        <pc:chgData name="ponnamreddybabjee@outlook.com" userId="3e261792aa522278" providerId="LiveId" clId="{1D6D694D-ABB8-4771-9C30-40DB66DFA672}" dt="2026-01-28T03:57:30.927" v="194" actId="20577"/>
        <pc:sldMkLst>
          <pc:docMk/>
          <pc:sldMk cId="160521090" sldId="291"/>
        </pc:sldMkLst>
        <pc:spChg chg="mod">
          <ac:chgData name="ponnamreddybabjee@outlook.com" userId="3e261792aa522278" providerId="LiveId" clId="{1D6D694D-ABB8-4771-9C30-40DB66DFA672}" dt="2026-01-28T03:57:26.548" v="193" actId="20577"/>
          <ac:spMkLst>
            <pc:docMk/>
            <pc:sldMk cId="160521090" sldId="291"/>
            <ac:spMk id="8" creationId="{81183FFC-3229-C856-669E-56FEDABE8A24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7:59.782" v="783" actId="12"/>
        <pc:sldMkLst>
          <pc:docMk/>
          <pc:sldMk cId="1799548271" sldId="292"/>
        </pc:sldMkLst>
        <pc:spChg chg="mod">
          <ac:chgData name="ponnamreddybabjee@outlook.com" userId="3e261792aa522278" providerId="LiveId" clId="{1D6D694D-ABB8-4771-9C30-40DB66DFA672}" dt="2026-01-28T05:27:59.782" v="783" actId="12"/>
          <ac:spMkLst>
            <pc:docMk/>
            <pc:sldMk cId="1799548271" sldId="292"/>
            <ac:spMk id="3" creationId="{3F0B2106-20B6-5AA2-E305-4F3B15679A1E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8:25.645" v="795" actId="15"/>
        <pc:sldMkLst>
          <pc:docMk/>
          <pc:sldMk cId="23856275" sldId="293"/>
        </pc:sldMkLst>
        <pc:spChg chg="mod">
          <ac:chgData name="ponnamreddybabjee@outlook.com" userId="3e261792aa522278" providerId="LiveId" clId="{1D6D694D-ABB8-4771-9C30-40DB66DFA672}" dt="2026-01-28T05:28:25.645" v="795" actId="15"/>
          <ac:spMkLst>
            <pc:docMk/>
            <pc:sldMk cId="23856275" sldId="293"/>
            <ac:spMk id="6" creationId="{D02E6495-6BFC-927C-828C-4D65CD452B87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9:11.776" v="819" actId="12"/>
        <pc:sldMkLst>
          <pc:docMk/>
          <pc:sldMk cId="2579486624" sldId="294"/>
        </pc:sldMkLst>
        <pc:spChg chg="mod">
          <ac:chgData name="ponnamreddybabjee@outlook.com" userId="3e261792aa522278" providerId="LiveId" clId="{1D6D694D-ABB8-4771-9C30-40DB66DFA672}" dt="2026-01-28T05:29:11.776" v="819" actId="12"/>
          <ac:spMkLst>
            <pc:docMk/>
            <pc:sldMk cId="2579486624" sldId="294"/>
            <ac:spMk id="4" creationId="{D61A4C7F-41EE-F9D1-E6A3-107936E211B4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9:29.970" v="828" actId="12"/>
        <pc:sldMkLst>
          <pc:docMk/>
          <pc:sldMk cId="656712817" sldId="295"/>
        </pc:sldMkLst>
        <pc:spChg chg="mod">
          <ac:chgData name="ponnamreddybabjee@outlook.com" userId="3e261792aa522278" providerId="LiveId" clId="{1D6D694D-ABB8-4771-9C30-40DB66DFA672}" dt="2026-01-28T05:29:29.970" v="828" actId="12"/>
          <ac:spMkLst>
            <pc:docMk/>
            <pc:sldMk cId="656712817" sldId="295"/>
            <ac:spMk id="3" creationId="{00CB67F4-F3D0-BDB3-38A1-A54AAF51E27A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8:59.096" v="810" actId="20577"/>
        <pc:sldMkLst>
          <pc:docMk/>
          <pc:sldMk cId="2851745385" sldId="296"/>
        </pc:sldMkLst>
        <pc:spChg chg="mod">
          <ac:chgData name="ponnamreddybabjee@outlook.com" userId="3e261792aa522278" providerId="LiveId" clId="{1D6D694D-ABB8-4771-9C30-40DB66DFA672}" dt="2026-01-28T05:28:59.096" v="810" actId="20577"/>
          <ac:spMkLst>
            <pc:docMk/>
            <pc:sldMk cId="2851745385" sldId="296"/>
            <ac:spMk id="4" creationId="{FE2236AE-A20F-6372-F572-BC8EC0A3B41C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29:41.717" v="835" actId="20577"/>
        <pc:sldMkLst>
          <pc:docMk/>
          <pc:sldMk cId="2638622279" sldId="297"/>
        </pc:sldMkLst>
        <pc:spChg chg="mod">
          <ac:chgData name="ponnamreddybabjee@outlook.com" userId="3e261792aa522278" providerId="LiveId" clId="{1D6D694D-ABB8-4771-9C30-40DB66DFA672}" dt="2026-01-28T05:29:41.717" v="835" actId="20577"/>
          <ac:spMkLst>
            <pc:docMk/>
            <pc:sldMk cId="2638622279" sldId="297"/>
            <ac:spMk id="3" creationId="{27052B22-1DE5-E73E-D480-CCAFC657C970}"/>
          </ac:spMkLst>
        </pc:spChg>
      </pc:sldChg>
      <pc:sldChg chg="modSp mod modNotesTx">
        <pc:chgData name="ponnamreddybabjee@outlook.com" userId="3e261792aa522278" providerId="LiveId" clId="{1D6D694D-ABB8-4771-9C30-40DB66DFA672}" dt="2026-01-28T04:04:56.961" v="244" actId="20577"/>
        <pc:sldMkLst>
          <pc:docMk/>
          <pc:sldMk cId="3056281243" sldId="298"/>
        </pc:sldMkLst>
        <pc:spChg chg="mod">
          <ac:chgData name="ponnamreddybabjee@outlook.com" userId="3e261792aa522278" providerId="LiveId" clId="{1D6D694D-ABB8-4771-9C30-40DB66DFA672}" dt="2026-01-28T04:04:52.369" v="243" actId="20577"/>
          <ac:spMkLst>
            <pc:docMk/>
            <pc:sldMk cId="3056281243" sldId="298"/>
            <ac:spMk id="7" creationId="{4286CC0A-1E96-EFAA-A76B-7D1BD947F325}"/>
          </ac:spMkLst>
        </pc:spChg>
      </pc:sldChg>
      <pc:sldChg chg="modSp mod modNotesTx">
        <pc:chgData name="ponnamreddybabjee@outlook.com" userId="3e261792aa522278" providerId="LiveId" clId="{1D6D694D-ABB8-4771-9C30-40DB66DFA672}" dt="2026-01-28T04:05:45.725" v="248" actId="20577"/>
        <pc:sldMkLst>
          <pc:docMk/>
          <pc:sldMk cId="1223653399" sldId="299"/>
        </pc:sldMkLst>
        <pc:spChg chg="mod">
          <ac:chgData name="ponnamreddybabjee@outlook.com" userId="3e261792aa522278" providerId="LiveId" clId="{1D6D694D-ABB8-4771-9C30-40DB66DFA672}" dt="2026-01-28T04:05:36.623" v="247" actId="20577"/>
          <ac:spMkLst>
            <pc:docMk/>
            <pc:sldMk cId="1223653399" sldId="299"/>
            <ac:spMk id="8" creationId="{83EDE6F4-5471-59F9-B183-195BF45E3B3A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0:01.390" v="844" actId="12"/>
        <pc:sldMkLst>
          <pc:docMk/>
          <pc:sldMk cId="144926441" sldId="300"/>
        </pc:sldMkLst>
        <pc:spChg chg="mod">
          <ac:chgData name="ponnamreddybabjee@outlook.com" userId="3e261792aa522278" providerId="LiveId" clId="{1D6D694D-ABB8-4771-9C30-40DB66DFA672}" dt="2026-01-28T05:30:01.390" v="844" actId="12"/>
          <ac:spMkLst>
            <pc:docMk/>
            <pc:sldMk cId="144926441" sldId="300"/>
            <ac:spMk id="3" creationId="{DA91050E-28EB-6249-4FE4-FB2682DE3A56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0:12.189" v="853" actId="12"/>
        <pc:sldMkLst>
          <pc:docMk/>
          <pc:sldMk cId="3122732764" sldId="301"/>
        </pc:sldMkLst>
        <pc:spChg chg="mod">
          <ac:chgData name="ponnamreddybabjee@outlook.com" userId="3e261792aa522278" providerId="LiveId" clId="{1D6D694D-ABB8-4771-9C30-40DB66DFA672}" dt="2026-01-28T05:30:12.189" v="853" actId="12"/>
          <ac:spMkLst>
            <pc:docMk/>
            <pc:sldMk cId="3122732764" sldId="301"/>
            <ac:spMk id="4" creationId="{3923E4F1-19A8-3121-0381-69AB5FEBCB94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0:18.873" v="860" actId="20577"/>
        <pc:sldMkLst>
          <pc:docMk/>
          <pc:sldMk cId="2980522257" sldId="302"/>
        </pc:sldMkLst>
        <pc:spChg chg="mod">
          <ac:chgData name="ponnamreddybabjee@outlook.com" userId="3e261792aa522278" providerId="LiveId" clId="{1D6D694D-ABB8-4771-9C30-40DB66DFA672}" dt="2026-01-28T05:30:18.873" v="860" actId="20577"/>
          <ac:spMkLst>
            <pc:docMk/>
            <pc:sldMk cId="2980522257" sldId="302"/>
            <ac:spMk id="3" creationId="{9A3FCF4D-2751-EB69-C3FC-0FAC8F65A0C7}"/>
          </ac:spMkLst>
        </pc:spChg>
      </pc:sldChg>
      <pc:sldChg chg="modSp mod modNotesTx">
        <pc:chgData name="ponnamreddybabjee@outlook.com" userId="3e261792aa522278" providerId="LiveId" clId="{1D6D694D-ABB8-4771-9C30-40DB66DFA672}" dt="2026-01-28T04:09:43.746" v="284" actId="20577"/>
        <pc:sldMkLst>
          <pc:docMk/>
          <pc:sldMk cId="3623515196" sldId="303"/>
        </pc:sldMkLst>
        <pc:spChg chg="mod">
          <ac:chgData name="ponnamreddybabjee@outlook.com" userId="3e261792aa522278" providerId="LiveId" clId="{1D6D694D-ABB8-4771-9C30-40DB66DFA672}" dt="2026-01-28T04:09:40.934" v="283" actId="20577"/>
          <ac:spMkLst>
            <pc:docMk/>
            <pc:sldMk cId="3623515196" sldId="303"/>
            <ac:spMk id="4" creationId="{F9F8C689-32A6-2CA1-7A72-B84F4F7EA438}"/>
          </ac:spMkLst>
        </pc:spChg>
      </pc:sldChg>
      <pc:sldChg chg="modSp mod modNotesTx">
        <pc:chgData name="ponnamreddybabjee@outlook.com" userId="3e261792aa522278" providerId="LiveId" clId="{1D6D694D-ABB8-4771-9C30-40DB66DFA672}" dt="2026-01-28T04:15:37.946" v="308" actId="20577"/>
        <pc:sldMkLst>
          <pc:docMk/>
          <pc:sldMk cId="848060163" sldId="304"/>
        </pc:sldMkLst>
        <pc:spChg chg="mod">
          <ac:chgData name="ponnamreddybabjee@outlook.com" userId="3e261792aa522278" providerId="LiveId" clId="{1D6D694D-ABB8-4771-9C30-40DB66DFA672}" dt="2026-01-28T04:15:33.144" v="307" actId="20577"/>
          <ac:spMkLst>
            <pc:docMk/>
            <pc:sldMk cId="848060163" sldId="304"/>
            <ac:spMk id="3" creationId="{4FECDEE3-3AD6-5210-F5DC-2E62F49C554F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0:25.325" v="867" actId="20577"/>
        <pc:sldMkLst>
          <pc:docMk/>
          <pc:sldMk cId="216183220" sldId="305"/>
        </pc:sldMkLst>
        <pc:spChg chg="mod">
          <ac:chgData name="ponnamreddybabjee@outlook.com" userId="3e261792aa522278" providerId="LiveId" clId="{1D6D694D-ABB8-4771-9C30-40DB66DFA672}" dt="2026-01-28T05:30:25.325" v="867" actId="20577"/>
          <ac:spMkLst>
            <pc:docMk/>
            <pc:sldMk cId="216183220" sldId="305"/>
            <ac:spMk id="4" creationId="{72FCEBC0-E4AA-CD23-9D43-84628139E244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0:32.248" v="874" actId="20577"/>
        <pc:sldMkLst>
          <pc:docMk/>
          <pc:sldMk cId="331215638" sldId="306"/>
        </pc:sldMkLst>
        <pc:spChg chg="mod">
          <ac:chgData name="ponnamreddybabjee@outlook.com" userId="3e261792aa522278" providerId="LiveId" clId="{1D6D694D-ABB8-4771-9C30-40DB66DFA672}" dt="2026-01-28T05:30:32.248" v="874" actId="20577"/>
          <ac:spMkLst>
            <pc:docMk/>
            <pc:sldMk cId="331215638" sldId="306"/>
            <ac:spMk id="3" creationId="{CCCBF231-936A-794E-A0BE-A960EC3802C6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0:43.466" v="881" actId="20577"/>
        <pc:sldMkLst>
          <pc:docMk/>
          <pc:sldMk cId="4231880019" sldId="307"/>
        </pc:sldMkLst>
        <pc:spChg chg="mod">
          <ac:chgData name="ponnamreddybabjee@outlook.com" userId="3e261792aa522278" providerId="LiveId" clId="{1D6D694D-ABB8-4771-9C30-40DB66DFA672}" dt="2026-01-28T05:30:43.466" v="881" actId="20577"/>
          <ac:spMkLst>
            <pc:docMk/>
            <pc:sldMk cId="4231880019" sldId="307"/>
            <ac:spMk id="5" creationId="{6DEAC4B2-B1CC-B6CB-2477-E76DE25CADB0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0:49.797" v="888" actId="20577"/>
        <pc:sldMkLst>
          <pc:docMk/>
          <pc:sldMk cId="2554872639" sldId="308"/>
        </pc:sldMkLst>
        <pc:spChg chg="mod">
          <ac:chgData name="ponnamreddybabjee@outlook.com" userId="3e261792aa522278" providerId="LiveId" clId="{1D6D694D-ABB8-4771-9C30-40DB66DFA672}" dt="2026-01-28T05:30:49.797" v="888" actId="20577"/>
          <ac:spMkLst>
            <pc:docMk/>
            <pc:sldMk cId="2554872639" sldId="308"/>
            <ac:spMk id="3" creationId="{65633100-562A-7ADB-1E77-B6DA7CBA5D45}"/>
          </ac:spMkLst>
        </pc:spChg>
      </pc:sldChg>
      <pc:sldChg chg="modSp mod modNotesTx">
        <pc:chgData name="ponnamreddybabjee@outlook.com" userId="3e261792aa522278" providerId="LiveId" clId="{1D6D694D-ABB8-4771-9C30-40DB66DFA672}" dt="2026-01-28T04:19:07.242" v="364" actId="20577"/>
        <pc:sldMkLst>
          <pc:docMk/>
          <pc:sldMk cId="3719810251" sldId="309"/>
        </pc:sldMkLst>
        <pc:spChg chg="mod">
          <ac:chgData name="ponnamreddybabjee@outlook.com" userId="3e261792aa522278" providerId="LiveId" clId="{1D6D694D-ABB8-4771-9C30-40DB66DFA672}" dt="2026-01-28T04:19:03.503" v="363" actId="20577"/>
          <ac:spMkLst>
            <pc:docMk/>
            <pc:sldMk cId="3719810251" sldId="309"/>
            <ac:spMk id="4" creationId="{9D82F150-26E6-7B28-B0AA-BF65731DBD3C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1:05.147" v="897" actId="12"/>
        <pc:sldMkLst>
          <pc:docMk/>
          <pc:sldMk cId="1947486555" sldId="310"/>
        </pc:sldMkLst>
        <pc:spChg chg="mod">
          <ac:chgData name="ponnamreddybabjee@outlook.com" userId="3e261792aa522278" providerId="LiveId" clId="{1D6D694D-ABB8-4771-9C30-40DB66DFA672}" dt="2026-01-28T05:31:05.147" v="897" actId="12"/>
          <ac:spMkLst>
            <pc:docMk/>
            <pc:sldMk cId="1947486555" sldId="310"/>
            <ac:spMk id="3" creationId="{01B82282-59FE-F4E1-7DD3-15E43FE5B528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1:10.779" v="904" actId="20577"/>
        <pc:sldMkLst>
          <pc:docMk/>
          <pc:sldMk cId="1912527227" sldId="311"/>
        </pc:sldMkLst>
        <pc:spChg chg="mod">
          <ac:chgData name="ponnamreddybabjee@outlook.com" userId="3e261792aa522278" providerId="LiveId" clId="{1D6D694D-ABB8-4771-9C30-40DB66DFA672}" dt="2026-01-28T05:31:10.779" v="904" actId="20577"/>
          <ac:spMkLst>
            <pc:docMk/>
            <pc:sldMk cId="1912527227" sldId="311"/>
            <ac:spMk id="3" creationId="{A4D7CE21-CE1E-2BD5-FF56-94221E0500EF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1:34.162" v="915" actId="12"/>
        <pc:sldMkLst>
          <pc:docMk/>
          <pc:sldMk cId="395373183" sldId="312"/>
        </pc:sldMkLst>
        <pc:spChg chg="mod">
          <ac:chgData name="ponnamreddybabjee@outlook.com" userId="3e261792aa522278" providerId="LiveId" clId="{1D6D694D-ABB8-4771-9C30-40DB66DFA672}" dt="2026-01-28T05:31:34.162" v="915" actId="12"/>
          <ac:spMkLst>
            <pc:docMk/>
            <pc:sldMk cId="395373183" sldId="312"/>
            <ac:spMk id="3" creationId="{C238EB15-6F6D-E6C6-9D5F-9B0DB168A0B3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1:40.807" v="922" actId="20577"/>
        <pc:sldMkLst>
          <pc:docMk/>
          <pc:sldMk cId="3765405451" sldId="313"/>
        </pc:sldMkLst>
        <pc:spChg chg="mod">
          <ac:chgData name="ponnamreddybabjee@outlook.com" userId="3e261792aa522278" providerId="LiveId" clId="{1D6D694D-ABB8-4771-9C30-40DB66DFA672}" dt="2026-01-28T05:31:40.807" v="922" actId="20577"/>
          <ac:spMkLst>
            <pc:docMk/>
            <pc:sldMk cId="3765405451" sldId="313"/>
            <ac:spMk id="3" creationId="{085C8A42-B54A-5E4C-CB2B-BD080300D91E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1:59.163" v="931" actId="12"/>
        <pc:sldMkLst>
          <pc:docMk/>
          <pc:sldMk cId="207161328" sldId="314"/>
        </pc:sldMkLst>
        <pc:spChg chg="mod">
          <ac:chgData name="ponnamreddybabjee@outlook.com" userId="3e261792aa522278" providerId="LiveId" clId="{1D6D694D-ABB8-4771-9C30-40DB66DFA672}" dt="2026-01-28T05:31:59.163" v="931" actId="12"/>
          <ac:spMkLst>
            <pc:docMk/>
            <pc:sldMk cId="207161328" sldId="314"/>
            <ac:spMk id="3" creationId="{26567B6D-7383-1EE7-4FA4-91D5CCAE907E}"/>
          </ac:spMkLst>
        </pc:spChg>
      </pc:sldChg>
      <pc:sldChg chg="modSp mod">
        <pc:chgData name="ponnamreddybabjee@outlook.com" userId="3e261792aa522278" providerId="LiveId" clId="{1D6D694D-ABB8-4771-9C30-40DB66DFA672}" dt="2026-01-28T05:32:13.173" v="954" actId="20577"/>
        <pc:sldMkLst>
          <pc:docMk/>
          <pc:sldMk cId="406890520" sldId="315"/>
        </pc:sldMkLst>
        <pc:spChg chg="mod">
          <ac:chgData name="ponnamreddybabjee@outlook.com" userId="3e261792aa522278" providerId="LiveId" clId="{1D6D694D-ABB8-4771-9C30-40DB66DFA672}" dt="2026-01-28T05:32:13.173" v="954" actId="20577"/>
          <ac:spMkLst>
            <pc:docMk/>
            <pc:sldMk cId="406890520" sldId="315"/>
            <ac:spMk id="3" creationId="{57818D1B-D53F-20C4-BE93-BA7BFABCA84F}"/>
          </ac:spMkLst>
        </pc:spChg>
      </pc:sldChg>
      <pc:sldChg chg="modSp mod">
        <pc:chgData name="ponnamreddybabjee@outlook.com" userId="3e261792aa522278" providerId="LiveId" clId="{1D6D694D-ABB8-4771-9C30-40DB66DFA672}" dt="2026-01-28T05:32:22.846" v="961" actId="20577"/>
        <pc:sldMkLst>
          <pc:docMk/>
          <pc:sldMk cId="2800426894" sldId="316"/>
        </pc:sldMkLst>
        <pc:spChg chg="mod">
          <ac:chgData name="ponnamreddybabjee@outlook.com" userId="3e261792aa522278" providerId="LiveId" clId="{1D6D694D-ABB8-4771-9C30-40DB66DFA672}" dt="2026-01-28T05:32:22.846" v="961" actId="20577"/>
          <ac:spMkLst>
            <pc:docMk/>
            <pc:sldMk cId="2800426894" sldId="316"/>
            <ac:spMk id="3" creationId="{DD9D5E82-8BD6-9E4C-3FE6-84E44ED49EE7}"/>
          </ac:spMkLst>
        </pc:spChg>
      </pc:sldChg>
      <pc:sldChg chg="modSp mod modNotesTx">
        <pc:chgData name="ponnamreddybabjee@outlook.com" userId="3e261792aa522278" providerId="LiveId" clId="{1D6D694D-ABB8-4771-9C30-40DB66DFA672}" dt="2026-01-28T04:54:53.831" v="428" actId="20577"/>
        <pc:sldMkLst>
          <pc:docMk/>
          <pc:sldMk cId="3610844847" sldId="317"/>
        </pc:sldMkLst>
        <pc:spChg chg="mod">
          <ac:chgData name="ponnamreddybabjee@outlook.com" userId="3e261792aa522278" providerId="LiveId" clId="{1D6D694D-ABB8-4771-9C30-40DB66DFA672}" dt="2026-01-28T04:54:50.019" v="427" actId="20577"/>
          <ac:spMkLst>
            <pc:docMk/>
            <pc:sldMk cId="3610844847" sldId="317"/>
            <ac:spMk id="3" creationId="{7259AD05-BB60-5277-1E6A-F63B77925ABB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2:38.333" v="977" actId="20577"/>
        <pc:sldMkLst>
          <pc:docMk/>
          <pc:sldMk cId="571389064" sldId="318"/>
        </pc:sldMkLst>
        <pc:spChg chg="mod">
          <ac:chgData name="ponnamreddybabjee@outlook.com" userId="3e261792aa522278" providerId="LiveId" clId="{1D6D694D-ABB8-4771-9C30-40DB66DFA672}" dt="2026-01-28T05:32:38.333" v="977" actId="20577"/>
          <ac:spMkLst>
            <pc:docMk/>
            <pc:sldMk cId="571389064" sldId="318"/>
            <ac:spMk id="5" creationId="{7F4A5D20-4CBF-1DAD-172A-C47CCF1A92BA}"/>
          </ac:spMkLst>
        </pc:spChg>
      </pc:sldChg>
      <pc:sldChg chg="modSp mod modNotesTx">
        <pc:chgData name="ponnamreddybabjee@outlook.com" userId="3e261792aa522278" providerId="LiveId" clId="{1D6D694D-ABB8-4771-9C30-40DB66DFA672}" dt="2026-01-28T04:56:33.243" v="433" actId="20577"/>
        <pc:sldMkLst>
          <pc:docMk/>
          <pc:sldMk cId="3599443925" sldId="319"/>
        </pc:sldMkLst>
        <pc:spChg chg="mod">
          <ac:chgData name="ponnamreddybabjee@outlook.com" userId="3e261792aa522278" providerId="LiveId" clId="{1D6D694D-ABB8-4771-9C30-40DB66DFA672}" dt="2026-01-28T04:56:29.981" v="432" actId="20577"/>
          <ac:spMkLst>
            <pc:docMk/>
            <pc:sldMk cId="3599443925" sldId="319"/>
            <ac:spMk id="3" creationId="{42059D35-96DA-D7DC-4FBC-5F6B482C5C10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2:47.799" v="984" actId="20577"/>
        <pc:sldMkLst>
          <pc:docMk/>
          <pc:sldMk cId="1768958822" sldId="320"/>
        </pc:sldMkLst>
        <pc:spChg chg="mod">
          <ac:chgData name="ponnamreddybabjee@outlook.com" userId="3e261792aa522278" providerId="LiveId" clId="{1D6D694D-ABB8-4771-9C30-40DB66DFA672}" dt="2026-01-28T05:32:47.799" v="984" actId="20577"/>
          <ac:spMkLst>
            <pc:docMk/>
            <pc:sldMk cId="1768958822" sldId="320"/>
            <ac:spMk id="7" creationId="{438C3FF8-47C8-9942-8F2D-93CF180B44BB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3:08.046" v="997" actId="12"/>
        <pc:sldMkLst>
          <pc:docMk/>
          <pc:sldMk cId="2440366966" sldId="321"/>
        </pc:sldMkLst>
        <pc:spChg chg="mod">
          <ac:chgData name="ponnamreddybabjee@outlook.com" userId="3e261792aa522278" providerId="LiveId" clId="{1D6D694D-ABB8-4771-9C30-40DB66DFA672}" dt="2026-01-28T05:33:08.046" v="997" actId="12"/>
          <ac:spMkLst>
            <pc:docMk/>
            <pc:sldMk cId="2440366966" sldId="321"/>
            <ac:spMk id="3" creationId="{2CFC632B-61A4-5C1F-784F-6E4D16920F38}"/>
          </ac:spMkLst>
        </pc:spChg>
      </pc:sldChg>
      <pc:sldChg chg="modSp mod">
        <pc:chgData name="ponnamreddybabjee@outlook.com" userId="3e261792aa522278" providerId="LiveId" clId="{1D6D694D-ABB8-4771-9C30-40DB66DFA672}" dt="2026-01-28T05:33:21.868" v="1027" actId="20577"/>
        <pc:sldMkLst>
          <pc:docMk/>
          <pc:sldMk cId="3526847299" sldId="322"/>
        </pc:sldMkLst>
        <pc:spChg chg="mod">
          <ac:chgData name="ponnamreddybabjee@outlook.com" userId="3e261792aa522278" providerId="LiveId" clId="{1D6D694D-ABB8-4771-9C30-40DB66DFA672}" dt="2026-01-28T05:33:21.868" v="1027" actId="20577"/>
          <ac:spMkLst>
            <pc:docMk/>
            <pc:sldMk cId="3526847299" sldId="322"/>
            <ac:spMk id="3" creationId="{BABF32DE-A733-4E95-C265-2CBD78FDCE17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3:33.221" v="1044" actId="20577"/>
        <pc:sldMkLst>
          <pc:docMk/>
          <pc:sldMk cId="3234350108" sldId="323"/>
        </pc:sldMkLst>
        <pc:spChg chg="mod">
          <ac:chgData name="ponnamreddybabjee@outlook.com" userId="3e261792aa522278" providerId="LiveId" clId="{1D6D694D-ABB8-4771-9C30-40DB66DFA672}" dt="2026-01-28T05:33:33.221" v="1044" actId="20577"/>
          <ac:spMkLst>
            <pc:docMk/>
            <pc:sldMk cId="3234350108" sldId="323"/>
            <ac:spMk id="3" creationId="{03EC3286-53B4-5A2C-8801-F9D807673A4B}"/>
          </ac:spMkLst>
        </pc:spChg>
        <pc:spChg chg="mod">
          <ac:chgData name="ponnamreddybabjee@outlook.com" userId="3e261792aa522278" providerId="LiveId" clId="{1D6D694D-ABB8-4771-9C30-40DB66DFA672}" dt="2026-01-28T04:57:17.674" v="440" actId="20577"/>
          <ac:spMkLst>
            <pc:docMk/>
            <pc:sldMk cId="3234350108" sldId="323"/>
            <ac:spMk id="8" creationId="{C154484A-7A41-0D6D-6D69-8D4170A4B69F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3:39.892" v="1051" actId="20577"/>
        <pc:sldMkLst>
          <pc:docMk/>
          <pc:sldMk cId="2196147316" sldId="324"/>
        </pc:sldMkLst>
        <pc:spChg chg="mod">
          <ac:chgData name="ponnamreddybabjee@outlook.com" userId="3e261792aa522278" providerId="LiveId" clId="{1D6D694D-ABB8-4771-9C30-40DB66DFA672}" dt="2026-01-28T05:33:39.892" v="1051" actId="20577"/>
          <ac:spMkLst>
            <pc:docMk/>
            <pc:sldMk cId="2196147316" sldId="324"/>
            <ac:spMk id="3" creationId="{E1BC3A71-6114-0F3A-688C-11FECC70745B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3:55.113" v="1061" actId="20577"/>
        <pc:sldMkLst>
          <pc:docMk/>
          <pc:sldMk cId="1055178786" sldId="325"/>
        </pc:sldMkLst>
        <pc:spChg chg="mod">
          <ac:chgData name="ponnamreddybabjee@outlook.com" userId="3e261792aa522278" providerId="LiveId" clId="{1D6D694D-ABB8-4771-9C30-40DB66DFA672}" dt="2026-01-28T05:33:55.113" v="1061" actId="20577"/>
          <ac:spMkLst>
            <pc:docMk/>
            <pc:sldMk cId="1055178786" sldId="325"/>
            <ac:spMk id="3" creationId="{F6EEDA41-F82F-CDE9-0161-FAC165F0EB74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4:05.792" v="1068" actId="20577"/>
        <pc:sldMkLst>
          <pc:docMk/>
          <pc:sldMk cId="2699779096" sldId="326"/>
        </pc:sldMkLst>
        <pc:spChg chg="mod">
          <ac:chgData name="ponnamreddybabjee@outlook.com" userId="3e261792aa522278" providerId="LiveId" clId="{1D6D694D-ABB8-4771-9C30-40DB66DFA672}" dt="2026-01-28T05:34:05.792" v="1068" actId="20577"/>
          <ac:spMkLst>
            <pc:docMk/>
            <pc:sldMk cId="2699779096" sldId="326"/>
            <ac:spMk id="3" creationId="{5034FE68-B7EC-CDF1-1976-E48E58B29D19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4:20.703" v="1092" actId="20577"/>
        <pc:sldMkLst>
          <pc:docMk/>
          <pc:sldMk cId="1318761464" sldId="327"/>
        </pc:sldMkLst>
        <pc:spChg chg="mod">
          <ac:chgData name="ponnamreddybabjee@outlook.com" userId="3e261792aa522278" providerId="LiveId" clId="{1D6D694D-ABB8-4771-9C30-40DB66DFA672}" dt="2026-01-28T05:34:20.703" v="1092" actId="20577"/>
          <ac:spMkLst>
            <pc:docMk/>
            <pc:sldMk cId="1318761464" sldId="327"/>
            <ac:spMk id="3" creationId="{223066E7-11C3-D6A0-C3AA-2C8C4F443368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4:35.362" v="1116" actId="20577"/>
        <pc:sldMkLst>
          <pc:docMk/>
          <pc:sldMk cId="2977865264" sldId="328"/>
        </pc:sldMkLst>
        <pc:spChg chg="mod">
          <ac:chgData name="ponnamreddybabjee@outlook.com" userId="3e261792aa522278" providerId="LiveId" clId="{1D6D694D-ABB8-4771-9C30-40DB66DFA672}" dt="2026-01-28T05:34:35.362" v="1116" actId="20577"/>
          <ac:spMkLst>
            <pc:docMk/>
            <pc:sldMk cId="2977865264" sldId="328"/>
            <ac:spMk id="5" creationId="{4F577C09-53FA-9D44-78B4-D40078EDFD78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4:47.973" v="1140" actId="20577"/>
        <pc:sldMkLst>
          <pc:docMk/>
          <pc:sldMk cId="3527709097" sldId="329"/>
        </pc:sldMkLst>
        <pc:spChg chg="mod">
          <ac:chgData name="ponnamreddybabjee@outlook.com" userId="3e261792aa522278" providerId="LiveId" clId="{1D6D694D-ABB8-4771-9C30-40DB66DFA672}" dt="2026-01-28T05:34:47.973" v="1140" actId="20577"/>
          <ac:spMkLst>
            <pc:docMk/>
            <pc:sldMk cId="3527709097" sldId="329"/>
            <ac:spMk id="3" creationId="{D36F625F-04BB-1A1C-B14E-48B8D57AD670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4:56.420" v="1149" actId="20577"/>
        <pc:sldMkLst>
          <pc:docMk/>
          <pc:sldMk cId="320740553" sldId="330"/>
        </pc:sldMkLst>
        <pc:spChg chg="mod">
          <ac:chgData name="ponnamreddybabjee@outlook.com" userId="3e261792aa522278" providerId="LiveId" clId="{1D6D694D-ABB8-4771-9C30-40DB66DFA672}" dt="2026-01-28T05:34:56.420" v="1149" actId="20577"/>
          <ac:spMkLst>
            <pc:docMk/>
            <pc:sldMk cId="320740553" sldId="330"/>
            <ac:spMk id="5" creationId="{225C4FFE-A489-F439-5CFF-7DBAFE2CC0F9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35:06.528" v="1168" actId="20577"/>
        <pc:sldMkLst>
          <pc:docMk/>
          <pc:sldMk cId="1749740184" sldId="331"/>
        </pc:sldMkLst>
        <pc:spChg chg="mod">
          <ac:chgData name="ponnamreddybabjee@outlook.com" userId="3e261792aa522278" providerId="LiveId" clId="{1D6D694D-ABB8-4771-9C30-40DB66DFA672}" dt="2026-01-28T05:35:06.528" v="1168" actId="20577"/>
          <ac:spMkLst>
            <pc:docMk/>
            <pc:sldMk cId="1749740184" sldId="331"/>
            <ac:spMk id="3" creationId="{8F377938-0A8A-95AF-8A25-D91AF7E0DAA8}"/>
          </ac:spMkLst>
        </pc:spChg>
      </pc:sldChg>
      <pc:sldChg chg="modSp mod">
        <pc:chgData name="ponnamreddybabjee@outlook.com" userId="3e261792aa522278" providerId="LiveId" clId="{1D6D694D-ABB8-4771-9C30-40DB66DFA672}" dt="2026-01-28T06:26:50.876" v="1180" actId="15"/>
        <pc:sldMkLst>
          <pc:docMk/>
          <pc:sldMk cId="3640331850" sldId="332"/>
        </pc:sldMkLst>
        <pc:spChg chg="mod">
          <ac:chgData name="ponnamreddybabjee@outlook.com" userId="3e261792aa522278" providerId="LiveId" clId="{1D6D694D-ABB8-4771-9C30-40DB66DFA672}" dt="2026-01-28T06:26:50.876" v="1180" actId="15"/>
          <ac:spMkLst>
            <pc:docMk/>
            <pc:sldMk cId="3640331850" sldId="332"/>
            <ac:spMk id="3" creationId="{27990369-C12E-C492-D36B-970F716A10E0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7:01.071" v="1187" actId="20577"/>
        <pc:sldMkLst>
          <pc:docMk/>
          <pc:sldMk cId="2841501773" sldId="333"/>
        </pc:sldMkLst>
        <pc:spChg chg="mod">
          <ac:chgData name="ponnamreddybabjee@outlook.com" userId="3e261792aa522278" providerId="LiveId" clId="{1D6D694D-ABB8-4771-9C30-40DB66DFA672}" dt="2026-01-28T06:27:01.071" v="1187" actId="20577"/>
          <ac:spMkLst>
            <pc:docMk/>
            <pc:sldMk cId="2841501773" sldId="333"/>
            <ac:spMk id="3" creationId="{529E2C62-786C-72FA-B7C7-BA74FEE1E665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06:05.436" v="509" actId="20577"/>
        <pc:sldMkLst>
          <pc:docMk/>
          <pc:sldMk cId="57087225" sldId="334"/>
        </pc:sldMkLst>
        <pc:spChg chg="mod">
          <ac:chgData name="ponnamreddybabjee@outlook.com" userId="3e261792aa522278" providerId="LiveId" clId="{1D6D694D-ABB8-4771-9C30-40DB66DFA672}" dt="2026-01-28T05:05:59.719" v="507" actId="20577"/>
          <ac:spMkLst>
            <pc:docMk/>
            <pc:sldMk cId="57087225" sldId="334"/>
            <ac:spMk id="3" creationId="{2FBC9A46-55B0-005D-A839-871ED2BF3D10}"/>
          </ac:spMkLst>
        </pc:spChg>
        <pc:spChg chg="mod">
          <ac:chgData name="ponnamreddybabjee@outlook.com" userId="3e261792aa522278" providerId="LiveId" clId="{1D6D694D-ABB8-4771-9C30-40DB66DFA672}" dt="2026-01-28T05:06:03.391" v="508" actId="20577"/>
          <ac:spMkLst>
            <pc:docMk/>
            <pc:sldMk cId="57087225" sldId="334"/>
            <ac:spMk id="8" creationId="{B86CD055-1D99-5F88-D185-D8D1D9B9418B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06:36.086" v="511" actId="20577"/>
        <pc:sldMkLst>
          <pc:docMk/>
          <pc:sldMk cId="3193200412" sldId="335"/>
        </pc:sldMkLst>
        <pc:spChg chg="mod">
          <ac:chgData name="ponnamreddybabjee@outlook.com" userId="3e261792aa522278" providerId="LiveId" clId="{1D6D694D-ABB8-4771-9C30-40DB66DFA672}" dt="2026-01-28T05:06:33.490" v="510" actId="20577"/>
          <ac:spMkLst>
            <pc:docMk/>
            <pc:sldMk cId="3193200412" sldId="335"/>
            <ac:spMk id="3" creationId="{140BE8FE-4111-2C92-1F80-32ED32BB3C43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7:23.274" v="1197" actId="15"/>
        <pc:sldMkLst>
          <pc:docMk/>
          <pc:sldMk cId="3482035700" sldId="336"/>
        </pc:sldMkLst>
        <pc:spChg chg="mod">
          <ac:chgData name="ponnamreddybabjee@outlook.com" userId="3e261792aa522278" providerId="LiveId" clId="{1D6D694D-ABB8-4771-9C30-40DB66DFA672}" dt="2026-01-28T06:27:23.274" v="1197" actId="15"/>
          <ac:spMkLst>
            <pc:docMk/>
            <pc:sldMk cId="3482035700" sldId="336"/>
            <ac:spMk id="3" creationId="{E07E6D71-05E8-4CC8-166B-8CDEB34261B3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7:34.102" v="1198" actId="15"/>
        <pc:sldMkLst>
          <pc:docMk/>
          <pc:sldMk cId="3185474689" sldId="337"/>
        </pc:sldMkLst>
        <pc:spChg chg="mod">
          <ac:chgData name="ponnamreddybabjee@outlook.com" userId="3e261792aa522278" providerId="LiveId" clId="{1D6D694D-ABB8-4771-9C30-40DB66DFA672}" dt="2026-01-28T06:27:34.102" v="1198" actId="15"/>
          <ac:spMkLst>
            <pc:docMk/>
            <pc:sldMk cId="3185474689" sldId="337"/>
            <ac:spMk id="3" creationId="{96353F9B-4D73-B824-21D0-9EBD4C13F6F5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7:41.093" v="1199" actId="15"/>
        <pc:sldMkLst>
          <pc:docMk/>
          <pc:sldMk cId="92193550" sldId="338"/>
        </pc:sldMkLst>
        <pc:spChg chg="mod">
          <ac:chgData name="ponnamreddybabjee@outlook.com" userId="3e261792aa522278" providerId="LiveId" clId="{1D6D694D-ABB8-4771-9C30-40DB66DFA672}" dt="2026-01-28T05:10:33.120" v="537" actId="6549"/>
          <ac:spMkLst>
            <pc:docMk/>
            <pc:sldMk cId="92193550" sldId="338"/>
            <ac:spMk id="3" creationId="{351249DF-1C5C-FD53-0EAF-0A40E028240A}"/>
          </ac:spMkLst>
        </pc:spChg>
        <pc:spChg chg="mod">
          <ac:chgData name="ponnamreddybabjee@outlook.com" userId="3e261792aa522278" providerId="LiveId" clId="{1D6D694D-ABB8-4771-9C30-40DB66DFA672}" dt="2026-01-28T06:27:41.093" v="1199" actId="15"/>
          <ac:spMkLst>
            <pc:docMk/>
            <pc:sldMk cId="92193550" sldId="338"/>
            <ac:spMk id="6" creationId="{B0401F2A-2CD6-1CA0-5DAC-F383D39F1337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7:54.752" v="1206" actId="20577"/>
        <pc:sldMkLst>
          <pc:docMk/>
          <pc:sldMk cId="2881023626" sldId="339"/>
        </pc:sldMkLst>
        <pc:spChg chg="mod">
          <ac:chgData name="ponnamreddybabjee@outlook.com" userId="3e261792aa522278" providerId="LiveId" clId="{1D6D694D-ABB8-4771-9C30-40DB66DFA672}" dt="2026-01-28T06:27:54.752" v="1206" actId="20577"/>
          <ac:spMkLst>
            <pc:docMk/>
            <pc:sldMk cId="2881023626" sldId="339"/>
            <ac:spMk id="3" creationId="{7F444BC6-0DA2-F902-4E2D-CB35518E0D8A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8:00.270" v="1213" actId="20577"/>
        <pc:sldMkLst>
          <pc:docMk/>
          <pc:sldMk cId="4192844595" sldId="340"/>
        </pc:sldMkLst>
        <pc:spChg chg="mod">
          <ac:chgData name="ponnamreddybabjee@outlook.com" userId="3e261792aa522278" providerId="LiveId" clId="{1D6D694D-ABB8-4771-9C30-40DB66DFA672}" dt="2026-01-28T06:28:00.270" v="1213" actId="20577"/>
          <ac:spMkLst>
            <pc:docMk/>
            <pc:sldMk cId="4192844595" sldId="340"/>
            <ac:spMk id="3" creationId="{2251830A-3F83-D1B8-AB12-3C9728042330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8:06.866" v="1214" actId="15"/>
        <pc:sldMkLst>
          <pc:docMk/>
          <pc:sldMk cId="3493937977" sldId="341"/>
        </pc:sldMkLst>
        <pc:spChg chg="mod">
          <ac:chgData name="ponnamreddybabjee@outlook.com" userId="3e261792aa522278" providerId="LiveId" clId="{1D6D694D-ABB8-4771-9C30-40DB66DFA672}" dt="2026-01-28T06:28:06.866" v="1214" actId="15"/>
          <ac:spMkLst>
            <pc:docMk/>
            <pc:sldMk cId="3493937977" sldId="341"/>
            <ac:spMk id="3" creationId="{08C45A19-22E4-7B47-0E61-3309108F1338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8:11.623" v="1221" actId="20577"/>
        <pc:sldMkLst>
          <pc:docMk/>
          <pc:sldMk cId="3982860411" sldId="342"/>
        </pc:sldMkLst>
        <pc:spChg chg="mod">
          <ac:chgData name="ponnamreddybabjee@outlook.com" userId="3e261792aa522278" providerId="LiveId" clId="{1D6D694D-ABB8-4771-9C30-40DB66DFA672}" dt="2026-01-28T06:28:11.623" v="1221" actId="20577"/>
          <ac:spMkLst>
            <pc:docMk/>
            <pc:sldMk cId="3982860411" sldId="342"/>
            <ac:spMk id="3" creationId="{D6EAB0AD-FF22-BD84-334B-9464A738D067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8:17.729" v="1228" actId="20577"/>
        <pc:sldMkLst>
          <pc:docMk/>
          <pc:sldMk cId="341709762" sldId="343"/>
        </pc:sldMkLst>
        <pc:spChg chg="mod">
          <ac:chgData name="ponnamreddybabjee@outlook.com" userId="3e261792aa522278" providerId="LiveId" clId="{1D6D694D-ABB8-4771-9C30-40DB66DFA672}" dt="2026-01-28T06:28:17.729" v="1228" actId="20577"/>
          <ac:spMkLst>
            <pc:docMk/>
            <pc:sldMk cId="341709762" sldId="343"/>
            <ac:spMk id="3" creationId="{DD969F32-EE68-0357-7578-A34A5B6F70D6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8:22.743" v="1235" actId="20577"/>
        <pc:sldMkLst>
          <pc:docMk/>
          <pc:sldMk cId="417663115" sldId="344"/>
        </pc:sldMkLst>
        <pc:spChg chg="mod">
          <ac:chgData name="ponnamreddybabjee@outlook.com" userId="3e261792aa522278" providerId="LiveId" clId="{1D6D694D-ABB8-4771-9C30-40DB66DFA672}" dt="2026-01-28T06:28:22.743" v="1235" actId="20577"/>
          <ac:spMkLst>
            <pc:docMk/>
            <pc:sldMk cId="417663115" sldId="344"/>
            <ac:spMk id="3" creationId="{5BCC2A89-C0D2-EB70-950C-6D436CE1ADD6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8:28.127" v="1242" actId="20577"/>
        <pc:sldMkLst>
          <pc:docMk/>
          <pc:sldMk cId="2290536612" sldId="345"/>
        </pc:sldMkLst>
        <pc:spChg chg="mod">
          <ac:chgData name="ponnamreddybabjee@outlook.com" userId="3e261792aa522278" providerId="LiveId" clId="{1D6D694D-ABB8-4771-9C30-40DB66DFA672}" dt="2026-01-28T06:28:28.127" v="1242" actId="20577"/>
          <ac:spMkLst>
            <pc:docMk/>
            <pc:sldMk cId="2290536612" sldId="345"/>
            <ac:spMk id="3" creationId="{F22B906C-FC6D-5756-0DA9-205E40676957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8:42.164" v="1260" actId="20577"/>
        <pc:sldMkLst>
          <pc:docMk/>
          <pc:sldMk cId="1451339400" sldId="346"/>
        </pc:sldMkLst>
        <pc:spChg chg="mod">
          <ac:chgData name="ponnamreddybabjee@outlook.com" userId="3e261792aa522278" providerId="LiveId" clId="{1D6D694D-ABB8-4771-9C30-40DB66DFA672}" dt="2026-01-28T06:28:42.164" v="1260" actId="20577"/>
          <ac:spMkLst>
            <pc:docMk/>
            <pc:sldMk cId="1451339400" sldId="346"/>
            <ac:spMk id="3" creationId="{D9B483B5-2942-6664-5291-E982E0455A55}"/>
          </ac:spMkLst>
        </pc:spChg>
      </pc:sldChg>
      <pc:sldChg chg="modSp mod">
        <pc:chgData name="ponnamreddybabjee@outlook.com" userId="3e261792aa522278" providerId="LiveId" clId="{1D6D694D-ABB8-4771-9C30-40DB66DFA672}" dt="2026-01-28T06:28:51.051" v="1267" actId="20577"/>
        <pc:sldMkLst>
          <pc:docMk/>
          <pc:sldMk cId="2908115354" sldId="347"/>
        </pc:sldMkLst>
        <pc:spChg chg="mod">
          <ac:chgData name="ponnamreddybabjee@outlook.com" userId="3e261792aa522278" providerId="LiveId" clId="{1D6D694D-ABB8-4771-9C30-40DB66DFA672}" dt="2026-01-28T06:28:51.051" v="1267" actId="20577"/>
          <ac:spMkLst>
            <pc:docMk/>
            <pc:sldMk cId="2908115354" sldId="347"/>
            <ac:spMk id="3" creationId="{7BC21EB2-565C-D11F-4BF8-DA6E70CEE73A}"/>
          </ac:spMkLst>
        </pc:spChg>
      </pc:sldChg>
      <pc:sldChg chg="modSp mod">
        <pc:chgData name="ponnamreddybabjee@outlook.com" userId="3e261792aa522278" providerId="LiveId" clId="{1D6D694D-ABB8-4771-9C30-40DB66DFA672}" dt="2026-01-28T06:28:57.023" v="1274" actId="20577"/>
        <pc:sldMkLst>
          <pc:docMk/>
          <pc:sldMk cId="4071867696" sldId="348"/>
        </pc:sldMkLst>
        <pc:spChg chg="mod">
          <ac:chgData name="ponnamreddybabjee@outlook.com" userId="3e261792aa522278" providerId="LiveId" clId="{1D6D694D-ABB8-4771-9C30-40DB66DFA672}" dt="2026-01-28T06:28:57.023" v="1274" actId="20577"/>
          <ac:spMkLst>
            <pc:docMk/>
            <pc:sldMk cId="4071867696" sldId="348"/>
            <ac:spMk id="3" creationId="{1B844924-6F34-41C9-6166-E90EE29503D3}"/>
          </ac:spMkLst>
        </pc:spChg>
      </pc:sldChg>
      <pc:sldChg chg="modSp mod modNotesTx">
        <pc:chgData name="ponnamreddybabjee@outlook.com" userId="3e261792aa522278" providerId="LiveId" clId="{1D6D694D-ABB8-4771-9C30-40DB66DFA672}" dt="2026-01-28T05:16:50.553" v="594" actId="20577"/>
        <pc:sldMkLst>
          <pc:docMk/>
          <pc:sldMk cId="313747663" sldId="349"/>
        </pc:sldMkLst>
        <pc:spChg chg="mod">
          <ac:chgData name="ponnamreddybabjee@outlook.com" userId="3e261792aa522278" providerId="LiveId" clId="{1D6D694D-ABB8-4771-9C30-40DB66DFA672}" dt="2026-01-28T05:16:40.089" v="593" actId="20577"/>
          <ac:spMkLst>
            <pc:docMk/>
            <pc:sldMk cId="313747663" sldId="349"/>
            <ac:spMk id="3" creationId="{3B2AF26D-7C84-DD8D-EACD-2B965DF4B154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9:03.162" v="1281" actId="20577"/>
        <pc:sldMkLst>
          <pc:docMk/>
          <pc:sldMk cId="1254808689" sldId="350"/>
        </pc:sldMkLst>
        <pc:spChg chg="mod">
          <ac:chgData name="ponnamreddybabjee@outlook.com" userId="3e261792aa522278" providerId="LiveId" clId="{1D6D694D-ABB8-4771-9C30-40DB66DFA672}" dt="2026-01-28T06:29:03.162" v="1281" actId="20577"/>
          <ac:spMkLst>
            <pc:docMk/>
            <pc:sldMk cId="1254808689" sldId="350"/>
            <ac:spMk id="3" creationId="{0834606E-589C-082D-6C1D-B83AA8656513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9:23.767" v="1288" actId="20577"/>
        <pc:sldMkLst>
          <pc:docMk/>
          <pc:sldMk cId="1180348732" sldId="351"/>
        </pc:sldMkLst>
        <pc:spChg chg="mod">
          <ac:chgData name="ponnamreddybabjee@outlook.com" userId="3e261792aa522278" providerId="LiveId" clId="{1D6D694D-ABB8-4771-9C30-40DB66DFA672}" dt="2026-01-28T06:29:23.767" v="1288" actId="20577"/>
          <ac:spMkLst>
            <pc:docMk/>
            <pc:sldMk cId="1180348732" sldId="351"/>
            <ac:spMk id="3" creationId="{676C619D-C4FE-99EF-B5B8-E6CEEC08456F}"/>
          </ac:spMkLst>
        </pc:spChg>
      </pc:sldChg>
      <pc:sldChg chg="modSp mod modNotesTx">
        <pc:chgData name="ponnamreddybabjee@outlook.com" userId="3e261792aa522278" providerId="LiveId" clId="{1D6D694D-ABB8-4771-9C30-40DB66DFA672}" dt="2026-01-28T06:29:59.512" v="1307" actId="20577"/>
        <pc:sldMkLst>
          <pc:docMk/>
          <pc:sldMk cId="2059581781" sldId="352"/>
        </pc:sldMkLst>
        <pc:spChg chg="mod">
          <ac:chgData name="ponnamreddybabjee@outlook.com" userId="3e261792aa522278" providerId="LiveId" clId="{1D6D694D-ABB8-4771-9C30-40DB66DFA672}" dt="2026-01-28T06:29:55.903" v="1306" actId="20577"/>
          <ac:spMkLst>
            <pc:docMk/>
            <pc:sldMk cId="2059581781" sldId="352"/>
            <ac:spMk id="3" creationId="{C5329F5A-793F-A901-1550-00A617CF94A2}"/>
          </ac:spMkLst>
        </pc:spChg>
      </pc:sldChg>
      <pc:sldChg chg="modSp mod">
        <pc:chgData name="ponnamreddybabjee@outlook.com" userId="3e261792aa522278" providerId="LiveId" clId="{1D6D694D-ABB8-4771-9C30-40DB66DFA672}" dt="2026-01-28T06:29:43.670" v="1305" actId="1076"/>
        <pc:sldMkLst>
          <pc:docMk/>
          <pc:sldMk cId="466629618" sldId="353"/>
        </pc:sldMkLst>
        <pc:spChg chg="mod">
          <ac:chgData name="ponnamreddybabjee@outlook.com" userId="3e261792aa522278" providerId="LiveId" clId="{1D6D694D-ABB8-4771-9C30-40DB66DFA672}" dt="2026-01-28T06:29:43.670" v="1305" actId="1076"/>
          <ac:spMkLst>
            <pc:docMk/>
            <pc:sldMk cId="466629618" sldId="353"/>
            <ac:spMk id="3" creationId="{4B41E4AE-DDBE-28A5-A61E-B7B3AA16F41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41F10-DAB6-43FE-9BE9-731A0509229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93773-625D-4E7D-9DDB-028D7D8EFA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567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188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267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800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36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287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465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590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621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372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 , 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883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686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203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261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114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716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813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6429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713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155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2827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B, 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9552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3472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105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643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5001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7473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655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0790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8296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001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0327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8447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5791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0393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2370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1320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1596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6165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1640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9315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3762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1452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5363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6982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0680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064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7754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2435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5284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94434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2779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7253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41173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8499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5481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82076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1638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08671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98127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89241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22994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44990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05492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65204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68308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69573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1099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73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58616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95656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35188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97526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17719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89449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7280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68412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2708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61047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68758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26659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08884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61650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58284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28897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29789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61750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65730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93773-625D-4E7D-9DDB-028D7D8EFA47}" type="slidenum">
              <a:rPr lang="en-IN" smtClean="0"/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413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90467-0744-FD0D-1D68-85B54C835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cap="none" dirty="0"/>
              <a:t>Snowflake Certification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04AC9-1DA7-E2AD-191C-1961761E6E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60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C62911-E558-30B6-A12B-F0E62A2CE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8" y="1319842"/>
            <a:ext cx="11915264" cy="481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256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11CC4E-8CE9-3C3E-4C2F-04B9E9A90569}"/>
              </a:ext>
            </a:extLst>
          </p:cNvPr>
          <p:cNvSpPr txBox="1"/>
          <p:nvPr/>
        </p:nvSpPr>
        <p:spPr>
          <a:xfrm>
            <a:off x="241540" y="431321"/>
            <a:ext cx="890030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Snowflake Is Different from Traditional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Traditional DB: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Fixed hardware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Shared compute &amp;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Snowflake: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Cloud-native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Elastic &amp; decoupled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“Traditional vs Snowflake” comparison is common</a:t>
            </a:r>
          </a:p>
          <a:p>
            <a:endParaRPr lang="en-IN" dirty="0"/>
          </a:p>
          <a:p>
            <a:r>
              <a:rPr lang="en-IN" b="1" dirty="0"/>
              <a:t>Decision Logic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Elasticity → separation of layers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What key limitation of traditional DBs does Snowflake solve?</a:t>
            </a:r>
          </a:p>
          <a:p>
            <a:pPr lvl="1"/>
            <a:r>
              <a:rPr lang="en-IN" dirty="0"/>
              <a:t>A. SQL support</a:t>
            </a:r>
            <a:br>
              <a:rPr lang="en-IN" dirty="0"/>
            </a:br>
            <a:r>
              <a:rPr lang="en-IN" dirty="0"/>
              <a:t>B. Tight coupling of compute &amp; storage </a:t>
            </a:r>
            <a:br>
              <a:rPr lang="en-IN" dirty="0"/>
            </a:br>
            <a:r>
              <a:rPr lang="en-IN" dirty="0"/>
              <a:t>C. Authentication</a:t>
            </a:r>
            <a:br>
              <a:rPr lang="en-IN" dirty="0"/>
            </a:br>
            <a:r>
              <a:rPr lang="en-IN" dirty="0"/>
              <a:t>D. Data types</a:t>
            </a:r>
          </a:p>
        </p:txBody>
      </p:sp>
    </p:spTree>
    <p:extLst>
      <p:ext uri="{BB962C8B-B14F-4D97-AF65-F5344CB8AC3E}">
        <p14:creationId xmlns:p14="http://schemas.microsoft.com/office/powerpoint/2010/main" val="145772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1BFED1E-AAA9-9598-36D0-9FA0374C68D6}"/>
              </a:ext>
            </a:extLst>
          </p:cNvPr>
          <p:cNvSpPr txBox="1"/>
          <p:nvPr/>
        </p:nvSpPr>
        <p:spPr>
          <a:xfrm>
            <a:off x="336430" y="258792"/>
            <a:ext cx="88054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Snowflake 3-Layer Architecture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/>
              <a:t>Cloud Services</a:t>
            </a:r>
            <a:r>
              <a:rPr lang="en-IN" dirty="0"/>
              <a:t> – brain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/>
              <a:t>Compute (Warehouses)</a:t>
            </a:r>
            <a:r>
              <a:rPr lang="en-IN" dirty="0"/>
              <a:t> – muscle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/>
              <a:t>Storage</a:t>
            </a:r>
            <a:r>
              <a:rPr lang="en-IN" dirty="0"/>
              <a:t> – memory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Many questions ask: </a:t>
            </a:r>
            <a:r>
              <a:rPr lang="en-IN" i="1" dirty="0"/>
              <a:t>Which layer does this?</a:t>
            </a:r>
            <a:endParaRPr lang="en-IN" dirty="0"/>
          </a:p>
          <a:p>
            <a:r>
              <a:rPr lang="en-IN" b="1" dirty="0"/>
              <a:t>Decision Logic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Execution → Compute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Optimization → Cloud Services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Data → Storage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layer performs query optimization?</a:t>
            </a:r>
          </a:p>
          <a:p>
            <a:pPr lvl="1"/>
            <a:r>
              <a:rPr lang="en-IN" dirty="0"/>
              <a:t>A. Storage</a:t>
            </a:r>
            <a:br>
              <a:rPr lang="en-IN" dirty="0"/>
            </a:br>
            <a:r>
              <a:rPr lang="en-IN" dirty="0"/>
              <a:t>B. Warehouse</a:t>
            </a:r>
            <a:br>
              <a:rPr lang="en-IN" dirty="0"/>
            </a:br>
            <a:r>
              <a:rPr lang="en-IN" dirty="0"/>
              <a:t>C. Cloud Services </a:t>
            </a:r>
            <a:br>
              <a:rPr lang="en-IN" dirty="0"/>
            </a:br>
            <a:r>
              <a:rPr lang="en-IN" dirty="0"/>
              <a:t>D. Client</a:t>
            </a:r>
          </a:p>
        </p:txBody>
      </p:sp>
    </p:spTree>
    <p:extLst>
      <p:ext uri="{BB962C8B-B14F-4D97-AF65-F5344CB8AC3E}">
        <p14:creationId xmlns:p14="http://schemas.microsoft.com/office/powerpoint/2010/main" val="1306145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0CF1F5-7EA9-9F03-48F7-17345FF91206}"/>
              </a:ext>
            </a:extLst>
          </p:cNvPr>
          <p:cNvSpPr txBox="1"/>
          <p:nvPr/>
        </p:nvSpPr>
        <p:spPr>
          <a:xfrm>
            <a:off x="321334" y="91814"/>
            <a:ext cx="609456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Cloud Services Layer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Manages: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Metadata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Query parsing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Optimization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Transactions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Security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Cloud Services ≠ query execution</a:t>
            </a:r>
          </a:p>
          <a:p>
            <a:endParaRPr lang="en-IN" b="1" dirty="0"/>
          </a:p>
          <a:p>
            <a:r>
              <a:rPr lang="en-IN" b="1" dirty="0"/>
              <a:t>Decision Logic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question mentions: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Parsing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Metadata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Access control</a:t>
            </a:r>
            <a:br>
              <a:rPr lang="en-IN" dirty="0"/>
            </a:br>
            <a:r>
              <a:rPr lang="en-IN" dirty="0"/>
              <a:t>→ Cloud Services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Cloud Services does NOT handle:</a:t>
            </a:r>
          </a:p>
          <a:p>
            <a:pPr lvl="1"/>
            <a:r>
              <a:rPr lang="en-IN" dirty="0"/>
              <a:t>A. Metadata</a:t>
            </a:r>
            <a:br>
              <a:rPr lang="en-IN" dirty="0"/>
            </a:br>
            <a:r>
              <a:rPr lang="en-IN" dirty="0"/>
              <a:t>B. Query parsing</a:t>
            </a:r>
            <a:br>
              <a:rPr lang="en-IN" dirty="0"/>
            </a:br>
            <a:r>
              <a:rPr lang="en-IN" dirty="0"/>
              <a:t>C. Query execution </a:t>
            </a:r>
            <a:br>
              <a:rPr lang="en-IN" dirty="0"/>
            </a:br>
            <a:r>
              <a:rPr lang="en-IN" dirty="0"/>
              <a:t>D. Security</a:t>
            </a:r>
          </a:p>
        </p:txBody>
      </p:sp>
    </p:spTree>
    <p:extLst>
      <p:ext uri="{BB962C8B-B14F-4D97-AF65-F5344CB8AC3E}">
        <p14:creationId xmlns:p14="http://schemas.microsoft.com/office/powerpoint/2010/main" val="2662838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7B2342-E0A3-09BB-170D-EAE169CCCF7B}"/>
              </a:ext>
            </a:extLst>
          </p:cNvPr>
          <p:cNvSpPr txBox="1"/>
          <p:nvPr/>
        </p:nvSpPr>
        <p:spPr>
          <a:xfrm>
            <a:off x="507319" y="267534"/>
            <a:ext cx="60945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Cloud Services &amp; Cost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Cloud Services cost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Minimal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Included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separate billing for Cloud Services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“Which consumes credits?” → warehouses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Compute running → credits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component directly consumes credits?</a:t>
            </a:r>
          </a:p>
          <a:p>
            <a:pPr lvl="1"/>
            <a:r>
              <a:rPr lang="en-IN" dirty="0"/>
              <a:t>A. Cloud Services</a:t>
            </a:r>
            <a:br>
              <a:rPr lang="en-IN" dirty="0"/>
            </a:br>
            <a:r>
              <a:rPr lang="en-IN" dirty="0"/>
              <a:t>B. Storage</a:t>
            </a:r>
            <a:br>
              <a:rPr lang="en-IN" dirty="0"/>
            </a:br>
            <a:r>
              <a:rPr lang="en-IN" dirty="0"/>
              <a:t>C. Virtual Warehouse </a:t>
            </a:r>
            <a:br>
              <a:rPr lang="en-IN" dirty="0"/>
            </a:br>
            <a:r>
              <a:rPr lang="en-IN" dirty="0"/>
              <a:t>D. Metadata</a:t>
            </a:r>
          </a:p>
        </p:txBody>
      </p:sp>
    </p:spTree>
    <p:extLst>
      <p:ext uri="{BB962C8B-B14F-4D97-AF65-F5344CB8AC3E}">
        <p14:creationId xmlns:p14="http://schemas.microsoft.com/office/powerpoint/2010/main" val="216560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AB4112-3307-AB8D-1BF3-576A6B5B9E20}"/>
              </a:ext>
            </a:extLst>
          </p:cNvPr>
          <p:cNvSpPr txBox="1"/>
          <p:nvPr/>
        </p:nvSpPr>
        <p:spPr>
          <a:xfrm>
            <a:off x="252322" y="191581"/>
            <a:ext cx="60945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Storage Layer: One Copy of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Centralized storage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Shared by all warehouses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Columnar &amp; compressed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“Each warehouse has its own data” → ❌</a:t>
            </a:r>
          </a:p>
          <a:p>
            <a:endParaRPr lang="en-US" b="1" dirty="0"/>
          </a:p>
          <a:p>
            <a:r>
              <a:rPr lang="en-US" b="1" dirty="0"/>
              <a:t>Decision Logic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Storage never duplicates per warehouse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How many copies of data exist for multiple warehouses?</a:t>
            </a:r>
          </a:p>
          <a:p>
            <a:pPr lvl="1"/>
            <a:r>
              <a:rPr lang="en-US" dirty="0"/>
              <a:t>A. One per warehouse</a:t>
            </a:r>
            <a:br>
              <a:rPr lang="en-US" dirty="0"/>
            </a:br>
            <a:r>
              <a:rPr lang="en-US" dirty="0"/>
              <a:t>B. One per user</a:t>
            </a:r>
            <a:br>
              <a:rPr lang="en-US" dirty="0"/>
            </a:br>
            <a:r>
              <a:rPr lang="en-US" dirty="0"/>
              <a:t>C. Single shared copy </a:t>
            </a:r>
            <a:br>
              <a:rPr lang="en-US" dirty="0"/>
            </a:br>
            <a:r>
              <a:rPr lang="en-US" dirty="0"/>
              <a:t>D. Depends on size</a:t>
            </a:r>
          </a:p>
        </p:txBody>
      </p:sp>
    </p:spTree>
    <p:extLst>
      <p:ext uri="{BB962C8B-B14F-4D97-AF65-F5344CB8AC3E}">
        <p14:creationId xmlns:p14="http://schemas.microsoft.com/office/powerpoint/2010/main" val="209714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AB4112-3307-AB8D-1BF3-576A6B5B9E20}"/>
              </a:ext>
            </a:extLst>
          </p:cNvPr>
          <p:cNvSpPr txBox="1"/>
          <p:nvPr/>
        </p:nvSpPr>
        <p:spPr>
          <a:xfrm>
            <a:off x="252322" y="191581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Compute Layer: Virtual Warehouses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Warehouses: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Execute queries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Independent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Stateless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Warehouses do NOT store data permanently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Execution → Warehouse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statement is TRUE?</a:t>
            </a:r>
          </a:p>
          <a:p>
            <a:pPr lvl="1"/>
            <a:r>
              <a:rPr lang="en-IN" dirty="0"/>
              <a:t>A. Warehouses store data</a:t>
            </a:r>
            <a:br>
              <a:rPr lang="en-IN" dirty="0"/>
            </a:br>
            <a:r>
              <a:rPr lang="en-IN" dirty="0"/>
              <a:t>B. Warehouses execute queries </a:t>
            </a:r>
            <a:br>
              <a:rPr lang="en-IN" dirty="0"/>
            </a:br>
            <a:r>
              <a:rPr lang="en-IN" dirty="0"/>
              <a:t>C. Warehouses manage metadata</a:t>
            </a:r>
            <a:br>
              <a:rPr lang="en-IN" dirty="0"/>
            </a:br>
            <a:r>
              <a:rPr lang="en-IN" dirty="0"/>
              <a:t>D. Warehouses control access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482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AB4112-3307-AB8D-1BF3-576A6B5B9E20}"/>
              </a:ext>
            </a:extLst>
          </p:cNvPr>
          <p:cNvSpPr txBox="1"/>
          <p:nvPr/>
        </p:nvSpPr>
        <p:spPr>
          <a:xfrm>
            <a:off x="252322" y="191581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Multi-Warehouse Concurrency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Multiple warehouses 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Query same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Run simultaneously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locking between warehouses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“Concurrency” → multiple warehouses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Concurrency problem → separate warehouses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How does Snowflake handle concurrent workloads?</a:t>
            </a:r>
          </a:p>
          <a:p>
            <a:pPr lvl="1"/>
            <a:r>
              <a:rPr lang="en-IN" dirty="0"/>
              <a:t>A. Locks tables</a:t>
            </a:r>
            <a:br>
              <a:rPr lang="en-IN" dirty="0"/>
            </a:br>
            <a:r>
              <a:rPr lang="en-IN" dirty="0"/>
              <a:t>B. Queues queries</a:t>
            </a:r>
            <a:br>
              <a:rPr lang="en-IN" dirty="0"/>
            </a:br>
            <a:r>
              <a:rPr lang="en-IN" dirty="0"/>
              <a:t>C. Uses separate warehouses </a:t>
            </a:r>
            <a:br>
              <a:rPr lang="en-IN" dirty="0"/>
            </a:br>
            <a:r>
              <a:rPr lang="en-IN" dirty="0"/>
              <a:t>D. Replicates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03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AB4112-3307-AB8D-1BF3-576A6B5B9E20}"/>
              </a:ext>
            </a:extLst>
          </p:cNvPr>
          <p:cNvSpPr txBox="1"/>
          <p:nvPr/>
        </p:nvSpPr>
        <p:spPr>
          <a:xfrm>
            <a:off x="252322" y="191581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Snowflake Editions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Standard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Enterprise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Business Critical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VPS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Time Travel limits vary by edition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Core exam → conceptual, not pricing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feature depends on edition?</a:t>
            </a:r>
          </a:p>
          <a:p>
            <a:pPr lvl="1"/>
            <a:r>
              <a:rPr lang="en-IN" dirty="0"/>
              <a:t>A. Warehouses</a:t>
            </a:r>
            <a:br>
              <a:rPr lang="en-IN" dirty="0"/>
            </a:br>
            <a:r>
              <a:rPr lang="en-IN" dirty="0"/>
              <a:t>B. SQL</a:t>
            </a:r>
            <a:br>
              <a:rPr lang="en-IN" dirty="0"/>
            </a:br>
            <a:r>
              <a:rPr lang="en-IN" dirty="0"/>
              <a:t>C. Time Travel retention </a:t>
            </a:r>
            <a:br>
              <a:rPr lang="en-IN" dirty="0"/>
            </a:br>
            <a:r>
              <a:rPr lang="en-IN" dirty="0"/>
              <a:t>D. Result cache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804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AB4112-3307-AB8D-1BF3-576A6B5B9E20}"/>
              </a:ext>
            </a:extLst>
          </p:cNvPr>
          <p:cNvSpPr txBox="1"/>
          <p:nvPr/>
        </p:nvSpPr>
        <p:spPr>
          <a:xfrm>
            <a:off x="252322" y="191581"/>
            <a:ext cx="60945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Architecture: Key Exam Summary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Separation of compute &amp; storage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Cloud Services = brain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Warehouses = credits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Storage = shared &amp; immutable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What architectural feature enables elasticity?</a:t>
            </a:r>
          </a:p>
          <a:p>
            <a:pPr lvl="1"/>
            <a:r>
              <a:rPr lang="en-US" dirty="0"/>
              <a:t>A. Caching</a:t>
            </a:r>
            <a:br>
              <a:rPr lang="en-US" dirty="0"/>
            </a:br>
            <a:r>
              <a:rPr lang="en-US" dirty="0"/>
              <a:t>B. Clustering</a:t>
            </a:r>
            <a:br>
              <a:rPr lang="en-US" dirty="0"/>
            </a:br>
            <a:r>
              <a:rPr lang="en-US" dirty="0"/>
              <a:t>C. Decoupled compute &amp; storage </a:t>
            </a:r>
            <a:br>
              <a:rPr lang="en-US" dirty="0"/>
            </a:br>
            <a:r>
              <a:rPr lang="en-US" dirty="0"/>
              <a:t>D. Replication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09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AB4112-3307-AB8D-1BF3-576A6B5B9E20}"/>
              </a:ext>
            </a:extLst>
          </p:cNvPr>
          <p:cNvSpPr txBox="1"/>
          <p:nvPr/>
        </p:nvSpPr>
        <p:spPr>
          <a:xfrm>
            <a:off x="252322" y="191581"/>
            <a:ext cx="609456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a Virtual Warehouse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Virtual warehouse = </a:t>
            </a:r>
            <a:r>
              <a:rPr lang="en-US" b="1" dirty="0"/>
              <a:t>compute cluster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Provides CPU, memory, temp disk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Stateless (no permanent data)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Multiple warehouses can exist per account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“Warehouse” ≠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“Virtual” = elastic + disposable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Need execution → warehouse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Need storage → not warehouse</a:t>
            </a:r>
          </a:p>
          <a:p>
            <a:r>
              <a:rPr lang="en-US" b="1" dirty="0"/>
              <a:t>MCQ 1</a:t>
            </a:r>
            <a:br>
              <a:rPr lang="en-US" dirty="0"/>
            </a:br>
            <a:r>
              <a:rPr lang="en-US" dirty="0"/>
              <a:t>What does a virtual warehouse primarily provide?</a:t>
            </a:r>
          </a:p>
          <a:p>
            <a:pPr lvl="1"/>
            <a:r>
              <a:rPr lang="en-US" dirty="0"/>
              <a:t>A. Metadata</a:t>
            </a:r>
            <a:br>
              <a:rPr lang="en-US" dirty="0"/>
            </a:br>
            <a:r>
              <a:rPr lang="en-US" dirty="0"/>
              <a:t>B. Storage</a:t>
            </a:r>
            <a:br>
              <a:rPr lang="en-US" dirty="0"/>
            </a:br>
            <a:r>
              <a:rPr lang="en-US" dirty="0"/>
              <a:t>C. Compute resources </a:t>
            </a:r>
            <a:br>
              <a:rPr lang="en-US" dirty="0"/>
            </a:br>
            <a:r>
              <a:rPr lang="en-US" dirty="0"/>
              <a:t>D. Access control</a:t>
            </a:r>
          </a:p>
          <a:p>
            <a:r>
              <a:rPr lang="en-US" b="1" dirty="0"/>
              <a:t>MCQ 2</a:t>
            </a:r>
            <a:br>
              <a:rPr lang="en-US" dirty="0"/>
            </a:br>
            <a:r>
              <a:rPr lang="en-US" dirty="0"/>
              <a:t>Which is NOT true about a warehouse?</a:t>
            </a:r>
          </a:p>
          <a:p>
            <a:pPr lvl="1"/>
            <a:r>
              <a:rPr lang="en-US" dirty="0"/>
              <a:t>A. Stateless</a:t>
            </a:r>
            <a:br>
              <a:rPr lang="en-US" dirty="0"/>
            </a:br>
            <a:r>
              <a:rPr lang="en-US" dirty="0"/>
              <a:t>B. Independent</a:t>
            </a:r>
            <a:br>
              <a:rPr lang="en-US" dirty="0"/>
            </a:br>
            <a:r>
              <a:rPr lang="en-US" dirty="0"/>
              <a:t>C. Stores table data ❌</a:t>
            </a:r>
            <a:br>
              <a:rPr lang="en-US" dirty="0"/>
            </a:br>
            <a:r>
              <a:rPr lang="en-US" dirty="0"/>
              <a:t>D. Consumes credits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499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AB4112-3307-AB8D-1BF3-576A6B5B9E20}"/>
              </a:ext>
            </a:extLst>
          </p:cNvPr>
          <p:cNvSpPr txBox="1"/>
          <p:nvPr/>
        </p:nvSpPr>
        <p:spPr>
          <a:xfrm>
            <a:off x="252322" y="191581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Warehouse Sizes &amp; What Scaling Really Means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Sizes: XS → 6XL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Scaling = </a:t>
            </a:r>
            <a:r>
              <a:rPr lang="en-US" b="1" dirty="0"/>
              <a:t>doubling resources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More size = more CPU + memory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No impact on storage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“Increase warehouse size” ≠ concurrency solution</a:t>
            </a:r>
          </a:p>
          <a:p>
            <a:endParaRPr lang="en-US" b="1" dirty="0"/>
          </a:p>
          <a:p>
            <a:r>
              <a:rPr lang="en-US" b="1" dirty="0"/>
              <a:t>Decision Logic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One slow query → scale 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Many users → scale OUT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Scaling a warehouse from M to L mainly increases:</a:t>
            </a:r>
          </a:p>
          <a:p>
            <a:pPr lvl="1"/>
            <a:r>
              <a:rPr lang="en-US" dirty="0"/>
              <a:t>A. Storage</a:t>
            </a:r>
            <a:br>
              <a:rPr lang="en-US" dirty="0"/>
            </a:br>
            <a:r>
              <a:rPr lang="en-US" dirty="0"/>
              <a:t>B. Number of users</a:t>
            </a:r>
            <a:br>
              <a:rPr lang="en-US" dirty="0"/>
            </a:br>
            <a:r>
              <a:rPr lang="en-US" dirty="0"/>
              <a:t>C. Compute power </a:t>
            </a:r>
            <a:br>
              <a:rPr lang="en-US" dirty="0"/>
            </a:br>
            <a:r>
              <a:rPr lang="en-US" dirty="0"/>
              <a:t>D. Metadata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33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AB4112-3307-AB8D-1BF3-576A6B5B9E20}"/>
              </a:ext>
            </a:extLst>
          </p:cNvPr>
          <p:cNvSpPr txBox="1"/>
          <p:nvPr/>
        </p:nvSpPr>
        <p:spPr>
          <a:xfrm>
            <a:off x="252322" y="191581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Warehouse Sizes &amp; What Scaling Really Means</a:t>
            </a:r>
          </a:p>
          <a:p>
            <a:r>
              <a:rPr lang="en-US" b="1" dirty="0"/>
              <a:t>Concept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Sizes: XS → 6XL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Scaling = </a:t>
            </a:r>
            <a:r>
              <a:rPr lang="en-US" b="1" dirty="0"/>
              <a:t>doubling resources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More size = more CPU + memory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No impact on storage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“Increase warehouse size” ≠ concurrency solution</a:t>
            </a:r>
          </a:p>
          <a:p>
            <a:endParaRPr lang="en-US" b="1" dirty="0"/>
          </a:p>
          <a:p>
            <a:r>
              <a:rPr lang="en-US" b="1" dirty="0"/>
              <a:t>Decision Logic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One slow query → scale 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Many users → scale OUT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Scaling a warehouse from M to L mainly increases:</a:t>
            </a:r>
          </a:p>
          <a:p>
            <a:pPr lvl="1"/>
            <a:r>
              <a:rPr lang="en-US" dirty="0"/>
              <a:t>A. Storage</a:t>
            </a:r>
            <a:br>
              <a:rPr lang="en-US" dirty="0"/>
            </a:br>
            <a:r>
              <a:rPr lang="en-US" dirty="0"/>
              <a:t>B. Number of users</a:t>
            </a:r>
            <a:br>
              <a:rPr lang="en-US" dirty="0"/>
            </a:br>
            <a:r>
              <a:rPr lang="en-US" dirty="0"/>
              <a:t>C. Compute power </a:t>
            </a:r>
            <a:br>
              <a:rPr lang="en-US" dirty="0"/>
            </a:br>
            <a:r>
              <a:rPr lang="en-US" dirty="0"/>
              <a:t>D. Metadata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477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AB4112-3307-AB8D-1BF3-576A6B5B9E20}"/>
              </a:ext>
            </a:extLst>
          </p:cNvPr>
          <p:cNvSpPr txBox="1"/>
          <p:nvPr/>
        </p:nvSpPr>
        <p:spPr>
          <a:xfrm>
            <a:off x="252322" y="191581"/>
            <a:ext cx="6094562" cy="14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Scale UP vs Scale OUT 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Scale UP</a:t>
            </a:r>
            <a:r>
              <a:rPr lang="en-IN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bigger warehouse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Scale OUT</a:t>
            </a:r>
            <a:r>
              <a:rPr lang="en-IN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multi-cluster warehouse</a:t>
            </a:r>
          </a:p>
          <a:p>
            <a:endParaRPr lang="en-US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B8FAC7-B718-EA9D-CD26-F236E948C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405794"/>
              </p:ext>
            </p:extLst>
          </p:nvPr>
        </p:nvGraphicFramePr>
        <p:xfrm>
          <a:off x="252322" y="1692254"/>
          <a:ext cx="7039423" cy="8551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0273">
                  <a:extLst>
                    <a:ext uri="{9D8B030D-6E8A-4147-A177-3AD203B41FA5}">
                      <a16:colId xmlns:a16="http://schemas.microsoft.com/office/drawing/2014/main" val="909460937"/>
                    </a:ext>
                  </a:extLst>
                </a:gridCol>
                <a:gridCol w="4859150">
                  <a:extLst>
                    <a:ext uri="{9D8B030D-6E8A-4147-A177-3AD203B41FA5}">
                      <a16:colId xmlns:a16="http://schemas.microsoft.com/office/drawing/2014/main" val="2106745560"/>
                    </a:ext>
                  </a:extLst>
                </a:gridCol>
              </a:tblGrid>
              <a:tr h="2189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Scenario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Correct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493862"/>
                  </a:ext>
                </a:extLst>
              </a:tr>
              <a:tr h="2189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Single heavy query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solidFill>
                            <a:schemeClr val="tx1"/>
                          </a:solidFill>
                          <a:effectLst/>
                        </a:rPr>
                        <a:t>Scale UP</a:t>
                      </a:r>
                      <a:endParaRPr lang="en-IN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043326"/>
                  </a:ext>
                </a:extLst>
              </a:tr>
              <a:tr h="2189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Many concurrent queries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solidFill>
                            <a:schemeClr val="tx1"/>
                          </a:solidFill>
                          <a:effectLst/>
                        </a:rPr>
                        <a:t>Scale OUT</a:t>
                      </a:r>
                      <a:endParaRPr lang="en-IN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0354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8951F2B-2071-5ADF-777D-1A55119E3776}"/>
              </a:ext>
            </a:extLst>
          </p:cNvPr>
          <p:cNvSpPr txBox="1"/>
          <p:nvPr/>
        </p:nvSpPr>
        <p:spPr>
          <a:xfrm>
            <a:off x="142337" y="2807563"/>
            <a:ext cx="6094562" cy="345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 Angle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Snowflake exam repeats this logic again and again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Decision Logic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Concurrency problem → scale OUT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MCQ</a:t>
            </a:r>
            <a:b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Dashboard with 300 concurrent users → best solution?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A. XL warehouse</a:t>
            </a:r>
            <a:b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B. Increase storage</a:t>
            </a:r>
            <a:b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C. Multi-cluster warehouse </a:t>
            </a:r>
            <a:b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D. Result cache only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04897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3">
            <a:extLst>
              <a:ext uri="{FF2B5EF4-FFF2-40B4-BE49-F238E27FC236}">
                <a16:creationId xmlns:a16="http://schemas.microsoft.com/office/drawing/2014/main" id="{4ABB6E7D-6193-8D0C-DE1B-C7D6791C6D27}"/>
              </a:ext>
            </a:extLst>
          </p:cNvPr>
          <p:cNvSpPr txBox="1"/>
          <p:nvPr/>
        </p:nvSpPr>
        <p:spPr>
          <a:xfrm>
            <a:off x="304081" y="328173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Multi-Cluster Warehouses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Multiple clusters under one warehouse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Clusters start/stop automatically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Each cluster: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Independent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Consumes credits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Improves concurrency, not speed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/>
            <a:r>
              <a:rPr lang="en-IN" dirty="0"/>
              <a:t>“Multi-cluster” ≠ faster single query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BI dashboards → multi-cluster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Each cluster in a multi-cluster warehouse:</a:t>
            </a:r>
          </a:p>
          <a:p>
            <a:pPr lvl="1"/>
            <a:r>
              <a:rPr lang="en-IN" dirty="0"/>
              <a:t>A. Shares cache</a:t>
            </a:r>
            <a:br>
              <a:rPr lang="en-IN" dirty="0"/>
            </a:br>
            <a:r>
              <a:rPr lang="en-IN" dirty="0"/>
              <a:t>B. Shares credits</a:t>
            </a:r>
            <a:br>
              <a:rPr lang="en-IN" dirty="0"/>
            </a:br>
            <a:r>
              <a:rPr lang="en-IN" dirty="0"/>
              <a:t>C. Consumes credits independently </a:t>
            </a:r>
            <a:br>
              <a:rPr lang="en-IN" dirty="0"/>
            </a:br>
            <a:r>
              <a:rPr lang="en-IN" dirty="0"/>
              <a:t>D. Stores data</a:t>
            </a:r>
          </a:p>
        </p:txBody>
      </p:sp>
    </p:spTree>
    <p:extLst>
      <p:ext uri="{BB962C8B-B14F-4D97-AF65-F5344CB8AC3E}">
        <p14:creationId xmlns:p14="http://schemas.microsoft.com/office/powerpoint/2010/main" val="1736298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3">
            <a:extLst>
              <a:ext uri="{FF2B5EF4-FFF2-40B4-BE49-F238E27FC236}">
                <a16:creationId xmlns:a16="http://schemas.microsoft.com/office/drawing/2014/main" id="{4ABB6E7D-6193-8D0C-DE1B-C7D6791C6D27}"/>
              </a:ext>
            </a:extLst>
          </p:cNvPr>
          <p:cNvSpPr txBox="1"/>
          <p:nvPr/>
        </p:nvSpPr>
        <p:spPr>
          <a:xfrm>
            <a:off x="304081" y="328173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Auto-Suspend &amp; Auto-Resume (COST FAVORITE)</a:t>
            </a:r>
          </a:p>
          <a:p>
            <a:r>
              <a:rPr lang="en-IN" b="1" dirty="0"/>
              <a:t>Concept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Auto-suspend: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Stops compute when idle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Biggest cost saver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Auto-resume: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Restarts on query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Minor latency only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Cost question → auto-suspend likely answer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Non-24×7 workloads → auto-suspend ON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feature immediately reduces wasted credits?</a:t>
            </a:r>
          </a:p>
          <a:p>
            <a:pPr lvl="1"/>
            <a:r>
              <a:rPr lang="en-IN" dirty="0"/>
              <a:t>A. Result cache</a:t>
            </a:r>
            <a:br>
              <a:rPr lang="en-IN" dirty="0"/>
            </a:br>
            <a:r>
              <a:rPr lang="en-IN" dirty="0"/>
              <a:t>B. Auto-suspend </a:t>
            </a:r>
            <a:br>
              <a:rPr lang="en-IN" dirty="0"/>
            </a:br>
            <a:r>
              <a:rPr lang="en-IN" dirty="0"/>
              <a:t>C. Clustering</a:t>
            </a:r>
            <a:br>
              <a:rPr lang="en-IN" dirty="0"/>
            </a:br>
            <a:r>
              <a:rPr lang="en-IN" dirty="0"/>
              <a:t>D. Replication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680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3">
            <a:extLst>
              <a:ext uri="{FF2B5EF4-FFF2-40B4-BE49-F238E27FC236}">
                <a16:creationId xmlns:a16="http://schemas.microsoft.com/office/drawing/2014/main" id="{4ABB6E7D-6193-8D0C-DE1B-C7D6791C6D27}"/>
              </a:ext>
            </a:extLst>
          </p:cNvPr>
          <p:cNvSpPr txBox="1"/>
          <p:nvPr/>
        </p:nvSpPr>
        <p:spPr>
          <a:xfrm>
            <a:off x="304081" y="328173"/>
            <a:ext cx="724403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Happens When a Warehouse Is Suspended</a:t>
            </a:r>
          </a:p>
          <a:p>
            <a:r>
              <a:rPr lang="en-IN" b="1" dirty="0"/>
              <a:t>Concept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Compute stops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No credits consumed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Storage always available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Result cache still usable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/>
            <a:r>
              <a:rPr lang="en-IN" dirty="0"/>
              <a:t>“Warehouse suspended” ≠ system down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Same query + unchanged data → result cache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Warehouse is suspended. Same query is re-run. What happens?</a:t>
            </a:r>
          </a:p>
          <a:p>
            <a:pPr lvl="1"/>
            <a:r>
              <a:rPr lang="en-IN" dirty="0"/>
              <a:t>A. Query fails</a:t>
            </a:r>
            <a:br>
              <a:rPr lang="en-IN" dirty="0"/>
            </a:br>
            <a:r>
              <a:rPr lang="en-IN" dirty="0"/>
              <a:t>B. Full re-scan</a:t>
            </a:r>
            <a:br>
              <a:rPr lang="en-IN" dirty="0"/>
            </a:br>
            <a:r>
              <a:rPr lang="en-IN" dirty="0"/>
              <a:t>C. Uses result cache </a:t>
            </a:r>
            <a:br>
              <a:rPr lang="en-IN" dirty="0"/>
            </a:br>
            <a:r>
              <a:rPr lang="en-IN" dirty="0"/>
              <a:t>D. Needs manual resume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489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217">
            <a:extLst>
              <a:ext uri="{FF2B5EF4-FFF2-40B4-BE49-F238E27FC236}">
                <a16:creationId xmlns:a16="http://schemas.microsoft.com/office/drawing/2014/main" id="{D9F6E4BC-C3C5-233D-9C3B-1BE560550908}"/>
              </a:ext>
            </a:extLst>
          </p:cNvPr>
          <p:cNvSpPr txBox="1"/>
          <p:nvPr/>
        </p:nvSpPr>
        <p:spPr>
          <a:xfrm>
            <a:off x="217816" y="389035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Warehouse Cache (Local Disk Cache)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Stores frequently used data locally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Improves repeated query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Cache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Per warehouse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Lost on suspend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Cache ≠ persistent</a:t>
            </a:r>
          </a:p>
          <a:p>
            <a:endParaRPr lang="en-IN" b="1" dirty="0"/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ETL workloads → cache less useful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cache is cleared when a warehouse suspends?</a:t>
            </a:r>
          </a:p>
          <a:p>
            <a:pPr lvl="1"/>
            <a:r>
              <a:rPr lang="en-IN" dirty="0"/>
              <a:t>A. Result cache</a:t>
            </a:r>
            <a:br>
              <a:rPr lang="en-IN" dirty="0"/>
            </a:br>
            <a:r>
              <a:rPr lang="en-IN" dirty="0"/>
              <a:t>B. Metadata cache</a:t>
            </a:r>
            <a:br>
              <a:rPr lang="en-IN" dirty="0"/>
            </a:br>
            <a:r>
              <a:rPr lang="en-IN" dirty="0"/>
              <a:t>C. Warehouse cache </a:t>
            </a:r>
            <a:br>
              <a:rPr lang="en-IN" dirty="0"/>
            </a:br>
            <a:r>
              <a:rPr lang="en-IN" dirty="0"/>
              <a:t>D. Cloud Services cache</a:t>
            </a:r>
          </a:p>
        </p:txBody>
      </p:sp>
    </p:spTree>
    <p:extLst>
      <p:ext uri="{BB962C8B-B14F-4D97-AF65-F5344CB8AC3E}">
        <p14:creationId xmlns:p14="http://schemas.microsoft.com/office/powerpoint/2010/main" val="172617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7" name="TextBox 8766">
            <a:extLst>
              <a:ext uri="{FF2B5EF4-FFF2-40B4-BE49-F238E27FC236}">
                <a16:creationId xmlns:a16="http://schemas.microsoft.com/office/drawing/2014/main" id="{504CCEDE-A0D0-DD2E-3B86-517BAD05A692}"/>
              </a:ext>
            </a:extLst>
          </p:cNvPr>
          <p:cNvSpPr txBox="1"/>
          <p:nvPr/>
        </p:nvSpPr>
        <p:spPr>
          <a:xfrm>
            <a:off x="416224" y="302294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Separate Warehouses per Workload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Isolates workloads: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ETL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science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Prevents contention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Enables cost tracking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/>
            <a:r>
              <a:rPr lang="en-IN" dirty="0"/>
              <a:t>“Best practice” → separate warehouses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/>
            <a:r>
              <a:rPr lang="en-IN" dirty="0"/>
              <a:t>Mixed workloads → multiple warehouses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Best practice for ETL + BI workloads?</a:t>
            </a:r>
          </a:p>
          <a:p>
            <a:r>
              <a:rPr lang="en-IN" dirty="0"/>
              <a:t>A. One large warehouse</a:t>
            </a:r>
            <a:br>
              <a:rPr lang="en-IN" dirty="0"/>
            </a:br>
            <a:r>
              <a:rPr lang="en-IN" dirty="0"/>
              <a:t>B. Multi-cluster only</a:t>
            </a:r>
            <a:br>
              <a:rPr lang="en-IN" dirty="0"/>
            </a:br>
            <a:r>
              <a:rPr lang="en-IN" dirty="0"/>
              <a:t>C. Separate warehouses </a:t>
            </a:r>
            <a:br>
              <a:rPr lang="en-IN" dirty="0"/>
            </a:br>
            <a:r>
              <a:rPr lang="en-IN" dirty="0"/>
              <a:t>D. Disable caching</a:t>
            </a:r>
          </a:p>
        </p:txBody>
      </p:sp>
    </p:spTree>
    <p:extLst>
      <p:ext uri="{BB962C8B-B14F-4D97-AF65-F5344CB8AC3E}">
        <p14:creationId xmlns:p14="http://schemas.microsoft.com/office/powerpoint/2010/main" val="1309461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5" name="TextBox 9574">
            <a:extLst>
              <a:ext uri="{FF2B5EF4-FFF2-40B4-BE49-F238E27FC236}">
                <a16:creationId xmlns:a16="http://schemas.microsoft.com/office/drawing/2014/main" id="{0B3ACF89-8C6D-92C3-6F37-D392731CEBE9}"/>
              </a:ext>
            </a:extLst>
          </p:cNvPr>
          <p:cNvSpPr txBox="1"/>
          <p:nvPr/>
        </p:nvSpPr>
        <p:spPr>
          <a:xfrm>
            <a:off x="442103" y="423540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Credit Consumption Basics (Exam Math)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Credits billed: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Per second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While running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Larger warehouse = faster credit burn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Suspended = zero credits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Time × size = cost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Bigger isn’t cheaper unless faster completion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factor directly increases credit usage?</a:t>
            </a:r>
          </a:p>
          <a:p>
            <a:r>
              <a:rPr lang="en-IN" dirty="0"/>
              <a:t>A. Table size</a:t>
            </a:r>
            <a:br>
              <a:rPr lang="en-IN" dirty="0"/>
            </a:br>
            <a:r>
              <a:rPr lang="en-IN" dirty="0"/>
              <a:t>B. Query complexity</a:t>
            </a:r>
            <a:br>
              <a:rPr lang="en-IN" dirty="0"/>
            </a:br>
            <a:r>
              <a:rPr lang="en-IN" dirty="0"/>
              <a:t>C. Warehouse size &amp; runtime </a:t>
            </a:r>
            <a:br>
              <a:rPr lang="en-IN" dirty="0"/>
            </a:br>
            <a:r>
              <a:rPr lang="en-IN" dirty="0"/>
              <a:t>D. Result cache</a:t>
            </a:r>
          </a:p>
        </p:txBody>
      </p:sp>
    </p:spTree>
    <p:extLst>
      <p:ext uri="{BB962C8B-B14F-4D97-AF65-F5344CB8AC3E}">
        <p14:creationId xmlns:p14="http://schemas.microsoft.com/office/powerpoint/2010/main" val="3149869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5" name="TextBox 9574">
            <a:extLst>
              <a:ext uri="{FF2B5EF4-FFF2-40B4-BE49-F238E27FC236}">
                <a16:creationId xmlns:a16="http://schemas.microsoft.com/office/drawing/2014/main" id="{0B3ACF89-8C6D-92C3-6F37-D392731CEBE9}"/>
              </a:ext>
            </a:extLst>
          </p:cNvPr>
          <p:cNvSpPr txBox="1"/>
          <p:nvPr/>
        </p:nvSpPr>
        <p:spPr>
          <a:xfrm>
            <a:off x="378095" y="423540"/>
            <a:ext cx="60945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Warehouse Module: Exam Summary</a:t>
            </a:r>
          </a:p>
          <a:p>
            <a:r>
              <a:rPr lang="en-IN" b="1" dirty="0"/>
              <a:t>Must-Remember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Scale UP = performance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Scale OUT = concurrency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Auto-suspend = cost control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Warehouses don’t store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Multi-cluster ≠ faster queries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statement is ALWAYS true?</a:t>
            </a:r>
          </a:p>
          <a:p>
            <a:r>
              <a:rPr lang="en-IN" dirty="0"/>
              <a:t>A. Warehouses store data</a:t>
            </a:r>
            <a:br>
              <a:rPr lang="en-IN" dirty="0"/>
            </a:br>
            <a:r>
              <a:rPr lang="en-IN" dirty="0"/>
              <a:t>B. Warehouses share cache</a:t>
            </a:r>
            <a:br>
              <a:rPr lang="en-IN" dirty="0"/>
            </a:br>
            <a:r>
              <a:rPr lang="en-IN" dirty="0"/>
              <a:t>C. Warehouses consume credits only when running </a:t>
            </a:r>
            <a:br>
              <a:rPr lang="en-IN" dirty="0"/>
            </a:br>
            <a:r>
              <a:rPr lang="en-IN" dirty="0"/>
              <a:t>D. Warehouses manage security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136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5" name="TextBox 9574">
            <a:extLst>
              <a:ext uri="{FF2B5EF4-FFF2-40B4-BE49-F238E27FC236}">
                <a16:creationId xmlns:a16="http://schemas.microsoft.com/office/drawing/2014/main" id="{0B3ACF89-8C6D-92C3-6F37-D392731CEBE9}"/>
              </a:ext>
            </a:extLst>
          </p:cNvPr>
          <p:cNvSpPr txBox="1"/>
          <p:nvPr/>
        </p:nvSpPr>
        <p:spPr>
          <a:xfrm>
            <a:off x="304081" y="294144"/>
            <a:ext cx="6094562" cy="695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Snowflake Storage Layer (Deep View)</a:t>
            </a:r>
          </a:p>
          <a:p>
            <a:r>
              <a:rPr lang="en-IN" sz="1600" b="1" dirty="0"/>
              <a:t>Concept</a:t>
            </a:r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Centralized, shared storage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Columnar, compressed, immutable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Stores data in </a:t>
            </a:r>
            <a:r>
              <a:rPr lang="en-IN" sz="1600" b="1" dirty="0"/>
              <a:t>micro-partitions</a:t>
            </a:r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Completely managed by Snowflake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b="1" dirty="0"/>
              <a:t>Exam Angle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“User manages storage” → 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“Each warehouse has storage” → ❌</a:t>
            </a:r>
          </a:p>
          <a:p>
            <a:r>
              <a:rPr lang="en-IN" sz="1600" b="1" dirty="0"/>
              <a:t>Real-World Analogy</a:t>
            </a:r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Library bookshelves shared by all readers</a:t>
            </a:r>
          </a:p>
          <a:p>
            <a:r>
              <a:rPr lang="en-IN" sz="1600" b="1" dirty="0"/>
              <a:t>Decision Logic</a:t>
            </a:r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Any data question → storage layer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     No tuning knobs here (except clustering)</a:t>
            </a:r>
          </a:p>
          <a:p>
            <a:r>
              <a:rPr lang="en-IN" sz="1600" b="1" dirty="0"/>
              <a:t>MCQ 1</a:t>
            </a:r>
            <a:br>
              <a:rPr lang="en-IN" sz="1600" dirty="0"/>
            </a:br>
            <a:r>
              <a:rPr lang="en-IN" sz="1600" dirty="0"/>
              <a:t>Which statement about Snowflake storage is TRUE?</a:t>
            </a:r>
          </a:p>
          <a:p>
            <a:r>
              <a:rPr lang="en-IN" sz="1600" dirty="0"/>
              <a:t>A. Each warehouse has its own storage</a:t>
            </a:r>
            <a:br>
              <a:rPr lang="en-IN" sz="1600" dirty="0"/>
            </a:br>
            <a:r>
              <a:rPr lang="en-IN" sz="1600" dirty="0"/>
              <a:t>B. Storage is shared across warehouses </a:t>
            </a:r>
            <a:br>
              <a:rPr lang="en-IN" sz="1600" dirty="0"/>
            </a:br>
            <a:r>
              <a:rPr lang="en-IN" sz="1600" dirty="0"/>
              <a:t>C. Users define partitions</a:t>
            </a:r>
            <a:br>
              <a:rPr lang="en-IN" sz="1600" dirty="0"/>
            </a:br>
            <a:r>
              <a:rPr lang="en-IN" sz="1600" dirty="0"/>
              <a:t>D. Storage consumes compute credits</a:t>
            </a:r>
          </a:p>
          <a:p>
            <a:r>
              <a:rPr lang="en-IN" sz="1600" b="1" dirty="0"/>
              <a:t>MCQ 2</a:t>
            </a:r>
            <a:br>
              <a:rPr lang="en-IN" sz="1600" dirty="0"/>
            </a:br>
            <a:r>
              <a:rPr lang="en-IN" sz="1600" dirty="0"/>
              <a:t>Who manages Snowflake storage?</a:t>
            </a:r>
          </a:p>
          <a:p>
            <a:r>
              <a:rPr lang="en-IN" sz="1600" dirty="0"/>
              <a:t>A. DBA</a:t>
            </a:r>
            <a:br>
              <a:rPr lang="en-IN" sz="1600" dirty="0"/>
            </a:br>
            <a:r>
              <a:rPr lang="en-IN" sz="1600" dirty="0"/>
              <a:t>B. User</a:t>
            </a:r>
            <a:br>
              <a:rPr lang="en-IN" sz="1600" dirty="0"/>
            </a:br>
            <a:r>
              <a:rPr lang="en-IN" sz="1600" dirty="0"/>
              <a:t>C. Snowflake automatically </a:t>
            </a:r>
            <a:br>
              <a:rPr lang="en-IN" sz="1600" dirty="0"/>
            </a:br>
            <a:r>
              <a:rPr lang="en-IN" sz="1600" dirty="0"/>
              <a:t>D. Cloud provider only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963607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5" name="TextBox 9574">
            <a:extLst>
              <a:ext uri="{FF2B5EF4-FFF2-40B4-BE49-F238E27FC236}">
                <a16:creationId xmlns:a16="http://schemas.microsoft.com/office/drawing/2014/main" id="{0B3ACF89-8C6D-92C3-6F37-D392731CEBE9}"/>
              </a:ext>
            </a:extLst>
          </p:cNvPr>
          <p:cNvSpPr txBox="1"/>
          <p:nvPr/>
        </p:nvSpPr>
        <p:spPr>
          <a:xfrm>
            <a:off x="304081" y="294144"/>
            <a:ext cx="60945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What Are Micro-Partitions </a:t>
            </a:r>
          </a:p>
          <a:p>
            <a:r>
              <a:rPr lang="en-IN" sz="1600" b="1" dirty="0"/>
              <a:t>Concept</a:t>
            </a:r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Small, contiguous storage units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Typical size: </a:t>
            </a:r>
            <a:r>
              <a:rPr lang="en-IN" sz="1600" b="1" dirty="0"/>
              <a:t>50–500 MB (compressed)</a:t>
            </a:r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Created automatically during load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Immutable once written</a:t>
            </a:r>
          </a:p>
          <a:p>
            <a:r>
              <a:rPr lang="en-IN" sz="1600" b="1" dirty="0"/>
              <a:t>Exam Angle</a:t>
            </a:r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“User-defined partitions” → ❌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“Fixed number of rows” → ❌</a:t>
            </a:r>
          </a:p>
          <a:p>
            <a:r>
              <a:rPr lang="en-IN" sz="1600" b="1" dirty="0"/>
              <a:t>Decision Logic</a:t>
            </a:r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Load data → new micro-partitions created</a:t>
            </a:r>
          </a:p>
          <a:p>
            <a:r>
              <a:rPr lang="en-IN" sz="1600" b="1" dirty="0"/>
              <a:t>MCQ</a:t>
            </a:r>
            <a:br>
              <a:rPr lang="en-IN" sz="1600" dirty="0"/>
            </a:br>
            <a:r>
              <a:rPr lang="en-IN" sz="1600" dirty="0"/>
              <a:t>Micro-partitions are:</a:t>
            </a:r>
          </a:p>
          <a:p>
            <a:r>
              <a:rPr lang="en-IN" sz="1600" dirty="0"/>
              <a:t>A. User-defined</a:t>
            </a:r>
            <a:br>
              <a:rPr lang="en-IN" sz="1600" dirty="0"/>
            </a:br>
            <a:r>
              <a:rPr lang="en-IN" sz="1600" dirty="0"/>
              <a:t>B. Fixed-size row blocks</a:t>
            </a:r>
            <a:br>
              <a:rPr lang="en-IN" sz="1600" dirty="0"/>
            </a:br>
            <a:r>
              <a:rPr lang="en-IN" sz="1600" dirty="0"/>
              <a:t>C. Automatically managed units of storage </a:t>
            </a:r>
            <a:br>
              <a:rPr lang="en-IN" sz="1600" dirty="0"/>
            </a:br>
            <a:r>
              <a:rPr lang="en-IN" sz="1600" dirty="0"/>
              <a:t>D. Warehouse-specific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52833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5" name="TextBox 9574">
            <a:extLst>
              <a:ext uri="{FF2B5EF4-FFF2-40B4-BE49-F238E27FC236}">
                <a16:creationId xmlns:a16="http://schemas.microsoft.com/office/drawing/2014/main" id="{0B3ACF89-8C6D-92C3-6F37-D392731CEBE9}"/>
              </a:ext>
            </a:extLst>
          </p:cNvPr>
          <p:cNvSpPr txBox="1"/>
          <p:nvPr/>
        </p:nvSpPr>
        <p:spPr>
          <a:xfrm>
            <a:off x="304081" y="294144"/>
            <a:ext cx="609456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Columnar Storage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stored column-by-column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Analytics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required columns are scanned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 “Row-based storage” → ❌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 Analytical workloads → columnar advantage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Columnar storage improves performance mainly by:</a:t>
            </a:r>
          </a:p>
          <a:p>
            <a:r>
              <a:rPr lang="en-US" dirty="0"/>
              <a:t>A. Increasing warehouse size</a:t>
            </a:r>
            <a:br>
              <a:rPr lang="en-US" dirty="0"/>
            </a:br>
            <a:r>
              <a:rPr lang="en-US" dirty="0"/>
              <a:t>B. Scanning only required columns </a:t>
            </a:r>
            <a:br>
              <a:rPr lang="en-US" dirty="0"/>
            </a:br>
            <a:r>
              <a:rPr lang="en-US" dirty="0"/>
              <a:t>C. Adding indexes</a:t>
            </a:r>
            <a:br>
              <a:rPr lang="en-US" dirty="0"/>
            </a:br>
            <a:r>
              <a:rPr lang="en-US" dirty="0"/>
              <a:t>D. Reordering rows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70866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5" name="TextBox 9574">
            <a:extLst>
              <a:ext uri="{FF2B5EF4-FFF2-40B4-BE49-F238E27FC236}">
                <a16:creationId xmlns:a16="http://schemas.microsoft.com/office/drawing/2014/main" id="{0B3ACF89-8C6D-92C3-6F37-D392731CEBE9}"/>
              </a:ext>
            </a:extLst>
          </p:cNvPr>
          <p:cNvSpPr txBox="1"/>
          <p:nvPr/>
        </p:nvSpPr>
        <p:spPr>
          <a:xfrm>
            <a:off x="304081" y="294144"/>
            <a:ext cx="609456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Micro-Partition Metadata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Metadata stored per micro-partition: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Min/max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Row count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NULL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Stored in Cloud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Enables pruning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“Metadata scan ≠ data scan”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  Filters → metadata → pruning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What enables Snowflake to skip scanning data?</a:t>
            </a:r>
          </a:p>
          <a:p>
            <a:r>
              <a:rPr lang="en-IN" dirty="0"/>
              <a:t>A. Indexes</a:t>
            </a:r>
            <a:br>
              <a:rPr lang="en-IN" dirty="0"/>
            </a:br>
            <a:r>
              <a:rPr lang="en-IN" dirty="0"/>
              <a:t>B. Warehouse cache</a:t>
            </a:r>
            <a:br>
              <a:rPr lang="en-IN" dirty="0"/>
            </a:br>
            <a:r>
              <a:rPr lang="en-IN" dirty="0"/>
              <a:t>C. Micro-partition metadata </a:t>
            </a:r>
            <a:br>
              <a:rPr lang="en-IN" dirty="0"/>
            </a:br>
            <a:r>
              <a:rPr lang="en-IN" dirty="0"/>
              <a:t>D. Result cache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40502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5" name="TextBox 9574">
            <a:extLst>
              <a:ext uri="{FF2B5EF4-FFF2-40B4-BE49-F238E27FC236}">
                <a16:creationId xmlns:a16="http://schemas.microsoft.com/office/drawing/2014/main" id="{0B3ACF89-8C6D-92C3-6F37-D392731CEBE9}"/>
              </a:ext>
            </a:extLst>
          </p:cNvPr>
          <p:cNvSpPr txBox="1"/>
          <p:nvPr/>
        </p:nvSpPr>
        <p:spPr>
          <a:xfrm>
            <a:off x="304081" y="294144"/>
            <a:ext cx="609456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When Pruning Is MOST Effective</a:t>
            </a:r>
          </a:p>
          <a:p>
            <a:r>
              <a:rPr lang="en-IN" b="1" dirty="0"/>
              <a:t>Concept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Effective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Filtered columns are ordered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 distribution is clean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Ineffective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Random inserts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Poor clustering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“Large table + frequent filters” → clustering candidate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Bad pruning → consider clustering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scenario benefits most from pruning?</a:t>
            </a:r>
          </a:p>
          <a:p>
            <a:r>
              <a:rPr lang="en-IN" dirty="0"/>
              <a:t>A. Small dimension table</a:t>
            </a:r>
            <a:br>
              <a:rPr lang="en-IN" dirty="0"/>
            </a:br>
            <a:r>
              <a:rPr lang="en-IN" dirty="0"/>
              <a:t>B. Large fact table with date filters </a:t>
            </a:r>
            <a:br>
              <a:rPr lang="en-IN" dirty="0"/>
            </a:br>
            <a:r>
              <a:rPr lang="en-IN" dirty="0"/>
              <a:t>C. Temporary tables</a:t>
            </a:r>
            <a:br>
              <a:rPr lang="en-IN" dirty="0"/>
            </a:br>
            <a:r>
              <a:rPr lang="en-IN" dirty="0"/>
              <a:t>D. Lookup tables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10923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5" name="TextBox 9574">
            <a:extLst>
              <a:ext uri="{FF2B5EF4-FFF2-40B4-BE49-F238E27FC236}">
                <a16:creationId xmlns:a16="http://schemas.microsoft.com/office/drawing/2014/main" id="{0B3ACF89-8C6D-92C3-6F37-D392731CEBE9}"/>
              </a:ext>
            </a:extLst>
          </p:cNvPr>
          <p:cNvSpPr txBox="1"/>
          <p:nvPr/>
        </p:nvSpPr>
        <p:spPr>
          <a:xfrm>
            <a:off x="304081" y="294144"/>
            <a:ext cx="60945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Partition Pruning (CORE PERFORMANCE LOGIC)</a:t>
            </a:r>
          </a:p>
          <a:p>
            <a:r>
              <a:rPr lang="en-IN" sz="1600" b="1" dirty="0"/>
              <a:t>Concept</a:t>
            </a:r>
            <a:endParaRPr lang="en-I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Snowflake skips irrelevant micro-partitions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Happens automatically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Reduces bytes scanned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Improves query speed</a:t>
            </a:r>
          </a:p>
          <a:p>
            <a:r>
              <a:rPr lang="en-IN" sz="1600" b="1" dirty="0"/>
              <a:t>Exam Angle</a:t>
            </a:r>
            <a:endParaRPr lang="en-I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  “Manual pruning” → ❌</a:t>
            </a:r>
          </a:p>
          <a:p>
            <a:endParaRPr lang="en-IN" sz="1600" b="1" dirty="0"/>
          </a:p>
          <a:p>
            <a:r>
              <a:rPr lang="en-IN" sz="1600" b="1" dirty="0"/>
              <a:t>Decision Logic</a:t>
            </a:r>
          </a:p>
          <a:p>
            <a:r>
              <a:rPr lang="en-IN" sz="1600" b="1" dirty="0"/>
              <a:t>	</a:t>
            </a:r>
            <a:r>
              <a:rPr lang="en-IN" sz="1600" dirty="0"/>
              <a:t>WHERE clause → pruning</a:t>
            </a:r>
          </a:p>
          <a:p>
            <a:r>
              <a:rPr lang="en-IN" sz="1600" b="1" dirty="0"/>
              <a:t>MCQ</a:t>
            </a:r>
            <a:br>
              <a:rPr lang="en-IN" sz="1600" dirty="0"/>
            </a:br>
            <a:r>
              <a:rPr lang="en-IN" sz="1600" dirty="0"/>
              <a:t>Partition pruning primarily reduces:</a:t>
            </a:r>
          </a:p>
          <a:p>
            <a:r>
              <a:rPr lang="en-IN" sz="1600" dirty="0"/>
              <a:t>A. Storage size</a:t>
            </a:r>
            <a:br>
              <a:rPr lang="en-IN" sz="1600" dirty="0"/>
            </a:br>
            <a:r>
              <a:rPr lang="en-IN" sz="1600" dirty="0"/>
              <a:t>B. Number of users</a:t>
            </a:r>
            <a:br>
              <a:rPr lang="en-IN" sz="1600" dirty="0"/>
            </a:br>
            <a:r>
              <a:rPr lang="en-IN" sz="1600" dirty="0"/>
              <a:t>C. Data scanned </a:t>
            </a:r>
            <a:br>
              <a:rPr lang="en-IN" sz="1600" dirty="0"/>
            </a:br>
            <a:r>
              <a:rPr lang="en-IN" sz="1600" dirty="0"/>
              <a:t>D. Metadata size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62253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5" name="TextBox 9574">
            <a:extLst>
              <a:ext uri="{FF2B5EF4-FFF2-40B4-BE49-F238E27FC236}">
                <a16:creationId xmlns:a16="http://schemas.microsoft.com/office/drawing/2014/main" id="{0B3ACF89-8C6D-92C3-6F37-D392731CEBE9}"/>
              </a:ext>
            </a:extLst>
          </p:cNvPr>
          <p:cNvSpPr txBox="1"/>
          <p:nvPr/>
        </p:nvSpPr>
        <p:spPr>
          <a:xfrm>
            <a:off x="304081" y="294144"/>
            <a:ext cx="609456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Clustering:</a:t>
            </a:r>
          </a:p>
          <a:p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Logical ordering of micro-partitions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Improves pruning efficiency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NOT indexing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NOT row reordering</a:t>
            </a:r>
          </a:p>
          <a:p>
            <a:r>
              <a:rPr lang="en-IN" sz="1600" b="1" dirty="0"/>
              <a:t>Exam Angle</a:t>
            </a:r>
            <a:endParaRPr lang="en-I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   “Index” word → ❌</a:t>
            </a:r>
          </a:p>
          <a:p>
            <a:r>
              <a:rPr lang="en-IN" sz="1600" b="1" dirty="0"/>
              <a:t>Decision Logic</a:t>
            </a:r>
            <a:endParaRPr lang="en-I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    Large table + frequent filters → clustering</a:t>
            </a:r>
          </a:p>
          <a:p>
            <a:r>
              <a:rPr lang="en-IN" sz="1600" b="1" dirty="0"/>
              <a:t>MCQ</a:t>
            </a:r>
            <a:br>
              <a:rPr lang="en-IN" sz="1600" dirty="0"/>
            </a:br>
            <a:r>
              <a:rPr lang="en-IN" sz="1600" dirty="0"/>
              <a:t>Clustering improves performance by:</a:t>
            </a:r>
          </a:p>
          <a:p>
            <a:r>
              <a:rPr lang="en-IN" sz="1600" dirty="0"/>
              <a:t>A. Creating indexes</a:t>
            </a:r>
            <a:br>
              <a:rPr lang="en-IN" sz="1600" dirty="0"/>
            </a:br>
            <a:r>
              <a:rPr lang="en-IN" sz="1600" dirty="0"/>
              <a:t>B. Improving partition pruning </a:t>
            </a:r>
            <a:br>
              <a:rPr lang="en-IN" sz="1600" dirty="0"/>
            </a:br>
            <a:r>
              <a:rPr lang="en-IN" sz="1600" dirty="0"/>
              <a:t>C. Increasing cache size</a:t>
            </a:r>
            <a:br>
              <a:rPr lang="en-IN" sz="1600" dirty="0"/>
            </a:br>
            <a:r>
              <a:rPr lang="en-IN" sz="1600" dirty="0"/>
              <a:t>D. Sorting rows permanently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36186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5" name="TextBox 9574">
            <a:extLst>
              <a:ext uri="{FF2B5EF4-FFF2-40B4-BE49-F238E27FC236}">
                <a16:creationId xmlns:a16="http://schemas.microsoft.com/office/drawing/2014/main" id="{0B3ACF89-8C6D-92C3-6F37-D392731CEBE9}"/>
              </a:ext>
            </a:extLst>
          </p:cNvPr>
          <p:cNvSpPr txBox="1"/>
          <p:nvPr/>
        </p:nvSpPr>
        <p:spPr>
          <a:xfrm>
            <a:off x="304081" y="294144"/>
            <a:ext cx="609456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Manual Clustering (Basics)</a:t>
            </a:r>
          </a:p>
          <a:p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User defines clustering key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Snowflake maintains clustering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Requires monitoring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Consumes credits when </a:t>
            </a:r>
            <a:r>
              <a:rPr lang="en-IN" sz="1600" dirty="0" err="1"/>
              <a:t>reclustering</a:t>
            </a:r>
            <a:endParaRPr lang="en-IN" sz="1600" dirty="0"/>
          </a:p>
          <a:p>
            <a:r>
              <a:rPr lang="en-IN" sz="1600" b="1" dirty="0"/>
              <a:t>Exam Angle</a:t>
            </a:r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Clustering ≠ free</a:t>
            </a:r>
          </a:p>
          <a:p>
            <a:r>
              <a:rPr lang="en-IN" sz="1600" b="1" dirty="0"/>
              <a:t>Decision Logic</a:t>
            </a:r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Only when pruning insufficient</a:t>
            </a:r>
          </a:p>
          <a:p>
            <a:r>
              <a:rPr lang="en-IN" sz="1600" b="1" dirty="0"/>
              <a:t>MCQ</a:t>
            </a:r>
            <a:br>
              <a:rPr lang="en-IN" sz="1600" dirty="0"/>
            </a:br>
            <a:r>
              <a:rPr lang="en-IN" sz="1600" dirty="0"/>
              <a:t>Manual clustering requires:</a:t>
            </a:r>
          </a:p>
          <a:p>
            <a:r>
              <a:rPr lang="en-IN" sz="1600" dirty="0"/>
              <a:t>A. No compute</a:t>
            </a:r>
            <a:br>
              <a:rPr lang="en-IN" sz="1600" dirty="0"/>
            </a:br>
            <a:r>
              <a:rPr lang="en-IN" sz="1600" dirty="0"/>
              <a:t>B. Snowflake Support</a:t>
            </a:r>
            <a:br>
              <a:rPr lang="en-IN" sz="1600" dirty="0"/>
            </a:br>
            <a:r>
              <a:rPr lang="en-IN" sz="1600" dirty="0"/>
              <a:t>C. Compute credits for </a:t>
            </a:r>
            <a:r>
              <a:rPr lang="en-IN" sz="1600" dirty="0" err="1"/>
              <a:t>reclustering</a:t>
            </a:r>
            <a:r>
              <a:rPr lang="en-IN" sz="1600" dirty="0"/>
              <a:t> </a:t>
            </a:r>
            <a:br>
              <a:rPr lang="en-IN" sz="1600" dirty="0"/>
            </a:br>
            <a:r>
              <a:rPr lang="en-IN" sz="1600" dirty="0"/>
              <a:t>D. Enterprise edition only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3888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5" name="TextBox 9574">
            <a:extLst>
              <a:ext uri="{FF2B5EF4-FFF2-40B4-BE49-F238E27FC236}">
                <a16:creationId xmlns:a16="http://schemas.microsoft.com/office/drawing/2014/main" id="{0B3ACF89-8C6D-92C3-6F37-D392731CEBE9}"/>
              </a:ext>
            </a:extLst>
          </p:cNvPr>
          <p:cNvSpPr txBox="1"/>
          <p:nvPr/>
        </p:nvSpPr>
        <p:spPr>
          <a:xfrm>
            <a:off x="304081" y="294144"/>
            <a:ext cx="609456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Automatic Clustering </a:t>
            </a:r>
          </a:p>
          <a:p>
            <a:r>
              <a:rPr lang="en-IN" sz="1600" b="1" dirty="0"/>
              <a:t>Concept</a:t>
            </a:r>
            <a:endParaRPr lang="en-I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Snowflake manages </a:t>
            </a:r>
            <a:r>
              <a:rPr lang="en-IN" sz="1600" dirty="0" err="1"/>
              <a:t>reclustering</a:t>
            </a:r>
            <a:endParaRPr lang="en-I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Reduces operational overhead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Available in </a:t>
            </a:r>
            <a:r>
              <a:rPr lang="en-IN" sz="1600" b="1" dirty="0"/>
              <a:t>Enterprise edition+</a:t>
            </a:r>
            <a:endParaRPr lang="en-IN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Consumes credits automatically</a:t>
            </a:r>
          </a:p>
          <a:p>
            <a:r>
              <a:rPr lang="en-IN" sz="1600" b="1" dirty="0"/>
              <a:t>Exam Angle</a:t>
            </a:r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“Automatic” ≠ “free”</a:t>
            </a:r>
          </a:p>
          <a:p>
            <a:r>
              <a:rPr lang="en-IN" sz="1600" b="1" dirty="0"/>
              <a:t>Decision Logic</a:t>
            </a:r>
            <a:endParaRPr lang="en-IN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/>
              <a:t>Large tables + minimal admin → auto clustering</a:t>
            </a:r>
          </a:p>
          <a:p>
            <a:r>
              <a:rPr lang="en-IN" sz="1600" b="1" dirty="0"/>
              <a:t>MCQ</a:t>
            </a:r>
            <a:br>
              <a:rPr lang="en-IN" sz="1600" dirty="0"/>
            </a:br>
            <a:r>
              <a:rPr lang="en-IN" sz="1600" dirty="0"/>
              <a:t>Automatic clustering:</a:t>
            </a:r>
          </a:p>
          <a:p>
            <a:r>
              <a:rPr lang="en-IN" sz="1600" dirty="0"/>
              <a:t>A. Is free</a:t>
            </a:r>
            <a:br>
              <a:rPr lang="en-IN" sz="1600" dirty="0"/>
            </a:br>
            <a:r>
              <a:rPr lang="en-IN" sz="1600" dirty="0"/>
              <a:t>B. Requires user scheduling</a:t>
            </a:r>
            <a:br>
              <a:rPr lang="en-IN" sz="1600" dirty="0"/>
            </a:br>
            <a:r>
              <a:rPr lang="en-IN" sz="1600" dirty="0"/>
              <a:t>C. Is managed by Snowflake </a:t>
            </a:r>
            <a:br>
              <a:rPr lang="en-IN" sz="1600" dirty="0"/>
            </a:br>
            <a:r>
              <a:rPr lang="en-IN" sz="1600" dirty="0"/>
              <a:t>D. Replaces pruning</a:t>
            </a:r>
          </a:p>
        </p:txBody>
      </p:sp>
    </p:spTree>
    <p:extLst>
      <p:ext uri="{BB962C8B-B14F-4D97-AF65-F5344CB8AC3E}">
        <p14:creationId xmlns:p14="http://schemas.microsoft.com/office/powerpoint/2010/main" val="9312484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7805FA-D6E2-C63A-2747-0F1FE710625D}"/>
              </a:ext>
            </a:extLst>
          </p:cNvPr>
          <p:cNvSpPr txBox="1"/>
          <p:nvPr/>
        </p:nvSpPr>
        <p:spPr>
          <a:xfrm>
            <a:off x="200564" y="259639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When NOT to Use Clustering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 clustering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Small tables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Infrequent queries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cardinality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increase cost unnecessarily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“Clustering always helps” → ❌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Small data → no clustering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Clustering is NOT recommended for:</a:t>
            </a:r>
          </a:p>
          <a:p>
            <a:r>
              <a:rPr lang="en-US" dirty="0"/>
              <a:t>A. Large fact tables</a:t>
            </a:r>
            <a:br>
              <a:rPr lang="en-US" dirty="0"/>
            </a:br>
            <a:r>
              <a:rPr lang="en-US" dirty="0"/>
              <a:t>B. Frequently filtered columns</a:t>
            </a:r>
            <a:br>
              <a:rPr lang="en-US" dirty="0"/>
            </a:br>
            <a:r>
              <a:rPr lang="en-US" dirty="0"/>
              <a:t>C. Small lookup tables </a:t>
            </a:r>
            <a:br>
              <a:rPr lang="en-US" dirty="0"/>
            </a:br>
            <a:r>
              <a:rPr lang="en-US" dirty="0"/>
              <a:t>D. Date-based filters</a:t>
            </a:r>
          </a:p>
        </p:txBody>
      </p:sp>
    </p:spTree>
    <p:extLst>
      <p:ext uri="{BB962C8B-B14F-4D97-AF65-F5344CB8AC3E}">
        <p14:creationId xmlns:p14="http://schemas.microsoft.com/office/powerpoint/2010/main" val="25758669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B359FD-9E74-70C8-5944-D67566155AB3}"/>
              </a:ext>
            </a:extLst>
          </p:cNvPr>
          <p:cNvSpPr txBox="1"/>
          <p:nvPr/>
        </p:nvSpPr>
        <p:spPr>
          <a:xfrm>
            <a:off x="398972" y="53516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Clustering vs Partitioning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85037D-8EBE-799C-49C2-A84D41E4C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424011"/>
              </p:ext>
            </p:extLst>
          </p:nvPr>
        </p:nvGraphicFramePr>
        <p:xfrm>
          <a:off x="478766" y="1162784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16432245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65838004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Snowflake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616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User-defined partitions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0977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Indexes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1336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Automatic pruning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5629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Logical 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9938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8DB907C-9AFB-7092-A0B0-D6552F52F00C}"/>
              </a:ext>
            </a:extLst>
          </p:cNvPr>
          <p:cNvSpPr txBox="1"/>
          <p:nvPr/>
        </p:nvSpPr>
        <p:spPr>
          <a:xfrm>
            <a:off x="398972" y="3249873"/>
            <a:ext cx="60945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Snowflake ≠ traditional DB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Snowflake handles partitions automatically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feature does Snowflake NOT support?</a:t>
            </a:r>
          </a:p>
          <a:p>
            <a:r>
              <a:rPr lang="en-IN" dirty="0"/>
              <a:t>A. Partition pruning</a:t>
            </a:r>
            <a:br>
              <a:rPr lang="en-IN" dirty="0"/>
            </a:br>
            <a:r>
              <a:rPr lang="en-IN" dirty="0"/>
              <a:t>B. Clustering</a:t>
            </a:r>
            <a:br>
              <a:rPr lang="en-IN" dirty="0"/>
            </a:br>
            <a:r>
              <a:rPr lang="en-IN" dirty="0"/>
              <a:t>C. Indexes </a:t>
            </a:r>
            <a:br>
              <a:rPr lang="en-IN" dirty="0"/>
            </a:br>
            <a:r>
              <a:rPr lang="en-IN" dirty="0"/>
              <a:t>D. Metadata</a:t>
            </a:r>
          </a:p>
        </p:txBody>
      </p:sp>
    </p:spTree>
    <p:extLst>
      <p:ext uri="{BB962C8B-B14F-4D97-AF65-F5344CB8AC3E}">
        <p14:creationId xmlns:p14="http://schemas.microsoft.com/office/powerpoint/2010/main" val="1294552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1183FFC-3229-C856-669E-56FEDABE8A24}"/>
              </a:ext>
            </a:extLst>
          </p:cNvPr>
          <p:cNvSpPr txBox="1"/>
          <p:nvPr/>
        </p:nvSpPr>
        <p:spPr>
          <a:xfrm>
            <a:off x="278202" y="271126"/>
            <a:ext cx="609456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Storage Module: Exam Summary</a:t>
            </a:r>
          </a:p>
          <a:p>
            <a:r>
              <a:rPr lang="en-IN" b="1" dirty="0"/>
              <a:t>Must-Remember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Micro-partitions = automatic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Metadata = pruning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Clustering = optional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No indexes, no partitions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Reduce data scanned = faster queries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Best way to improve performance on large filtered table?</a:t>
            </a:r>
          </a:p>
          <a:p>
            <a:r>
              <a:rPr lang="en-IN" dirty="0"/>
              <a:t>A. Add index</a:t>
            </a:r>
            <a:br>
              <a:rPr lang="en-IN" dirty="0"/>
            </a:br>
            <a:r>
              <a:rPr lang="en-IN" dirty="0"/>
              <a:t>B. Increase storage</a:t>
            </a:r>
            <a:br>
              <a:rPr lang="en-IN" dirty="0"/>
            </a:br>
            <a:r>
              <a:rPr lang="en-IN" dirty="0"/>
              <a:t>C. Improve pruning via clustering </a:t>
            </a:r>
            <a:br>
              <a:rPr lang="en-IN" dirty="0"/>
            </a:br>
            <a:r>
              <a:rPr lang="en-IN" dirty="0"/>
              <a:t>D. Disable caching</a:t>
            </a:r>
          </a:p>
        </p:txBody>
      </p:sp>
    </p:spTree>
    <p:extLst>
      <p:ext uri="{BB962C8B-B14F-4D97-AF65-F5344CB8AC3E}">
        <p14:creationId xmlns:p14="http://schemas.microsoft.com/office/powerpoint/2010/main" val="1605210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B2106-20B6-5AA2-E305-4F3B15679A1E}"/>
              </a:ext>
            </a:extLst>
          </p:cNvPr>
          <p:cNvSpPr txBox="1"/>
          <p:nvPr/>
        </p:nvSpPr>
        <p:spPr>
          <a:xfrm>
            <a:off x="88420" y="198408"/>
            <a:ext cx="609456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End-to-End Query Lifecycle in Snowflake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User submits SQL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Cloud Services: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Parses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Optimizes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Generates execution plan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Warehouse executes the plan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Results returned to user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Optimization ≠ execution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Execution ≠ storage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  Parsing / optimization → Cloud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Execution → Warehouse</a:t>
            </a:r>
          </a:p>
          <a:p>
            <a:r>
              <a:rPr lang="en-IN" b="1" dirty="0"/>
              <a:t>MCQ 1</a:t>
            </a:r>
            <a:br>
              <a:rPr lang="en-IN" dirty="0"/>
            </a:br>
            <a:r>
              <a:rPr lang="en-IN" dirty="0"/>
              <a:t>Which layer parses and optimizes SQL?</a:t>
            </a:r>
          </a:p>
          <a:p>
            <a:r>
              <a:rPr lang="en-IN" dirty="0"/>
              <a:t>A. Storage</a:t>
            </a:r>
            <a:br>
              <a:rPr lang="en-IN" dirty="0"/>
            </a:br>
            <a:r>
              <a:rPr lang="en-IN" dirty="0"/>
              <a:t>B. Warehouse</a:t>
            </a:r>
            <a:br>
              <a:rPr lang="en-IN" dirty="0"/>
            </a:br>
            <a:r>
              <a:rPr lang="en-IN" dirty="0"/>
              <a:t>C. Cloud Services </a:t>
            </a:r>
            <a:br>
              <a:rPr lang="en-IN" dirty="0"/>
            </a:br>
            <a:r>
              <a:rPr lang="en-IN" dirty="0"/>
              <a:t>D. Client tool</a:t>
            </a:r>
          </a:p>
        </p:txBody>
      </p:sp>
    </p:spTree>
    <p:extLst>
      <p:ext uri="{BB962C8B-B14F-4D97-AF65-F5344CB8AC3E}">
        <p14:creationId xmlns:p14="http://schemas.microsoft.com/office/powerpoint/2010/main" val="17995482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2E6495-6BFC-927C-828C-4D65CD452B87}"/>
              </a:ext>
            </a:extLst>
          </p:cNvPr>
          <p:cNvSpPr txBox="1"/>
          <p:nvPr/>
        </p:nvSpPr>
        <p:spPr>
          <a:xfrm>
            <a:off x="321334" y="388081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Result Cache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Stores </a:t>
            </a:r>
            <a:r>
              <a:rPr lang="en-IN" b="1" dirty="0"/>
              <a:t>final query results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Used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Query text identical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Underlying data unchanged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Same 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Cache is global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Free (no credits)</a:t>
            </a:r>
            <a:endParaRPr lang="en-IN" dirty="0"/>
          </a:p>
          <a:p>
            <a:r>
              <a:rPr lang="en-IN" b="1" dirty="0"/>
              <a:t>Exam Angle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“Warehouse suspended” → result cache still works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 Reporting dashboards benefit heavily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condition INVALIDATES result cache?</a:t>
            </a:r>
          </a:p>
          <a:p>
            <a:r>
              <a:rPr lang="en-IN" dirty="0"/>
              <a:t>A. Same query text</a:t>
            </a:r>
            <a:br>
              <a:rPr lang="en-IN" dirty="0"/>
            </a:br>
            <a:r>
              <a:rPr lang="en-IN" dirty="0"/>
              <a:t>B. Same role</a:t>
            </a:r>
            <a:br>
              <a:rPr lang="en-IN" dirty="0"/>
            </a:br>
            <a:r>
              <a:rPr lang="en-IN" dirty="0"/>
              <a:t>C. Data change in table </a:t>
            </a:r>
            <a:br>
              <a:rPr lang="en-IN" dirty="0"/>
            </a:br>
            <a:r>
              <a:rPr lang="en-IN" dirty="0"/>
              <a:t>D. Warehouse suspension</a:t>
            </a:r>
          </a:p>
        </p:txBody>
      </p:sp>
    </p:spTree>
    <p:extLst>
      <p:ext uri="{BB962C8B-B14F-4D97-AF65-F5344CB8AC3E}">
        <p14:creationId xmlns:p14="http://schemas.microsoft.com/office/powerpoint/2010/main" val="238562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1A4C7F-41EE-F9D1-E6A3-107936E211B4}"/>
              </a:ext>
            </a:extLst>
          </p:cNvPr>
          <p:cNvSpPr txBox="1"/>
          <p:nvPr/>
        </p:nvSpPr>
        <p:spPr>
          <a:xfrm>
            <a:off x="502488" y="483925"/>
            <a:ext cx="710600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Happens BEFORE a Warehouse Is Used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Snowflake first checks </a:t>
            </a:r>
            <a:r>
              <a:rPr lang="en-US" b="1" dirty="0"/>
              <a:t>Result Cache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cache hit: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warehouse needed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credits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cache miss → warehouse starts (if suspended)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 Result cache is checked FIRST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 Same query + same data + same role → cache hit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is evaluated first when a query is submitted?</a:t>
            </a:r>
          </a:p>
          <a:p>
            <a:r>
              <a:rPr lang="en-US" dirty="0"/>
              <a:t>A. Warehouse cache</a:t>
            </a:r>
            <a:br>
              <a:rPr lang="en-US" dirty="0"/>
            </a:br>
            <a:r>
              <a:rPr lang="en-US" dirty="0"/>
              <a:t>B. Storage</a:t>
            </a:r>
            <a:br>
              <a:rPr lang="en-US" dirty="0"/>
            </a:br>
            <a:r>
              <a:rPr lang="en-US" dirty="0"/>
              <a:t>C. Result cache </a:t>
            </a:r>
            <a:br>
              <a:rPr lang="en-US" dirty="0"/>
            </a:br>
            <a:r>
              <a:rPr lang="en-US" dirty="0"/>
              <a:t>D. Metadata cache</a:t>
            </a:r>
          </a:p>
        </p:txBody>
      </p:sp>
    </p:spTree>
    <p:extLst>
      <p:ext uri="{BB962C8B-B14F-4D97-AF65-F5344CB8AC3E}">
        <p14:creationId xmlns:p14="http://schemas.microsoft.com/office/powerpoint/2010/main" val="2579486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CB67F4-F3D0-BDB3-38A1-A54AAF51E27A}"/>
              </a:ext>
            </a:extLst>
          </p:cNvPr>
          <p:cNvSpPr txBox="1"/>
          <p:nvPr/>
        </p:nvSpPr>
        <p:spPr>
          <a:xfrm>
            <a:off x="402249" y="259680"/>
            <a:ext cx="743381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Result Cache vs Warehouse Requirement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 cache does NOT require: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Running warehouse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Can return results even if: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Warehouse is suspended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Fastest query response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 This is a favorite Snowflake trick question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Result cache = instant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A warehouse is suspended. Same SELECT query runs again. What happens?</a:t>
            </a:r>
          </a:p>
          <a:p>
            <a:r>
              <a:rPr lang="en-US" dirty="0"/>
              <a:t>A. Query fails</a:t>
            </a:r>
            <a:br>
              <a:rPr lang="en-US" dirty="0"/>
            </a:br>
            <a:r>
              <a:rPr lang="en-US" dirty="0"/>
              <a:t>B. Warehouse resumes</a:t>
            </a:r>
            <a:br>
              <a:rPr lang="en-US" dirty="0"/>
            </a:br>
            <a:r>
              <a:rPr lang="en-US" dirty="0"/>
              <a:t>C. Result cache is used </a:t>
            </a:r>
            <a:br>
              <a:rPr lang="en-US" dirty="0"/>
            </a:br>
            <a:r>
              <a:rPr lang="en-US" dirty="0"/>
              <a:t>D. Full data scan</a:t>
            </a:r>
          </a:p>
        </p:txBody>
      </p:sp>
    </p:spTree>
    <p:extLst>
      <p:ext uri="{BB962C8B-B14F-4D97-AF65-F5344CB8AC3E}">
        <p14:creationId xmlns:p14="http://schemas.microsoft.com/office/powerpoint/2010/main" val="6567128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2236AE-A20F-6372-F572-BC8EC0A3B41C}"/>
              </a:ext>
            </a:extLst>
          </p:cNvPr>
          <p:cNvSpPr txBox="1"/>
          <p:nvPr/>
        </p:nvSpPr>
        <p:spPr>
          <a:xfrm>
            <a:off x="424851" y="285041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Warehouse Cache (Local Disk Cache)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Stores frequently accessed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Improves repeated query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Cache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Per warehouse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Temporary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Cleared on suspend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Warehouse cache ≠ result cache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 Long-running warehouse → more cache benefit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cache is cleared when a warehouse suspends?</a:t>
            </a:r>
          </a:p>
          <a:p>
            <a:r>
              <a:rPr lang="en-IN" dirty="0"/>
              <a:t>A. Result cache</a:t>
            </a:r>
            <a:br>
              <a:rPr lang="en-IN" dirty="0"/>
            </a:br>
            <a:r>
              <a:rPr lang="en-IN" dirty="0"/>
              <a:t>B. Metadata cache</a:t>
            </a:r>
            <a:br>
              <a:rPr lang="en-IN" dirty="0"/>
            </a:br>
            <a:r>
              <a:rPr lang="en-IN" dirty="0"/>
              <a:t>C. Warehouse cache </a:t>
            </a:r>
            <a:br>
              <a:rPr lang="en-IN" dirty="0"/>
            </a:br>
            <a:r>
              <a:rPr lang="en-IN" dirty="0"/>
              <a:t>D. Cloud Services cache</a:t>
            </a:r>
          </a:p>
        </p:txBody>
      </p:sp>
    </p:spTree>
    <p:extLst>
      <p:ext uri="{BB962C8B-B14F-4D97-AF65-F5344CB8AC3E}">
        <p14:creationId xmlns:p14="http://schemas.microsoft.com/office/powerpoint/2010/main" val="2851745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052B22-1DE5-E73E-D480-CCAFC657C970}"/>
              </a:ext>
            </a:extLst>
          </p:cNvPr>
          <p:cNvSpPr txBox="1"/>
          <p:nvPr/>
        </p:nvSpPr>
        <p:spPr>
          <a:xfrm>
            <a:off x="490240" y="388386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Metadata Cache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Maintained by Cloud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Table statistics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Partition metadata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Persistent across warehouses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Used for pruning &amp; optimization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Metadata cache ≠ warehouse cache</a:t>
            </a:r>
          </a:p>
          <a:p>
            <a:endParaRPr lang="en-IN" dirty="0"/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Filtering queries → metadata cache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Metadata cache is primarily used for:</a:t>
            </a:r>
          </a:p>
          <a:p>
            <a:r>
              <a:rPr lang="en-IN" dirty="0"/>
              <a:t>A. Query execution</a:t>
            </a:r>
            <a:br>
              <a:rPr lang="en-IN" dirty="0"/>
            </a:br>
            <a:r>
              <a:rPr lang="en-IN" dirty="0"/>
              <a:t>B. Result storage</a:t>
            </a:r>
            <a:br>
              <a:rPr lang="en-IN" dirty="0"/>
            </a:br>
            <a:r>
              <a:rPr lang="en-IN" dirty="0"/>
              <a:t>C. Optimization &amp; pruning </a:t>
            </a:r>
            <a:br>
              <a:rPr lang="en-IN" dirty="0"/>
            </a:br>
            <a:r>
              <a:rPr lang="en-IN" dirty="0"/>
              <a:t>D. Cost tracking</a:t>
            </a:r>
          </a:p>
        </p:txBody>
      </p:sp>
    </p:spTree>
    <p:extLst>
      <p:ext uri="{BB962C8B-B14F-4D97-AF65-F5344CB8AC3E}">
        <p14:creationId xmlns:p14="http://schemas.microsoft.com/office/powerpoint/2010/main" val="26386222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60B53E-0A00-3BE5-3AFD-D71953F55993}"/>
              </a:ext>
            </a:extLst>
          </p:cNvPr>
          <p:cNvSpPr txBox="1"/>
          <p:nvPr/>
        </p:nvSpPr>
        <p:spPr>
          <a:xfrm>
            <a:off x="235069" y="24234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Cache Comparison Table (VERY IMPORTANT)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9481F6-9DC4-312F-09C9-2BED8D5BF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529315"/>
              </p:ext>
            </p:extLst>
          </p:nvPr>
        </p:nvGraphicFramePr>
        <p:xfrm>
          <a:off x="357996" y="853959"/>
          <a:ext cx="10131424" cy="1463040"/>
        </p:xfrm>
        <a:graphic>
          <a:graphicData uri="http://schemas.openxmlformats.org/drawingml/2006/table">
            <a:tbl>
              <a:tblPr/>
              <a:tblGrid>
                <a:gridCol w="2532856">
                  <a:extLst>
                    <a:ext uri="{9D8B030D-6E8A-4147-A177-3AD203B41FA5}">
                      <a16:colId xmlns:a16="http://schemas.microsoft.com/office/drawing/2014/main" val="839864877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4121321505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2404950071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29734587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Cache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Lost on Suspend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Uses Credits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918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Result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Global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961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Warehouse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90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Metadata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Cloud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53439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286CC0A-1E96-EFAA-A76B-7D1BD947F325}"/>
              </a:ext>
            </a:extLst>
          </p:cNvPr>
          <p:cNvSpPr txBox="1"/>
          <p:nvPr/>
        </p:nvSpPr>
        <p:spPr>
          <a:xfrm>
            <a:off x="235069" y="2559284"/>
            <a:ext cx="60945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Any “suspend” question → warehouse cache lost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cache survives warehouse suspension?</a:t>
            </a:r>
          </a:p>
          <a:p>
            <a:r>
              <a:rPr lang="en-IN" dirty="0"/>
              <a:t>A. Warehouse cache</a:t>
            </a:r>
            <a:br>
              <a:rPr lang="en-IN" dirty="0"/>
            </a:br>
            <a:r>
              <a:rPr lang="en-IN" dirty="0"/>
              <a:t>B. Result cache </a:t>
            </a:r>
            <a:br>
              <a:rPr lang="en-IN" dirty="0"/>
            </a:br>
            <a:r>
              <a:rPr lang="en-IN" dirty="0"/>
              <a:t>C. Temporary tables</a:t>
            </a:r>
            <a:br>
              <a:rPr lang="en-IN" dirty="0"/>
            </a:br>
            <a:r>
              <a:rPr lang="en-IN" dirty="0"/>
              <a:t>D. Local disk cache</a:t>
            </a:r>
          </a:p>
        </p:txBody>
      </p:sp>
    </p:spTree>
    <p:extLst>
      <p:ext uri="{BB962C8B-B14F-4D97-AF65-F5344CB8AC3E}">
        <p14:creationId xmlns:p14="http://schemas.microsoft.com/office/powerpoint/2010/main" val="30562812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3EDE6F4-5471-59F9-B183-195BF45E3B3A}"/>
              </a:ext>
            </a:extLst>
          </p:cNvPr>
          <p:cNvSpPr txBox="1"/>
          <p:nvPr/>
        </p:nvSpPr>
        <p:spPr>
          <a:xfrm>
            <a:off x="562874" y="386130"/>
            <a:ext cx="709979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Query Processing &amp; Caching: Exam Summary</a:t>
            </a:r>
          </a:p>
          <a:p>
            <a:r>
              <a:rPr lang="en-US" b="1" dirty="0"/>
              <a:t>Must-Remember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Result cache checked first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Result cache = free &amp; fastest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Warehouse cache = local &amp; temporary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Metadata cache = pruning brain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Warehouses execute only on cache miss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feature allows queries to return results without using compute?</a:t>
            </a:r>
          </a:p>
          <a:p>
            <a:r>
              <a:rPr lang="en-US" dirty="0"/>
              <a:t>A. Clustering</a:t>
            </a:r>
            <a:br>
              <a:rPr lang="en-US" dirty="0"/>
            </a:br>
            <a:r>
              <a:rPr lang="en-US" dirty="0"/>
              <a:t>B. Result cache</a:t>
            </a:r>
            <a:br>
              <a:rPr lang="en-US" dirty="0"/>
            </a:br>
            <a:r>
              <a:rPr lang="en-US" dirty="0"/>
              <a:t>C. Warehouse cache</a:t>
            </a:r>
            <a:br>
              <a:rPr lang="en-US" dirty="0"/>
            </a:br>
            <a:r>
              <a:rPr lang="en-US" dirty="0"/>
              <a:t>D. Time Travel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6533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91050E-28EB-6249-4FE4-FB2682DE3A56}"/>
              </a:ext>
            </a:extLst>
          </p:cNvPr>
          <p:cNvSpPr txBox="1"/>
          <p:nvPr/>
        </p:nvSpPr>
        <p:spPr>
          <a:xfrm>
            <a:off x="235069" y="327696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Loading in Snowflake: Big Picture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Snowflake loads data in two ways: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Bulk loading</a:t>
            </a:r>
            <a:r>
              <a:rPr lang="en-US" dirty="0"/>
              <a:t> (COPY INTO)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Continuous loading</a:t>
            </a:r>
            <a:r>
              <a:rPr lang="en-US" dirty="0"/>
              <a:t> (</a:t>
            </a:r>
            <a:r>
              <a:rPr lang="en-US" dirty="0" err="1"/>
              <a:t>Snowpipe</a:t>
            </a:r>
            <a:r>
              <a:rPr lang="en-US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All loads happen from </a:t>
            </a:r>
            <a:r>
              <a:rPr lang="en-US" b="1" dirty="0"/>
              <a:t>stages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Data is written as </a:t>
            </a:r>
            <a:r>
              <a:rPr lang="en-US" b="1" dirty="0"/>
              <a:t>new micro-partitions</a:t>
            </a:r>
            <a:endParaRPr lang="en-US" dirty="0"/>
          </a:p>
          <a:p>
            <a:r>
              <a:rPr lang="en-US" b="1" dirty="0"/>
              <a:t>Exam Angle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“Direct load from local machine” → ❌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“Updates existing partitions” → ❌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Batch files → COPY INTO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Near-real-time → </a:t>
            </a:r>
            <a:r>
              <a:rPr lang="en-US" dirty="0" err="1"/>
              <a:t>Snowpipe</a:t>
            </a:r>
            <a:endParaRPr lang="en-US" dirty="0"/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two methods are used to load data into Snowflake?</a:t>
            </a:r>
          </a:p>
          <a:p>
            <a:r>
              <a:rPr lang="en-US" dirty="0"/>
              <a:t>A. INSERT and UPDATE</a:t>
            </a:r>
            <a:br>
              <a:rPr lang="en-US" dirty="0"/>
            </a:br>
            <a:r>
              <a:rPr lang="en-US" dirty="0"/>
              <a:t>B. COPY INTO and </a:t>
            </a:r>
            <a:r>
              <a:rPr lang="en-US" dirty="0" err="1"/>
              <a:t>Snowpipe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C. PUT and GET</a:t>
            </a:r>
            <a:br>
              <a:rPr lang="en-US" dirty="0"/>
            </a:br>
            <a:r>
              <a:rPr lang="en-US" dirty="0"/>
              <a:t>D. Streams and Tasks</a:t>
            </a:r>
          </a:p>
        </p:txBody>
      </p:sp>
    </p:spTree>
    <p:extLst>
      <p:ext uri="{BB962C8B-B14F-4D97-AF65-F5344CB8AC3E}">
        <p14:creationId xmlns:p14="http://schemas.microsoft.com/office/powerpoint/2010/main" val="1449264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23E4F1-19A8-3121-0381-69AB5FEBCB94}"/>
              </a:ext>
            </a:extLst>
          </p:cNvPr>
          <p:cNvSpPr txBox="1"/>
          <p:nvPr/>
        </p:nvSpPr>
        <p:spPr>
          <a:xfrm>
            <a:off x="640511" y="206926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a Stage (Core Concept)</a:t>
            </a:r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 stage is a </a:t>
            </a:r>
            <a:r>
              <a:rPr lang="en-US" b="1" dirty="0"/>
              <a:t>location that holds data files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Required for all bulk 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External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Tables never read directly from client filesystem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 Stage ≠ table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Stage ≠ storage layer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No stage → no load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Why are stages required in Snowflake?</a:t>
            </a:r>
          </a:p>
          <a:p>
            <a:r>
              <a:rPr lang="en-US" dirty="0"/>
              <a:t>A. To store metadata</a:t>
            </a:r>
            <a:br>
              <a:rPr lang="en-US" dirty="0"/>
            </a:br>
            <a:r>
              <a:rPr lang="en-US" dirty="0"/>
              <a:t>B. To temporarily hold data files before loading</a:t>
            </a:r>
            <a:br>
              <a:rPr lang="en-US" dirty="0"/>
            </a:br>
            <a:r>
              <a:rPr lang="en-US" dirty="0"/>
              <a:t>C. To cache query results</a:t>
            </a:r>
            <a:br>
              <a:rPr lang="en-US" dirty="0"/>
            </a:br>
            <a:r>
              <a:rPr lang="en-US" dirty="0"/>
              <a:t>D. To manage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31227327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3FCF4D-2751-EB69-C3FC-0FAC8F65A0C7}"/>
              </a:ext>
            </a:extLst>
          </p:cNvPr>
          <p:cNvSpPr txBox="1"/>
          <p:nvPr/>
        </p:nvSpPr>
        <p:spPr>
          <a:xfrm>
            <a:off x="683643" y="146541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Internal Stages (Deep)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Managed entirely by Snowflake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stage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Table stage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Named internal 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cloud credentials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for temporary or small-scale loads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 Internal stage ≠ cloud storage</a:t>
            </a:r>
          </a:p>
          <a:p>
            <a:r>
              <a:rPr lang="en-US" b="1" dirty="0"/>
              <a:t>Decision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Small or ad-hoc loads → internal stage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is TRUE about internal stages?</a:t>
            </a:r>
          </a:p>
          <a:p>
            <a:r>
              <a:rPr lang="en-US" dirty="0"/>
              <a:t>A. Require AWS/Azure credentials</a:t>
            </a:r>
            <a:br>
              <a:rPr lang="en-US" dirty="0"/>
            </a:br>
            <a:r>
              <a:rPr lang="en-US" dirty="0"/>
              <a:t>B. Managed by Snowflake </a:t>
            </a:r>
            <a:br>
              <a:rPr lang="en-US" dirty="0"/>
            </a:br>
            <a:r>
              <a:rPr lang="en-US" dirty="0"/>
              <a:t>C. Store data permanently in tables</a:t>
            </a:r>
            <a:br>
              <a:rPr lang="en-US" dirty="0"/>
            </a:br>
            <a:r>
              <a:rPr lang="en-US" dirty="0"/>
              <a:t>D. Only support </a:t>
            </a:r>
            <a:r>
              <a:rPr lang="en-US" dirty="0" err="1"/>
              <a:t>Snowpipe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5222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F8C689-32A6-2CA1-7A72-B84F4F7EA438}"/>
              </a:ext>
            </a:extLst>
          </p:cNvPr>
          <p:cNvSpPr txBox="1"/>
          <p:nvPr/>
        </p:nvSpPr>
        <p:spPr>
          <a:xfrm>
            <a:off x="157432" y="284088"/>
            <a:ext cx="609456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External Stages </a:t>
            </a:r>
          </a:p>
          <a:p>
            <a:r>
              <a:rPr lang="en-IN" b="1" dirty="0"/>
              <a:t>Concept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Reference external cloud storage: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AWS S3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Azure ADLS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GCP GCS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Require: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Storage integration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Common for large-scale ingestion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External stage does NOT store data inside Snowflake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Enterprise pipelines → external stage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External stages are primarily used to:</a:t>
            </a:r>
          </a:p>
          <a:p>
            <a:r>
              <a:rPr lang="en-IN" dirty="0"/>
              <a:t>A. Store data in Snowflake</a:t>
            </a:r>
            <a:br>
              <a:rPr lang="en-IN" dirty="0"/>
            </a:br>
            <a:r>
              <a:rPr lang="en-IN" dirty="0"/>
              <a:t>B. Reference cloud storage outside Snowflake </a:t>
            </a:r>
            <a:br>
              <a:rPr lang="en-IN" dirty="0"/>
            </a:br>
            <a:r>
              <a:rPr lang="en-IN" dirty="0"/>
              <a:t>C. Cache query results</a:t>
            </a:r>
            <a:br>
              <a:rPr lang="en-IN" dirty="0"/>
            </a:br>
            <a:r>
              <a:rPr lang="en-IN" dirty="0"/>
              <a:t>D. Replace tables</a:t>
            </a:r>
          </a:p>
        </p:txBody>
      </p:sp>
    </p:spTree>
    <p:extLst>
      <p:ext uri="{BB962C8B-B14F-4D97-AF65-F5344CB8AC3E}">
        <p14:creationId xmlns:p14="http://schemas.microsoft.com/office/powerpoint/2010/main" val="36235151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ECDEE3-3AD6-5210-F5DC-2E62F49C554F}"/>
              </a:ext>
            </a:extLst>
          </p:cNvPr>
          <p:cNvSpPr txBox="1"/>
          <p:nvPr/>
        </p:nvSpPr>
        <p:spPr>
          <a:xfrm>
            <a:off x="631885" y="199731"/>
            <a:ext cx="60945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COPY INTO Command </a:t>
            </a:r>
          </a:p>
          <a:p>
            <a:r>
              <a:rPr lang="en-US" b="1" dirty="0"/>
              <a:t>Concept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Bulk load command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Loads data from stage → table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Snowflake tracks loaded 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Each file loaded </a:t>
            </a:r>
            <a:r>
              <a:rPr lang="en-US" b="1" dirty="0"/>
              <a:t>once by default</a:t>
            </a:r>
            <a:endParaRPr lang="en-US" dirty="0"/>
          </a:p>
          <a:p>
            <a:r>
              <a:rPr lang="en-US" b="1" dirty="0"/>
              <a:t>Exam Angle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“COPY INTO reloads files every time” → ❌</a:t>
            </a:r>
          </a:p>
          <a:p>
            <a:r>
              <a:rPr lang="en-US" b="1" dirty="0"/>
              <a:t>Analogy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 Checked-in luggage not re-checked repeatedly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What is the default behavior of COPY INTO?</a:t>
            </a:r>
          </a:p>
          <a:p>
            <a:r>
              <a:rPr lang="en-US" dirty="0"/>
              <a:t>A. Reloads files every time</a:t>
            </a:r>
            <a:br>
              <a:rPr lang="en-US" dirty="0"/>
            </a:br>
            <a:r>
              <a:rPr lang="en-US" dirty="0"/>
              <a:t>B. Loads each file once only </a:t>
            </a:r>
            <a:br>
              <a:rPr lang="en-US" dirty="0"/>
            </a:br>
            <a:r>
              <a:rPr lang="en-US" dirty="0"/>
              <a:t>C. Updates existing rows</a:t>
            </a:r>
            <a:br>
              <a:rPr lang="en-US" dirty="0"/>
            </a:br>
            <a:r>
              <a:rPr lang="en-US" dirty="0"/>
              <a:t>D. Deletes source files</a:t>
            </a:r>
          </a:p>
        </p:txBody>
      </p:sp>
    </p:spTree>
    <p:extLst>
      <p:ext uri="{BB962C8B-B14F-4D97-AF65-F5344CB8AC3E}">
        <p14:creationId xmlns:p14="http://schemas.microsoft.com/office/powerpoint/2010/main" val="8480601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FCEBC0-E4AA-CD23-9D43-84628139E244}"/>
              </a:ext>
            </a:extLst>
          </p:cNvPr>
          <p:cNvSpPr txBox="1"/>
          <p:nvPr/>
        </p:nvSpPr>
        <p:spPr>
          <a:xfrm>
            <a:off x="683643" y="172421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File Load Tracking &amp; Error Handling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Snowflake tracks: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File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Checksum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Prevents duplicate 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Supports: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Skip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Continue on error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Snowflake prevents accidental duplicates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Same file name + content → skipped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Why does Snowflake track loaded files?</a:t>
            </a:r>
          </a:p>
          <a:p>
            <a:r>
              <a:rPr lang="en-IN" dirty="0"/>
              <a:t>A. To improve compression</a:t>
            </a:r>
            <a:br>
              <a:rPr lang="en-IN" dirty="0"/>
            </a:br>
            <a:r>
              <a:rPr lang="en-IN" dirty="0"/>
              <a:t>B. To prevent duplicate loading </a:t>
            </a:r>
            <a:br>
              <a:rPr lang="en-IN" dirty="0"/>
            </a:br>
            <a:r>
              <a:rPr lang="en-IN" dirty="0"/>
              <a:t>C. To control access</a:t>
            </a:r>
            <a:br>
              <a:rPr lang="en-IN" dirty="0"/>
            </a:br>
            <a:r>
              <a:rPr lang="en-IN" dirty="0"/>
              <a:t>D. To manage caching</a:t>
            </a:r>
          </a:p>
        </p:txBody>
      </p:sp>
    </p:spTree>
    <p:extLst>
      <p:ext uri="{BB962C8B-B14F-4D97-AF65-F5344CB8AC3E}">
        <p14:creationId xmlns:p14="http://schemas.microsoft.com/office/powerpoint/2010/main" val="2161832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CBF231-936A-794E-A0BE-A960EC3802C6}"/>
              </a:ext>
            </a:extLst>
          </p:cNvPr>
          <p:cNvSpPr txBox="1"/>
          <p:nvPr/>
        </p:nvSpPr>
        <p:spPr>
          <a:xfrm>
            <a:off x="174685" y="197346"/>
            <a:ext cx="609456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File Formats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Define how data is parsed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Common formats: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CSV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JSON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PARQUET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Can be: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Named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Reusable across loads</a:t>
            </a:r>
          </a:p>
          <a:p>
            <a:r>
              <a:rPr lang="en-IN" b="1" dirty="0"/>
              <a:t>Exam Angle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File format ≠ storage format</a:t>
            </a:r>
          </a:p>
          <a:p>
            <a:endParaRPr lang="en-IN" b="1" dirty="0"/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Reuse file formats for consistency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What is the purpose of a file format?</a:t>
            </a:r>
          </a:p>
          <a:p>
            <a:r>
              <a:rPr lang="en-IN" dirty="0"/>
              <a:t>A. Store data</a:t>
            </a:r>
            <a:br>
              <a:rPr lang="en-IN" dirty="0"/>
            </a:br>
            <a:r>
              <a:rPr lang="en-IN" dirty="0"/>
              <a:t>B. Define how files are interpreted </a:t>
            </a:r>
            <a:br>
              <a:rPr lang="en-IN" dirty="0"/>
            </a:br>
            <a:r>
              <a:rPr lang="en-IN" dirty="0"/>
              <a:t>C. Improve query performance</a:t>
            </a:r>
            <a:br>
              <a:rPr lang="en-IN" dirty="0"/>
            </a:br>
            <a:r>
              <a:rPr lang="en-IN" dirty="0"/>
              <a:t>D. Encrypt data</a:t>
            </a:r>
          </a:p>
        </p:txBody>
      </p:sp>
    </p:spTree>
    <p:extLst>
      <p:ext uri="{BB962C8B-B14F-4D97-AF65-F5344CB8AC3E}">
        <p14:creationId xmlns:p14="http://schemas.microsoft.com/office/powerpoint/2010/main" val="3312156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EAC4B2-B1CC-B6CB-2477-E76DE25CADB0}"/>
              </a:ext>
            </a:extLst>
          </p:cNvPr>
          <p:cNvSpPr txBox="1"/>
          <p:nvPr/>
        </p:nvSpPr>
        <p:spPr>
          <a:xfrm>
            <a:off x="364466" y="329127"/>
            <a:ext cx="60945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Snowpipe</a:t>
            </a:r>
            <a:r>
              <a:rPr lang="en-IN" b="1" dirty="0"/>
              <a:t>: Continuous Loading 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Near-real-time ingestion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Automatically loads new 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Serverless (no warehouse needed)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Uses COPY INTO internally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 err="1"/>
              <a:t>Snowpipe</a:t>
            </a:r>
            <a:r>
              <a:rPr lang="en-IN" dirty="0"/>
              <a:t> ≠ scheduled COPY INTO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  Event-driven pipelines → </a:t>
            </a:r>
            <a:r>
              <a:rPr lang="en-IN" dirty="0" err="1"/>
              <a:t>Snowpipe</a:t>
            </a:r>
            <a:endParaRPr lang="en-IN" dirty="0"/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 err="1"/>
              <a:t>Snowpipe</a:t>
            </a:r>
            <a:r>
              <a:rPr lang="en-IN" dirty="0"/>
              <a:t> loads data using:</a:t>
            </a:r>
          </a:p>
          <a:p>
            <a:r>
              <a:rPr lang="en-IN" dirty="0"/>
              <a:t>A. INSERT statements</a:t>
            </a:r>
            <a:br>
              <a:rPr lang="en-IN" dirty="0"/>
            </a:br>
            <a:r>
              <a:rPr lang="en-IN" dirty="0"/>
              <a:t>B. Streams</a:t>
            </a:r>
            <a:br>
              <a:rPr lang="en-IN" dirty="0"/>
            </a:br>
            <a:r>
              <a:rPr lang="en-IN" dirty="0"/>
              <a:t>C. COPY INTO internally </a:t>
            </a:r>
            <a:br>
              <a:rPr lang="en-IN" dirty="0"/>
            </a:br>
            <a:r>
              <a:rPr lang="en-IN" dirty="0"/>
              <a:t>D. Tasks</a:t>
            </a:r>
          </a:p>
        </p:txBody>
      </p:sp>
    </p:spTree>
    <p:extLst>
      <p:ext uri="{BB962C8B-B14F-4D97-AF65-F5344CB8AC3E}">
        <p14:creationId xmlns:p14="http://schemas.microsoft.com/office/powerpoint/2010/main" val="42318800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633100-562A-7ADB-1E77-B6DA7CBA5D45}"/>
              </a:ext>
            </a:extLst>
          </p:cNvPr>
          <p:cNvSpPr txBox="1"/>
          <p:nvPr/>
        </p:nvSpPr>
        <p:spPr>
          <a:xfrm>
            <a:off x="452973" y="320040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Snowpipe</a:t>
            </a:r>
            <a:r>
              <a:rPr lang="en-IN" b="1" dirty="0"/>
              <a:t> Cost &amp; Architecture (Exam Trap)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Serverless compute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warehouse billing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Costs: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Snowpipe</a:t>
            </a:r>
            <a:r>
              <a:rPr lang="en-IN" dirty="0"/>
              <a:t> compute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Cloud messaging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Suitable for small, frequent files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“</a:t>
            </a:r>
            <a:r>
              <a:rPr lang="en-IN" dirty="0" err="1"/>
              <a:t>Snowpipe</a:t>
            </a:r>
            <a:r>
              <a:rPr lang="en-IN" dirty="0"/>
              <a:t> requires warehouse” → ❌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Small frequent loads → </a:t>
            </a:r>
            <a:r>
              <a:rPr lang="en-IN" dirty="0" err="1"/>
              <a:t>Snowpipe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Large batch → COPY INTO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statement about </a:t>
            </a:r>
            <a:r>
              <a:rPr lang="en-IN" dirty="0" err="1"/>
              <a:t>Snowpipe</a:t>
            </a:r>
            <a:r>
              <a:rPr lang="en-IN" dirty="0"/>
              <a:t> is TRUE?</a:t>
            </a:r>
          </a:p>
          <a:p>
            <a:r>
              <a:rPr lang="en-IN" dirty="0"/>
              <a:t>A. Requires running warehouse</a:t>
            </a:r>
            <a:br>
              <a:rPr lang="en-IN" dirty="0"/>
            </a:br>
            <a:r>
              <a:rPr lang="en-IN" dirty="0"/>
              <a:t>B. Free of cost</a:t>
            </a:r>
            <a:br>
              <a:rPr lang="en-IN" dirty="0"/>
            </a:br>
            <a:r>
              <a:rPr lang="en-IN" dirty="0"/>
              <a:t>C. Serverless and auto-scales </a:t>
            </a:r>
            <a:br>
              <a:rPr lang="en-IN" dirty="0"/>
            </a:br>
            <a:r>
              <a:rPr lang="en-IN" dirty="0"/>
              <a:t>D. Replaces COPY INTO syntax</a:t>
            </a:r>
          </a:p>
        </p:txBody>
      </p:sp>
    </p:spTree>
    <p:extLst>
      <p:ext uri="{BB962C8B-B14F-4D97-AF65-F5344CB8AC3E}">
        <p14:creationId xmlns:p14="http://schemas.microsoft.com/office/powerpoint/2010/main" val="25548726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82F150-26E6-7B28-B0AA-BF65731DBD3C}"/>
              </a:ext>
            </a:extLst>
          </p:cNvPr>
          <p:cNvSpPr txBox="1"/>
          <p:nvPr/>
        </p:nvSpPr>
        <p:spPr>
          <a:xfrm>
            <a:off x="398109" y="566768"/>
            <a:ext cx="60945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Loading Module: Exam Summary</a:t>
            </a:r>
          </a:p>
          <a:p>
            <a:r>
              <a:rPr lang="en-US" b="1" dirty="0"/>
              <a:t>Must-Remember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Stages are mandatory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COPY INTO = bulk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Snowpipe</a:t>
            </a:r>
            <a:r>
              <a:rPr lang="en-US" dirty="0"/>
              <a:t> = continuous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Files loaded once by default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New micro-partitions created on load</a:t>
            </a:r>
          </a:p>
          <a:p>
            <a:endParaRPr lang="en-US" dirty="0"/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loading method is best for near-real-time ingestion?</a:t>
            </a:r>
          </a:p>
          <a:p>
            <a:r>
              <a:rPr lang="en-US" dirty="0"/>
              <a:t>A. INSERT</a:t>
            </a:r>
            <a:br>
              <a:rPr lang="en-US" dirty="0"/>
            </a:br>
            <a:r>
              <a:rPr lang="en-US" dirty="0"/>
              <a:t>B. COPY INTO</a:t>
            </a:r>
            <a:br>
              <a:rPr lang="en-US" dirty="0"/>
            </a:br>
            <a:r>
              <a:rPr lang="en-US" dirty="0"/>
              <a:t>C. </a:t>
            </a:r>
            <a:r>
              <a:rPr lang="en-US" dirty="0" err="1"/>
              <a:t>Snowpipe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D. Clustering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102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B82282-59FE-F4E1-7DD3-15E43FE5B528}"/>
              </a:ext>
            </a:extLst>
          </p:cNvPr>
          <p:cNvSpPr txBox="1"/>
          <p:nvPr/>
        </p:nvSpPr>
        <p:spPr>
          <a:xfrm>
            <a:off x="359290" y="301752"/>
            <a:ext cx="609456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Semi-Structured Data in Snowflake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Snowflake natively supports: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JSON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AVRO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PARQUET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XML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schema required at load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Query using standard SQL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“Separate engine for JSON” → ❌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“Must define schema first” → ❌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  Unknown or evolving schema → semi-structured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formats are natively supported as semi-structured data?</a:t>
            </a:r>
          </a:p>
          <a:p>
            <a:r>
              <a:rPr lang="en-IN" dirty="0"/>
              <a:t>A. CSV only</a:t>
            </a:r>
            <a:br>
              <a:rPr lang="en-IN" dirty="0"/>
            </a:br>
            <a:r>
              <a:rPr lang="en-IN" dirty="0"/>
              <a:t>B. JSON, AVRO, PARQUET, XML </a:t>
            </a:r>
            <a:br>
              <a:rPr lang="en-IN" dirty="0"/>
            </a:br>
            <a:r>
              <a:rPr lang="en-IN" dirty="0"/>
              <a:t>C. TXT only</a:t>
            </a:r>
          </a:p>
          <a:p>
            <a:r>
              <a:rPr lang="en-IN" dirty="0"/>
              <a:t>D. Relational tables only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4865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D7CE21-CE1E-2BD5-FF56-94221E0500EF}"/>
              </a:ext>
            </a:extLst>
          </p:cNvPr>
          <p:cNvSpPr txBox="1"/>
          <p:nvPr/>
        </p:nvSpPr>
        <p:spPr>
          <a:xfrm>
            <a:off x="348249" y="386873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VARIANT Data Type </a:t>
            </a:r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VARIANT stores semi-structured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Preserves original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Can store: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Arrays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Scalars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Binary representation internally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 VARIANT ≠ STRING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  Semi-structured column → VARIANT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data type is used to store JSON in Snowflake?</a:t>
            </a:r>
          </a:p>
          <a:p>
            <a:r>
              <a:rPr lang="en-IN" dirty="0"/>
              <a:t>A. STRING</a:t>
            </a:r>
            <a:br>
              <a:rPr lang="en-IN" dirty="0"/>
            </a:br>
            <a:r>
              <a:rPr lang="en-IN" dirty="0"/>
              <a:t>B. OBJECT</a:t>
            </a:r>
            <a:br>
              <a:rPr lang="en-IN" dirty="0"/>
            </a:br>
            <a:r>
              <a:rPr lang="en-IN" dirty="0"/>
              <a:t>C. ARRAY</a:t>
            </a:r>
            <a:br>
              <a:rPr lang="en-IN" dirty="0"/>
            </a:br>
            <a:r>
              <a:rPr lang="en-IN" dirty="0"/>
              <a:t>D. VARIANT </a:t>
            </a:r>
          </a:p>
        </p:txBody>
      </p:sp>
    </p:spTree>
    <p:extLst>
      <p:ext uri="{BB962C8B-B14F-4D97-AF65-F5344CB8AC3E}">
        <p14:creationId xmlns:p14="http://schemas.microsoft.com/office/powerpoint/2010/main" val="19125272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38EB15-6F6D-E6C6-9D5F-9B0DB168A0B3}"/>
              </a:ext>
            </a:extLst>
          </p:cNvPr>
          <p:cNvSpPr txBox="1"/>
          <p:nvPr/>
        </p:nvSpPr>
        <p:spPr>
          <a:xfrm>
            <a:off x="364466" y="259638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Schema-on-Read vs Schema-on-Write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Schema-on-write: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Traditional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Schema-on-read: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Snowflake semi-structured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Schema interpreted during query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 “Schema enforced during load” → ❌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  Changing JSON structure → schema-on-read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Snowflake uses which approach for semi-structured data?</a:t>
            </a:r>
          </a:p>
          <a:p>
            <a:r>
              <a:rPr lang="en-IN" dirty="0"/>
              <a:t>A. Schema-on-write</a:t>
            </a:r>
            <a:br>
              <a:rPr lang="en-IN" dirty="0"/>
            </a:br>
            <a:r>
              <a:rPr lang="en-IN" dirty="0"/>
              <a:t>B. Schema-on-read </a:t>
            </a:r>
            <a:br>
              <a:rPr lang="en-IN" dirty="0"/>
            </a:br>
            <a:r>
              <a:rPr lang="en-IN" dirty="0"/>
              <a:t>C. Schema-on-update</a:t>
            </a:r>
            <a:br>
              <a:rPr lang="en-IN" dirty="0"/>
            </a:br>
            <a:r>
              <a:rPr lang="en-IN" dirty="0"/>
              <a:t>D. No schema ever</a:t>
            </a:r>
          </a:p>
        </p:txBody>
      </p:sp>
    </p:spTree>
    <p:extLst>
      <p:ext uri="{BB962C8B-B14F-4D97-AF65-F5344CB8AC3E}">
        <p14:creationId xmlns:p14="http://schemas.microsoft.com/office/powerpoint/2010/main" val="3953731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5C8A42-B54A-5E4C-CB2B-BD080300D91E}"/>
              </a:ext>
            </a:extLst>
          </p:cNvPr>
          <p:cNvSpPr txBox="1"/>
          <p:nvPr/>
        </p:nvSpPr>
        <p:spPr>
          <a:xfrm>
            <a:off x="243696" y="276891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Accessing JSON Data (Conceptual)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JSON fields accessed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Dot notation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Colon notation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Keys are </a:t>
            </a:r>
            <a:r>
              <a:rPr lang="en-IN" b="1" dirty="0"/>
              <a:t>case-sensitive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Output remains VARIANT unless cast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“JSON keys are case-insensitive” → ❌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Explicit casting needed for comparisons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How are JSON keys treated in Snowflake?</a:t>
            </a:r>
          </a:p>
          <a:p>
            <a:r>
              <a:rPr lang="en-IN" dirty="0"/>
              <a:t>A. Case-insensitive</a:t>
            </a:r>
            <a:br>
              <a:rPr lang="en-IN" dirty="0"/>
            </a:br>
            <a:r>
              <a:rPr lang="en-IN" dirty="0"/>
              <a:t>B. Auto-converted to uppercase</a:t>
            </a:r>
            <a:br>
              <a:rPr lang="en-IN" dirty="0"/>
            </a:br>
            <a:r>
              <a:rPr lang="en-IN" dirty="0"/>
              <a:t>C. Case-sensitive </a:t>
            </a:r>
            <a:br>
              <a:rPr lang="en-IN" dirty="0"/>
            </a:br>
            <a:r>
              <a:rPr lang="en-IN" dirty="0"/>
              <a:t>D. Converted to columns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37654054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567B6D-7383-1EE7-4FA4-91D5CCAE907E}"/>
              </a:ext>
            </a:extLst>
          </p:cNvPr>
          <p:cNvSpPr txBox="1"/>
          <p:nvPr/>
        </p:nvSpPr>
        <p:spPr>
          <a:xfrm>
            <a:off x="398972" y="363156"/>
            <a:ext cx="60945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Arrays vs Objects 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Objects</a:t>
            </a:r>
            <a:r>
              <a:rPr lang="en-IN" dirty="0"/>
              <a:t> → key-value pairs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Arrays</a:t>
            </a:r>
            <a:r>
              <a:rPr lang="en-IN" dirty="0"/>
              <a:t> → ordered lists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Both stored inside VARIANT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Arrays often require FLATTEN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“Arrays queried like tables” → ❌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Multiple repeated elements → array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structure typically requires FLATTEN?</a:t>
            </a:r>
          </a:p>
          <a:p>
            <a:r>
              <a:rPr lang="en-IN" dirty="0"/>
              <a:t>A. Scalar value</a:t>
            </a:r>
            <a:br>
              <a:rPr lang="en-IN" dirty="0"/>
            </a:br>
            <a:r>
              <a:rPr lang="en-IN" dirty="0"/>
              <a:t>B. Object</a:t>
            </a:r>
            <a:br>
              <a:rPr lang="en-IN" dirty="0"/>
            </a:br>
            <a:r>
              <a:rPr lang="en-IN" dirty="0"/>
              <a:t>C. Array </a:t>
            </a:r>
            <a:br>
              <a:rPr lang="en-IN" dirty="0"/>
            </a:br>
            <a:r>
              <a:rPr lang="en-IN" dirty="0"/>
              <a:t>D. STRING</a:t>
            </a:r>
          </a:p>
        </p:txBody>
      </p:sp>
    </p:spTree>
    <p:extLst>
      <p:ext uri="{BB962C8B-B14F-4D97-AF65-F5344CB8AC3E}">
        <p14:creationId xmlns:p14="http://schemas.microsoft.com/office/powerpoint/2010/main" val="2071613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818D1B-D53F-20C4-BE93-BA7BFABCA84F}"/>
              </a:ext>
            </a:extLst>
          </p:cNvPr>
          <p:cNvSpPr txBox="1"/>
          <p:nvPr/>
        </p:nvSpPr>
        <p:spPr>
          <a:xfrm>
            <a:off x="450730" y="379932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FLATTEN Function</a:t>
            </a:r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Expands arrays into rows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Used with LATERAL JOIN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Produces: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INDEX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KEY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FLATTEN does NOT modify stored data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 Need one row per array element → FLATTEN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What is the primary purpose of FLATTEN?</a:t>
            </a:r>
          </a:p>
          <a:p>
            <a:r>
              <a:rPr lang="en-IN" dirty="0"/>
              <a:t>A. Convert JSON to text</a:t>
            </a:r>
            <a:br>
              <a:rPr lang="en-IN" dirty="0"/>
            </a:br>
            <a:r>
              <a:rPr lang="en-IN" dirty="0"/>
              <a:t>B. Compress arrays</a:t>
            </a:r>
            <a:br>
              <a:rPr lang="en-IN" dirty="0"/>
            </a:br>
            <a:r>
              <a:rPr lang="en-IN" dirty="0"/>
              <a:t>C. Expand arrays into rows ✅</a:t>
            </a:r>
            <a:br>
              <a:rPr lang="en-IN" dirty="0"/>
            </a:br>
            <a:r>
              <a:rPr lang="en-IN" dirty="0"/>
              <a:t>D. Enforce schema</a:t>
            </a:r>
          </a:p>
        </p:txBody>
      </p:sp>
    </p:spTree>
    <p:extLst>
      <p:ext uri="{BB962C8B-B14F-4D97-AF65-F5344CB8AC3E}">
        <p14:creationId xmlns:p14="http://schemas.microsoft.com/office/powerpoint/2010/main" val="4068905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9D5E82-8BD6-9E4C-3FE6-84E44ED49EE7}"/>
              </a:ext>
            </a:extLst>
          </p:cNvPr>
          <p:cNvSpPr txBox="1"/>
          <p:nvPr/>
        </p:nvSpPr>
        <p:spPr>
          <a:xfrm>
            <a:off x="390345" y="329127"/>
            <a:ext cx="60945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FLATTEN Behavior &amp; Cost Awareness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FLATTEN: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Happens at query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increase row count significantly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Impacts performance if overused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FLATTEN ≠ preprocessing step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Use FLATTEN only when necessary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When does FLATTEN operate?</a:t>
            </a:r>
          </a:p>
          <a:p>
            <a:r>
              <a:rPr lang="en-US" dirty="0"/>
              <a:t>A. During data load</a:t>
            </a:r>
            <a:br>
              <a:rPr lang="en-US" dirty="0"/>
            </a:br>
            <a:r>
              <a:rPr lang="en-US" dirty="0"/>
              <a:t>B. During storage</a:t>
            </a:r>
            <a:br>
              <a:rPr lang="en-US" dirty="0"/>
            </a:br>
            <a:r>
              <a:rPr lang="en-US" dirty="0"/>
              <a:t>C. During query execution ✅</a:t>
            </a:r>
            <a:br>
              <a:rPr lang="en-US" dirty="0"/>
            </a:br>
            <a:r>
              <a:rPr lang="en-US" dirty="0"/>
              <a:t>D. During clustering</a:t>
            </a:r>
          </a:p>
        </p:txBody>
      </p:sp>
    </p:spTree>
    <p:extLst>
      <p:ext uri="{BB962C8B-B14F-4D97-AF65-F5344CB8AC3E}">
        <p14:creationId xmlns:p14="http://schemas.microsoft.com/office/powerpoint/2010/main" val="28004268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59AD05-BB60-5277-1E6A-F63B77925ABB}"/>
              </a:ext>
            </a:extLst>
          </p:cNvPr>
          <p:cNvSpPr txBox="1"/>
          <p:nvPr/>
        </p:nvSpPr>
        <p:spPr>
          <a:xfrm>
            <a:off x="433477" y="412010"/>
            <a:ext cx="60945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Semi-Structured Module: Exam Summary</a:t>
            </a:r>
          </a:p>
          <a:p>
            <a:r>
              <a:rPr lang="en-US" b="1" dirty="0"/>
              <a:t>Must-Remember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VARIANT stores semi-structured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Schema-on-read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JSON keys are case-sensitive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FLATTEN expands arrays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No separate engine needed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combination is correct for querying JSON arrays?</a:t>
            </a:r>
          </a:p>
          <a:p>
            <a:r>
              <a:rPr lang="en-US" dirty="0"/>
              <a:t>A. STRING + JOIN</a:t>
            </a:r>
            <a:br>
              <a:rPr lang="en-US" dirty="0"/>
            </a:br>
            <a:r>
              <a:rPr lang="en-US" dirty="0"/>
              <a:t>B. VARIANT + FLATTEN </a:t>
            </a:r>
            <a:br>
              <a:rPr lang="en-US" dirty="0"/>
            </a:br>
            <a:r>
              <a:rPr lang="en-US" dirty="0"/>
              <a:t>C. OBJECT + INDEX</a:t>
            </a:r>
            <a:br>
              <a:rPr lang="en-US" dirty="0"/>
            </a:br>
            <a:r>
              <a:rPr lang="en-US" dirty="0"/>
              <a:t>D. ARRAY + CLUSTERING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8448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4A5D20-4CBF-1DAD-172A-C47CCF1A92BA}"/>
              </a:ext>
            </a:extLst>
          </p:cNvPr>
          <p:cNvSpPr txBox="1"/>
          <p:nvPr/>
        </p:nvSpPr>
        <p:spPr>
          <a:xfrm>
            <a:off x="733849" y="313164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Data Protection in Snowflake: Big Picture</a:t>
            </a:r>
          </a:p>
          <a:p>
            <a:br>
              <a:rPr lang="en-IN" dirty="0"/>
            </a:br>
            <a:r>
              <a:rPr lang="en-IN" dirty="0"/>
              <a:t>Snowflake protects data using </a:t>
            </a:r>
            <a:r>
              <a:rPr lang="en-IN" b="1" dirty="0"/>
              <a:t>three layers</a:t>
            </a:r>
            <a:r>
              <a:rPr lang="en-IN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/>
              <a:t>Time Travel</a:t>
            </a:r>
            <a:r>
              <a:rPr lang="en-IN" dirty="0"/>
              <a:t> – user-accessible recovery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/>
              <a:t>Fail-safe</a:t>
            </a:r>
            <a:r>
              <a:rPr lang="en-IN" dirty="0"/>
              <a:t> – Snowflake-managed recovery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/>
              <a:t>Zero-copy cloning</a:t>
            </a:r>
            <a:r>
              <a:rPr lang="en-IN" dirty="0"/>
              <a:t> – instant copies for dev/test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Time Travel ≠ Fail-safe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Fail-safe ≠ backup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User mistake → Time Travel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Catastrophic failure → Fail-safe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features are used for data recovery in Snowflake?</a:t>
            </a:r>
          </a:p>
          <a:p>
            <a:r>
              <a:rPr lang="en-IN" dirty="0"/>
              <a:t>A. Indexes and backups</a:t>
            </a:r>
            <a:br>
              <a:rPr lang="en-IN" dirty="0"/>
            </a:br>
            <a:r>
              <a:rPr lang="en-IN" dirty="0"/>
              <a:t>B. Time Travel and Fail-safe </a:t>
            </a:r>
            <a:br>
              <a:rPr lang="en-IN" dirty="0"/>
            </a:br>
            <a:r>
              <a:rPr lang="en-IN" dirty="0"/>
              <a:t>C. Clustering and caching</a:t>
            </a:r>
            <a:br>
              <a:rPr lang="en-IN" dirty="0"/>
            </a:br>
            <a:r>
              <a:rPr lang="en-IN" dirty="0"/>
              <a:t>D. Replication only</a:t>
            </a:r>
          </a:p>
        </p:txBody>
      </p:sp>
    </p:spTree>
    <p:extLst>
      <p:ext uri="{BB962C8B-B14F-4D97-AF65-F5344CB8AC3E}">
        <p14:creationId xmlns:p14="http://schemas.microsoft.com/office/powerpoint/2010/main" val="5713890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059D35-96DA-D7DC-4FBC-5F6B482C5C10}"/>
              </a:ext>
            </a:extLst>
          </p:cNvPr>
          <p:cNvSpPr txBox="1"/>
          <p:nvPr/>
        </p:nvSpPr>
        <p:spPr>
          <a:xfrm>
            <a:off x="148805" y="422111"/>
            <a:ext cx="609456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Time Travel: Core Concept</a:t>
            </a:r>
          </a:p>
          <a:p>
            <a:r>
              <a:rPr lang="en-US" b="1" dirty="0"/>
              <a:t>Concept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access to </a:t>
            </a:r>
            <a:r>
              <a:rPr lang="en-US" b="1" dirty="0"/>
              <a:t>historical data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Schemas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Query past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Restore dropped objects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Time Travel works on more than tables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Accidental DELETE / DROP → Time Travel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What can Time Travel be used for?</a:t>
            </a:r>
          </a:p>
          <a:p>
            <a:r>
              <a:rPr lang="en-US" dirty="0"/>
              <a:t>A. Query historical data only</a:t>
            </a:r>
            <a:br>
              <a:rPr lang="en-US" dirty="0"/>
            </a:br>
            <a:r>
              <a:rPr lang="en-US" dirty="0"/>
              <a:t>B. Restore dropped objects only</a:t>
            </a:r>
            <a:br>
              <a:rPr lang="en-US" dirty="0"/>
            </a:br>
            <a:r>
              <a:rPr lang="en-US" dirty="0"/>
              <a:t>C. Query and restore data </a:t>
            </a:r>
            <a:br>
              <a:rPr lang="en-US" dirty="0"/>
            </a:br>
            <a:r>
              <a:rPr lang="en-US" dirty="0"/>
              <a:t>D. Backup to cloud storage</a:t>
            </a:r>
          </a:p>
        </p:txBody>
      </p:sp>
    </p:spTree>
    <p:extLst>
      <p:ext uri="{BB962C8B-B14F-4D97-AF65-F5344CB8AC3E}">
        <p14:creationId xmlns:p14="http://schemas.microsoft.com/office/powerpoint/2010/main" val="35994439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8C3FF8-47C8-9942-8F2D-93CF180B44BB}"/>
              </a:ext>
            </a:extLst>
          </p:cNvPr>
          <p:cNvSpPr txBox="1"/>
          <p:nvPr/>
        </p:nvSpPr>
        <p:spPr>
          <a:xfrm>
            <a:off x="200564" y="124043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Time Travel Retention Period (EXAM FAVORITE)</a:t>
            </a:r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	Controlled by DATA_RETENTION_TIME_IN_DAYS</a:t>
            </a:r>
          </a:p>
          <a:p>
            <a:endParaRPr lang="en-IN" dirty="0"/>
          </a:p>
          <a:p>
            <a:r>
              <a:rPr lang="en-IN" dirty="0"/>
              <a:t>Defaults: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	Standard Edition → 1 day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	Enterprise+ → up to 90 days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	Longer retention = more storage cost</a:t>
            </a:r>
          </a:p>
          <a:p>
            <a:r>
              <a:rPr lang="en-IN" dirty="0"/>
              <a:t>Exam Angle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	Edition-based limits are frequently tested</a:t>
            </a:r>
          </a:p>
          <a:p>
            <a:r>
              <a:rPr lang="en-IN" dirty="0"/>
              <a:t>Decision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	Compliance needs → longer retention</a:t>
            </a:r>
          </a:p>
          <a:p>
            <a:endParaRPr lang="en-IN" dirty="0"/>
          </a:p>
          <a:p>
            <a:r>
              <a:rPr lang="en-IN" dirty="0"/>
              <a:t>MCQ</a:t>
            </a:r>
          </a:p>
          <a:p>
            <a:r>
              <a:rPr lang="en-IN" dirty="0"/>
              <a:t>Maximum Time Travel retention in Enterprise edition is:</a:t>
            </a:r>
          </a:p>
          <a:p>
            <a:r>
              <a:rPr lang="en-IN" dirty="0"/>
              <a:t>A. 1 day</a:t>
            </a:r>
          </a:p>
          <a:p>
            <a:r>
              <a:rPr lang="en-IN" dirty="0"/>
              <a:t>B. 7 days</a:t>
            </a:r>
          </a:p>
          <a:p>
            <a:r>
              <a:rPr lang="en-IN" dirty="0"/>
              <a:t>C. 30 days</a:t>
            </a:r>
          </a:p>
          <a:p>
            <a:r>
              <a:rPr lang="en-IN" dirty="0"/>
              <a:t>D. 90 days </a:t>
            </a:r>
          </a:p>
        </p:txBody>
      </p:sp>
    </p:spTree>
    <p:extLst>
      <p:ext uri="{BB962C8B-B14F-4D97-AF65-F5344CB8AC3E}">
        <p14:creationId xmlns:p14="http://schemas.microsoft.com/office/powerpoint/2010/main" val="17689588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FC632B-61A4-5C1F-784F-6E4D16920F38}"/>
              </a:ext>
            </a:extLst>
          </p:cNvPr>
          <p:cNvSpPr txBox="1"/>
          <p:nvPr/>
        </p:nvSpPr>
        <p:spPr>
          <a:xfrm>
            <a:off x="407598" y="293668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UNDROP &amp; Point-in-Time Recovery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UNDROP restores: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Schemas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Works only </a:t>
            </a:r>
            <a:r>
              <a:rPr lang="en-IN" b="1" dirty="0"/>
              <a:t>within Time Travel window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Restores last dropped version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UNDROP ≠ Fail-safe restore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  Object dropped recently → UNDROP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command restores a dropped table?</a:t>
            </a:r>
          </a:p>
          <a:p>
            <a:r>
              <a:rPr lang="en-IN" dirty="0"/>
              <a:t>A. RESTORE</a:t>
            </a:r>
            <a:br>
              <a:rPr lang="en-IN" dirty="0"/>
            </a:br>
            <a:r>
              <a:rPr lang="en-IN" dirty="0"/>
              <a:t>B. RECOVER</a:t>
            </a:r>
            <a:br>
              <a:rPr lang="en-IN" dirty="0"/>
            </a:br>
            <a:r>
              <a:rPr lang="en-IN" dirty="0"/>
              <a:t>C. UNDROP </a:t>
            </a:r>
            <a:br>
              <a:rPr lang="en-IN" dirty="0"/>
            </a:br>
            <a:r>
              <a:rPr lang="en-IN" dirty="0"/>
              <a:t>D. CLONE</a:t>
            </a:r>
          </a:p>
        </p:txBody>
      </p:sp>
    </p:spTree>
    <p:extLst>
      <p:ext uri="{BB962C8B-B14F-4D97-AF65-F5344CB8AC3E}">
        <p14:creationId xmlns:p14="http://schemas.microsoft.com/office/powerpoint/2010/main" val="24403669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BF32DE-A733-4E95-C265-2CBD78FDCE17}"/>
              </a:ext>
            </a:extLst>
          </p:cNvPr>
          <p:cNvSpPr txBox="1"/>
          <p:nvPr/>
        </p:nvSpPr>
        <p:spPr>
          <a:xfrm>
            <a:off x="295454" y="199731"/>
            <a:ext cx="60945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Fail-safe </a:t>
            </a:r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Additional </a:t>
            </a:r>
            <a:r>
              <a:rPr lang="en-US" b="1" dirty="0"/>
              <a:t>7-day recovery</a:t>
            </a:r>
            <a:r>
              <a:rPr lang="en-US" dirty="0"/>
              <a:t> period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Begins after Time Travel expires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Only Snowflake Support can access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Intended for </a:t>
            </a:r>
            <a:r>
              <a:rPr lang="en-US" b="1" dirty="0"/>
              <a:t>disaster recovery</a:t>
            </a:r>
            <a:endParaRPr lang="en-US" dirty="0"/>
          </a:p>
          <a:p>
            <a:r>
              <a:rPr lang="en-US" b="1" dirty="0"/>
              <a:t>Exam Angle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Users CANNOT query Fail-safe data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    Fail-safe is </a:t>
            </a:r>
            <a:r>
              <a:rPr lang="en-US" b="1" dirty="0"/>
              <a:t>last resort</a:t>
            </a:r>
            <a:endParaRPr lang="en-US" dirty="0"/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Who can access data in Fail-safe?</a:t>
            </a:r>
          </a:p>
          <a:p>
            <a:r>
              <a:rPr lang="en-US" dirty="0"/>
              <a:t>A. ACCOUNTADMIN</a:t>
            </a:r>
            <a:br>
              <a:rPr lang="en-US" dirty="0"/>
            </a:br>
            <a:r>
              <a:rPr lang="en-US" dirty="0"/>
              <a:t>B. SECURITYADMIN</a:t>
            </a:r>
            <a:br>
              <a:rPr lang="en-US" dirty="0"/>
            </a:br>
            <a:r>
              <a:rPr lang="en-US" dirty="0"/>
              <a:t>C. SYSADMIN</a:t>
            </a:r>
            <a:br>
              <a:rPr lang="en-US" dirty="0"/>
            </a:br>
            <a:r>
              <a:rPr lang="en-US" dirty="0"/>
              <a:t>D. Snowflake Support only ✅</a:t>
            </a:r>
          </a:p>
        </p:txBody>
      </p:sp>
    </p:spTree>
    <p:extLst>
      <p:ext uri="{BB962C8B-B14F-4D97-AF65-F5344CB8AC3E}">
        <p14:creationId xmlns:p14="http://schemas.microsoft.com/office/powerpoint/2010/main" val="35268472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EC3286-53B4-5A2C-8801-F9D807673A4B}"/>
              </a:ext>
            </a:extLst>
          </p:cNvPr>
          <p:cNvSpPr txBox="1"/>
          <p:nvPr/>
        </p:nvSpPr>
        <p:spPr>
          <a:xfrm>
            <a:off x="347213" y="173330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Travel vs Fail-safe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3BADCF-F91E-4987-7709-C628B12AF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131775"/>
              </p:ext>
            </p:extLst>
          </p:nvPr>
        </p:nvGraphicFramePr>
        <p:xfrm>
          <a:off x="347213" y="791848"/>
          <a:ext cx="10131426" cy="182880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3124931592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2116800387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35901191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Time Travel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Fail-safe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0255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User accessible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2128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Queryable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2985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Configurable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685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Mistake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Disaster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0171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154484A-7A41-0D6D-6D69-8D4170A4B69F}"/>
              </a:ext>
            </a:extLst>
          </p:cNvPr>
          <p:cNvSpPr txBox="1"/>
          <p:nvPr/>
        </p:nvSpPr>
        <p:spPr>
          <a:xfrm>
            <a:off x="260949" y="2998503"/>
            <a:ext cx="60945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 Angle</a:t>
            </a: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  Any “user can query” → Time Travel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feature allows users to query historical data?</a:t>
            </a:r>
          </a:p>
          <a:p>
            <a:r>
              <a:rPr lang="en-IN" dirty="0"/>
              <a:t>A. Fail-safe</a:t>
            </a:r>
            <a:br>
              <a:rPr lang="en-IN" dirty="0"/>
            </a:br>
            <a:r>
              <a:rPr lang="en-IN" dirty="0"/>
              <a:t>B. Replication</a:t>
            </a:r>
            <a:br>
              <a:rPr lang="en-IN" dirty="0"/>
            </a:br>
            <a:r>
              <a:rPr lang="en-IN" dirty="0"/>
              <a:t>C. Time Travel </a:t>
            </a:r>
            <a:br>
              <a:rPr lang="en-IN" dirty="0"/>
            </a:br>
            <a:r>
              <a:rPr lang="en-IN" dirty="0"/>
              <a:t>D. Cloning</a:t>
            </a:r>
          </a:p>
        </p:txBody>
      </p:sp>
    </p:spTree>
    <p:extLst>
      <p:ext uri="{BB962C8B-B14F-4D97-AF65-F5344CB8AC3E}">
        <p14:creationId xmlns:p14="http://schemas.microsoft.com/office/powerpoint/2010/main" val="32343501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BC3A71-6114-0F3A-688C-11FECC70745B}"/>
              </a:ext>
            </a:extLst>
          </p:cNvPr>
          <p:cNvSpPr txBox="1"/>
          <p:nvPr/>
        </p:nvSpPr>
        <p:spPr>
          <a:xfrm>
            <a:off x="131552" y="267419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Zero-Copy Cloning </a:t>
            </a:r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Creates instant copies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Schemas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Databases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No physical data duplication initially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Uses Time Travel metadata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Storage shared until changes occur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“Clone duplicates data immediately” → ❌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What is TRUE about zero-copy cloning?</a:t>
            </a:r>
          </a:p>
          <a:p>
            <a:r>
              <a:rPr lang="en-IN" dirty="0"/>
              <a:t>A. Data copied immediately</a:t>
            </a:r>
            <a:br>
              <a:rPr lang="en-IN" dirty="0"/>
            </a:br>
            <a:r>
              <a:rPr lang="en-IN" dirty="0"/>
              <a:t>B. Requires extra storage upfront</a:t>
            </a:r>
            <a:br>
              <a:rPr lang="en-IN" dirty="0"/>
            </a:br>
            <a:r>
              <a:rPr lang="en-IN" dirty="0"/>
              <a:t>C. Storage is shared initially </a:t>
            </a:r>
            <a:br>
              <a:rPr lang="en-IN" dirty="0"/>
            </a:br>
            <a:r>
              <a:rPr lang="en-IN" dirty="0"/>
              <a:t>D. Clone is read-only</a:t>
            </a:r>
          </a:p>
        </p:txBody>
      </p:sp>
    </p:spTree>
    <p:extLst>
      <p:ext uri="{BB962C8B-B14F-4D97-AF65-F5344CB8AC3E}">
        <p14:creationId xmlns:p14="http://schemas.microsoft.com/office/powerpoint/2010/main" val="21961473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EEDA41-F82F-CDE9-0161-FAC165F0EB74}"/>
              </a:ext>
            </a:extLst>
          </p:cNvPr>
          <p:cNvSpPr txBox="1"/>
          <p:nvPr/>
        </p:nvSpPr>
        <p:spPr>
          <a:xfrm>
            <a:off x="226443" y="334373"/>
            <a:ext cx="60945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 Summary</a:t>
            </a:r>
          </a:p>
          <a:p>
            <a:r>
              <a:rPr lang="en-US" b="1" dirty="0"/>
              <a:t>Must-Remember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Time Travel = user-accessible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Fail-safe = Snowflake only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UNDROP works within Time Travel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Cloning = instant + storage efficient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Edition matters for retention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feature is BEST for creating a dev copy instantly?</a:t>
            </a:r>
          </a:p>
          <a:p>
            <a:r>
              <a:rPr lang="en-US" dirty="0"/>
              <a:t>A. Backup</a:t>
            </a:r>
            <a:br>
              <a:rPr lang="en-US" dirty="0"/>
            </a:br>
            <a:r>
              <a:rPr lang="en-US" dirty="0"/>
              <a:t>B. Replication</a:t>
            </a:r>
            <a:br>
              <a:rPr lang="en-US" dirty="0"/>
            </a:br>
            <a:r>
              <a:rPr lang="en-US" dirty="0"/>
              <a:t>C. Zero-copy cloning </a:t>
            </a:r>
            <a:br>
              <a:rPr lang="en-US" dirty="0"/>
            </a:br>
            <a:r>
              <a:rPr lang="en-US" dirty="0"/>
              <a:t>D. Fail-safe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1787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34FE68-B7EC-CDF1-1976-E48E58B29D19}"/>
              </a:ext>
            </a:extLst>
          </p:cNvPr>
          <p:cNvSpPr txBox="1"/>
          <p:nvPr/>
        </p:nvSpPr>
        <p:spPr>
          <a:xfrm>
            <a:off x="562873" y="362201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Snowflake Security Model</a:t>
            </a:r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Snowflake uses </a:t>
            </a:r>
            <a:r>
              <a:rPr lang="en-IN" b="1" dirty="0"/>
              <a:t>Role-Based Access Control (RBAC)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Access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Centralized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Hierarchical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Enforced by Cloud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Users never get privileges directly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“Grant privilege to user” → ❌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Always think: </a:t>
            </a:r>
            <a:r>
              <a:rPr lang="en-IN" b="1" dirty="0"/>
              <a:t>User → Role → Privilege → Object</a:t>
            </a:r>
            <a:endParaRPr lang="en-IN" dirty="0"/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In Snowflake, privileges are granted to:</a:t>
            </a:r>
          </a:p>
          <a:p>
            <a:r>
              <a:rPr lang="en-IN" dirty="0"/>
              <a:t>A. Users</a:t>
            </a:r>
            <a:br>
              <a:rPr lang="en-IN" dirty="0"/>
            </a:br>
            <a:r>
              <a:rPr lang="en-IN" dirty="0"/>
              <a:t>B. Warehouses</a:t>
            </a:r>
            <a:br>
              <a:rPr lang="en-IN" dirty="0"/>
            </a:br>
            <a:r>
              <a:rPr lang="en-IN" dirty="0"/>
              <a:t>C. Roles </a:t>
            </a:r>
            <a:br>
              <a:rPr lang="en-IN" dirty="0"/>
            </a:br>
            <a:r>
              <a:rPr lang="en-IN" dirty="0"/>
              <a:t>D. Databases</a:t>
            </a:r>
          </a:p>
        </p:txBody>
      </p:sp>
    </p:spTree>
    <p:extLst>
      <p:ext uri="{BB962C8B-B14F-4D97-AF65-F5344CB8AC3E}">
        <p14:creationId xmlns:p14="http://schemas.microsoft.com/office/powerpoint/2010/main" val="26997790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3066E7-11C3-D6A0-C3AA-2C8C4F443368}"/>
              </a:ext>
            </a:extLst>
          </p:cNvPr>
          <p:cNvSpPr txBox="1"/>
          <p:nvPr/>
        </p:nvSpPr>
        <p:spPr>
          <a:xfrm>
            <a:off x="493863" y="363155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RBAC Core Principles</a:t>
            </a:r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Users can have multiple roles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Roles can inherit from other roles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One </a:t>
            </a:r>
            <a:r>
              <a:rPr lang="en-US" b="1" dirty="0"/>
              <a:t>active role</a:t>
            </a:r>
            <a:r>
              <a:rPr lang="en-US" dirty="0"/>
              <a:t> at a 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PUBLIC role assigned to all users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Role inheritance is </a:t>
            </a:r>
            <a:r>
              <a:rPr lang="en-US" b="1" dirty="0"/>
              <a:t>one-directional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PUBLIC ≠ full access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Least privilege → layered roles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statement about roles is TRUE?</a:t>
            </a:r>
          </a:p>
          <a:p>
            <a:r>
              <a:rPr lang="en-US" dirty="0"/>
              <a:t>A. Roles cannot inherit</a:t>
            </a:r>
            <a:br>
              <a:rPr lang="en-US" dirty="0"/>
            </a:br>
            <a:r>
              <a:rPr lang="en-US" dirty="0"/>
              <a:t>B. Users have only one role</a:t>
            </a:r>
            <a:br>
              <a:rPr lang="en-US" dirty="0"/>
            </a:br>
            <a:r>
              <a:rPr lang="en-US" dirty="0"/>
              <a:t>C. Roles can be hierarchical </a:t>
            </a:r>
            <a:br>
              <a:rPr lang="en-US" dirty="0"/>
            </a:br>
            <a:r>
              <a:rPr lang="en-US" dirty="0"/>
              <a:t>D. PUBLIC has admin privileges</a:t>
            </a:r>
          </a:p>
        </p:txBody>
      </p:sp>
    </p:spTree>
    <p:extLst>
      <p:ext uri="{BB962C8B-B14F-4D97-AF65-F5344CB8AC3E}">
        <p14:creationId xmlns:p14="http://schemas.microsoft.com/office/powerpoint/2010/main" val="13187614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577C09-53FA-9D44-78B4-D40078EDFD78}"/>
              </a:ext>
            </a:extLst>
          </p:cNvPr>
          <p:cNvSpPr txBox="1"/>
          <p:nvPr/>
        </p:nvSpPr>
        <p:spPr>
          <a:xfrm>
            <a:off x="640512" y="552936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RBAC Core Principles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Users can have multiple roles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Roles can inherit from other roles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 </a:t>
            </a:r>
            <a:r>
              <a:rPr lang="en-US" b="1" dirty="0"/>
              <a:t>active role</a:t>
            </a:r>
            <a:r>
              <a:rPr lang="en-US" dirty="0"/>
              <a:t> at a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PUBLIC role assigned to all users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Role inheritance is </a:t>
            </a:r>
            <a:r>
              <a:rPr lang="en-US" b="1" dirty="0"/>
              <a:t>one-directional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PUBLIC ≠ full access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Least privilege → layered roles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statement about roles is TRUE?</a:t>
            </a:r>
          </a:p>
          <a:p>
            <a:r>
              <a:rPr lang="en-US" dirty="0"/>
              <a:t>A. Roles cannot inherit</a:t>
            </a:r>
            <a:br>
              <a:rPr lang="en-US" dirty="0"/>
            </a:br>
            <a:r>
              <a:rPr lang="en-US" dirty="0"/>
              <a:t>B. Users have only one role</a:t>
            </a:r>
            <a:br>
              <a:rPr lang="en-US" dirty="0"/>
            </a:br>
            <a:r>
              <a:rPr lang="en-US" dirty="0"/>
              <a:t>C. Roles can be hierarchical </a:t>
            </a:r>
            <a:br>
              <a:rPr lang="en-US" dirty="0"/>
            </a:br>
            <a:r>
              <a:rPr lang="en-US" dirty="0"/>
              <a:t>D. PUBLIC has admin privileges</a:t>
            </a:r>
          </a:p>
        </p:txBody>
      </p:sp>
    </p:spTree>
    <p:extLst>
      <p:ext uri="{BB962C8B-B14F-4D97-AF65-F5344CB8AC3E}">
        <p14:creationId xmlns:p14="http://schemas.microsoft.com/office/powerpoint/2010/main" val="29778652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6F625F-04BB-1A1C-B14E-48B8D57AD670}"/>
              </a:ext>
            </a:extLst>
          </p:cNvPr>
          <p:cNvSpPr txBox="1"/>
          <p:nvPr/>
        </p:nvSpPr>
        <p:spPr>
          <a:xfrm>
            <a:off x="744028" y="302295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Role Hierarchy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ACCOUNTADMIN 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SYSADMIN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SECURITYADMIN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SYSADMIN owns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SECURITYADMIN controls access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ACCOUNTADMIN should NOT be used daily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Daily work → SYSADMIN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Governance → SECURITYADMIN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role is recommended for daily object creation?</a:t>
            </a:r>
          </a:p>
          <a:p>
            <a:r>
              <a:rPr lang="en-IN" dirty="0"/>
              <a:t>A. ACCOUNTADMIN</a:t>
            </a:r>
            <a:br>
              <a:rPr lang="en-IN" dirty="0"/>
            </a:br>
            <a:r>
              <a:rPr lang="en-IN" dirty="0"/>
              <a:t>B. SYSADMIN </a:t>
            </a:r>
            <a:br>
              <a:rPr lang="en-IN" dirty="0"/>
            </a:br>
            <a:r>
              <a:rPr lang="en-IN" dirty="0"/>
              <a:t>C. SECURITYADMIN</a:t>
            </a:r>
            <a:br>
              <a:rPr lang="en-IN" dirty="0"/>
            </a:br>
            <a:r>
              <a:rPr lang="en-IN" dirty="0"/>
              <a:t>D. USERADMIN</a:t>
            </a:r>
          </a:p>
        </p:txBody>
      </p:sp>
    </p:spTree>
    <p:extLst>
      <p:ext uri="{BB962C8B-B14F-4D97-AF65-F5344CB8AC3E}">
        <p14:creationId xmlns:p14="http://schemas.microsoft.com/office/powerpoint/2010/main" val="35277090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5C4FFE-A489-F439-5CFF-7DBAFE2CC0F9}"/>
              </a:ext>
            </a:extLst>
          </p:cNvPr>
          <p:cNvSpPr txBox="1"/>
          <p:nvPr/>
        </p:nvSpPr>
        <p:spPr>
          <a:xfrm>
            <a:off x="424851" y="241388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Privileges</a:t>
            </a:r>
            <a:r>
              <a:rPr lang="fr-FR" b="1" dirty="0"/>
              <a:t> &amp; GRANT Logic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Syntax</a:t>
            </a:r>
            <a:r>
              <a:rPr lang="fr-FR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Grant &lt;</a:t>
            </a:r>
            <a:r>
              <a:rPr lang="fr-FR" dirty="0" err="1"/>
              <a:t>privilage</a:t>
            </a:r>
            <a:r>
              <a:rPr lang="fr-FR" dirty="0"/>
              <a:t>&gt; on </a:t>
            </a:r>
            <a:r>
              <a:rPr lang="fr-FR" dirty="0" err="1"/>
              <a:t>object</a:t>
            </a:r>
            <a:r>
              <a:rPr lang="fr-FR" dirty="0"/>
              <a:t> to </a:t>
            </a:r>
            <a:r>
              <a:rPr lang="fr-FR" dirty="0" err="1"/>
              <a:t>role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 GRANT OPTION: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Allows role to re-grant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Privileges apply at object level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GRANT OPTION ≠ ownership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Delegation needed → WITH GRANT OPTION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What does WITH GRANT OPTION allow?</a:t>
            </a:r>
          </a:p>
          <a:p>
            <a:r>
              <a:rPr lang="en-US" dirty="0"/>
              <a:t>A. Transfer ownership</a:t>
            </a:r>
            <a:br>
              <a:rPr lang="en-US" dirty="0"/>
            </a:br>
            <a:r>
              <a:rPr lang="en-US" dirty="0"/>
              <a:t>B. Revoke privileges</a:t>
            </a:r>
            <a:br>
              <a:rPr lang="en-US" dirty="0"/>
            </a:br>
            <a:r>
              <a:rPr lang="en-US" dirty="0"/>
              <a:t>C. Grant same privilege to others </a:t>
            </a:r>
            <a:br>
              <a:rPr lang="en-US" dirty="0"/>
            </a:br>
            <a:r>
              <a:rPr lang="en-US" dirty="0"/>
              <a:t>D. Enable Time Travel</a:t>
            </a:r>
          </a:p>
          <a:p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7405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377938-0A8A-95AF-8A25-D91AF7E0DAA8}"/>
              </a:ext>
            </a:extLst>
          </p:cNvPr>
          <p:cNvSpPr txBox="1"/>
          <p:nvPr/>
        </p:nvSpPr>
        <p:spPr>
          <a:xfrm>
            <a:off x="640511" y="379932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Ownership vs Privileges</a:t>
            </a:r>
          </a:p>
          <a:p>
            <a:r>
              <a:rPr lang="en-US" b="1" dirty="0"/>
              <a:t>Concept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Ownership: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Full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drop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Privileges: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Limited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Ownership can be transferred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Owner ≠ highest role always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Drop / alter object → ownership required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capability is unique to an object owner?</a:t>
            </a:r>
          </a:p>
          <a:p>
            <a:r>
              <a:rPr lang="en-US" dirty="0"/>
              <a:t>A. SELECT</a:t>
            </a:r>
            <a:br>
              <a:rPr lang="en-US" dirty="0"/>
            </a:br>
            <a:r>
              <a:rPr lang="en-US" dirty="0"/>
              <a:t>B. INSERT</a:t>
            </a:r>
            <a:br>
              <a:rPr lang="en-US" dirty="0"/>
            </a:br>
            <a:r>
              <a:rPr lang="en-US" dirty="0"/>
              <a:t>C. DROP </a:t>
            </a:r>
            <a:br>
              <a:rPr lang="en-US" dirty="0"/>
            </a:br>
            <a:r>
              <a:rPr lang="en-US" dirty="0"/>
              <a:t>D. VIEW</a:t>
            </a:r>
          </a:p>
        </p:txBody>
      </p:sp>
    </p:spTree>
    <p:extLst>
      <p:ext uri="{BB962C8B-B14F-4D97-AF65-F5344CB8AC3E}">
        <p14:creationId xmlns:p14="http://schemas.microsoft.com/office/powerpoint/2010/main" val="17497401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990369-C12E-C492-D36B-970F716A10E0}"/>
              </a:ext>
            </a:extLst>
          </p:cNvPr>
          <p:cNvSpPr txBox="1"/>
          <p:nvPr/>
        </p:nvSpPr>
        <p:spPr>
          <a:xfrm>
            <a:off x="424850" y="441270"/>
            <a:ext cx="60945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Masking Policies </a:t>
            </a:r>
          </a:p>
          <a:p>
            <a:pPr lvl="1"/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Protect sensitive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Applied dynamically at query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Based on role context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Does NOT change stored data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Masking ≠ encryption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PII columns → masking policy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When is masking policy applied?</a:t>
            </a:r>
          </a:p>
          <a:p>
            <a:r>
              <a:rPr lang="en-IN" dirty="0"/>
              <a:t>A. During data load</a:t>
            </a:r>
            <a:br>
              <a:rPr lang="en-IN" dirty="0"/>
            </a:br>
            <a:r>
              <a:rPr lang="en-IN" dirty="0"/>
              <a:t>B. During storage</a:t>
            </a:r>
            <a:br>
              <a:rPr lang="en-IN" dirty="0"/>
            </a:br>
            <a:r>
              <a:rPr lang="en-IN" dirty="0"/>
              <a:t>C. During query execution ✅</a:t>
            </a:r>
            <a:br>
              <a:rPr lang="en-IN" dirty="0"/>
            </a:br>
            <a:r>
              <a:rPr lang="en-IN" dirty="0"/>
              <a:t>D. During cloning</a:t>
            </a:r>
          </a:p>
        </p:txBody>
      </p:sp>
    </p:spTree>
    <p:extLst>
      <p:ext uri="{BB962C8B-B14F-4D97-AF65-F5344CB8AC3E}">
        <p14:creationId xmlns:p14="http://schemas.microsoft.com/office/powerpoint/2010/main" val="36403318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9E2C62-786C-72FA-B7C7-BA74FEE1E665}"/>
              </a:ext>
            </a:extLst>
          </p:cNvPr>
          <p:cNvSpPr txBox="1"/>
          <p:nvPr/>
        </p:nvSpPr>
        <p:spPr>
          <a:xfrm>
            <a:off x="580126" y="448943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Row Access Policies (High-Level)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Filters rows dynamically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Based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Role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User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Enforced at query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Used for data segregation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Row access ≠ WHERE clause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Region-based access → row access policy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Row access policies control:</a:t>
            </a:r>
          </a:p>
          <a:p>
            <a:r>
              <a:rPr lang="en-IN" dirty="0"/>
              <a:t>A. Columns returned</a:t>
            </a:r>
            <a:br>
              <a:rPr lang="en-IN" dirty="0"/>
            </a:br>
            <a:r>
              <a:rPr lang="en-IN" dirty="0"/>
              <a:t>B. Rows returned </a:t>
            </a:r>
            <a:br>
              <a:rPr lang="en-IN" dirty="0"/>
            </a:br>
            <a:r>
              <a:rPr lang="en-IN" dirty="0"/>
              <a:t>C. Storage format</a:t>
            </a:r>
            <a:br>
              <a:rPr lang="en-IN" dirty="0"/>
            </a:br>
            <a:r>
              <a:rPr lang="en-IN" dirty="0"/>
              <a:t>D. Data loading</a:t>
            </a:r>
          </a:p>
        </p:txBody>
      </p:sp>
    </p:spTree>
    <p:extLst>
      <p:ext uri="{BB962C8B-B14F-4D97-AF65-F5344CB8AC3E}">
        <p14:creationId xmlns:p14="http://schemas.microsoft.com/office/powerpoint/2010/main" val="28415017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BC9A46-55B0-005D-A839-871ED2BF3D10}"/>
              </a:ext>
            </a:extLst>
          </p:cNvPr>
          <p:cNvSpPr txBox="1"/>
          <p:nvPr/>
        </p:nvSpPr>
        <p:spPr>
          <a:xfrm>
            <a:off x="321334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Masking vs Row Access 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24277D-5EF4-2056-A974-11B49B551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630972"/>
              </p:ext>
            </p:extLst>
          </p:nvPr>
        </p:nvGraphicFramePr>
        <p:xfrm>
          <a:off x="418381" y="966102"/>
          <a:ext cx="10131426" cy="14630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2597758458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608744285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6913281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Masking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Row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1285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Affects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244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Applied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Query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Query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6038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Data segregation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6725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6CD055-1D99-5F88-D185-D8D1D9B9418B}"/>
              </a:ext>
            </a:extLst>
          </p:cNvPr>
          <p:cNvSpPr txBox="1"/>
          <p:nvPr/>
        </p:nvSpPr>
        <p:spPr>
          <a:xfrm>
            <a:off x="265262" y="2752577"/>
            <a:ext cx="60945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 Angle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Column vs row confusion is common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feature hides salary values but shows all rows?</a:t>
            </a:r>
          </a:p>
          <a:p>
            <a:r>
              <a:rPr lang="en-IN" dirty="0"/>
              <a:t>A. Row access</a:t>
            </a:r>
            <a:br>
              <a:rPr lang="en-IN" dirty="0"/>
            </a:br>
            <a:r>
              <a:rPr lang="en-IN" dirty="0"/>
              <a:t>B. Network policy</a:t>
            </a:r>
            <a:br>
              <a:rPr lang="en-IN" dirty="0"/>
            </a:br>
            <a:r>
              <a:rPr lang="en-IN" dirty="0"/>
              <a:t>C. Masking policy </a:t>
            </a:r>
            <a:br>
              <a:rPr lang="en-IN" dirty="0"/>
            </a:br>
            <a:r>
              <a:rPr lang="en-IN" dirty="0"/>
              <a:t>D. Clustering</a:t>
            </a:r>
          </a:p>
        </p:txBody>
      </p:sp>
    </p:spTree>
    <p:extLst>
      <p:ext uri="{BB962C8B-B14F-4D97-AF65-F5344CB8AC3E}">
        <p14:creationId xmlns:p14="http://schemas.microsoft.com/office/powerpoint/2010/main" val="570872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0BE8FE-4111-2C92-1F80-32ED32BB3C43}"/>
              </a:ext>
            </a:extLst>
          </p:cNvPr>
          <p:cNvSpPr txBox="1"/>
          <p:nvPr/>
        </p:nvSpPr>
        <p:spPr>
          <a:xfrm>
            <a:off x="519741" y="294144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Network Policies (Access Control)</a:t>
            </a:r>
          </a:p>
          <a:p>
            <a:r>
              <a:rPr lang="en-US" b="1" dirty="0"/>
              <a:t>Concept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Restrict access by IP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at: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Account 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Controls </a:t>
            </a:r>
            <a:r>
              <a:rPr lang="en-US" b="1" dirty="0"/>
              <a:t>who can connect</a:t>
            </a:r>
            <a:r>
              <a:rPr lang="en-US" dirty="0"/>
              <a:t>, not what data they see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policy ≠ data filtering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Restrict access locations → network policy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Network policies are used to:</a:t>
            </a:r>
          </a:p>
          <a:p>
            <a:r>
              <a:rPr lang="en-US" dirty="0"/>
              <a:t>A. Mask columns</a:t>
            </a:r>
            <a:br>
              <a:rPr lang="en-US" dirty="0"/>
            </a:br>
            <a:r>
              <a:rPr lang="en-US" dirty="0"/>
              <a:t>B. Filter rows</a:t>
            </a:r>
            <a:br>
              <a:rPr lang="en-US" dirty="0"/>
            </a:br>
            <a:r>
              <a:rPr lang="en-US" dirty="0"/>
              <a:t>C. Restrict IP access </a:t>
            </a:r>
            <a:br>
              <a:rPr lang="en-US" dirty="0"/>
            </a:br>
            <a:r>
              <a:rPr lang="en-US" dirty="0"/>
              <a:t>D. Encrypt data</a:t>
            </a:r>
          </a:p>
        </p:txBody>
      </p:sp>
    </p:spTree>
    <p:extLst>
      <p:ext uri="{BB962C8B-B14F-4D97-AF65-F5344CB8AC3E}">
        <p14:creationId xmlns:p14="http://schemas.microsoft.com/office/powerpoint/2010/main" val="31932004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7E6D71-05E8-4CC8-166B-8CDEB34261B3}"/>
              </a:ext>
            </a:extLst>
          </p:cNvPr>
          <p:cNvSpPr txBox="1"/>
          <p:nvPr/>
        </p:nvSpPr>
        <p:spPr>
          <a:xfrm>
            <a:off x="209191" y="303248"/>
            <a:ext cx="60945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Governance: Putting It All Together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RBAC → who can do what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Masking → what values they see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Row access → which rows they see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Network policy → from where they connect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Multiple controls work together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Security is layered, not single control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combination best enforces data security?</a:t>
            </a:r>
          </a:p>
          <a:p>
            <a:r>
              <a:rPr lang="en-US" dirty="0"/>
              <a:t>A. RBAC only</a:t>
            </a:r>
            <a:br>
              <a:rPr lang="en-US" dirty="0"/>
            </a:br>
            <a:r>
              <a:rPr lang="en-US" dirty="0"/>
              <a:t>B. Masking only</a:t>
            </a:r>
            <a:br>
              <a:rPr lang="en-US" dirty="0"/>
            </a:br>
            <a:r>
              <a:rPr lang="en-US" dirty="0"/>
              <a:t>C. RBAC + masking + row access </a:t>
            </a:r>
            <a:br>
              <a:rPr lang="en-US" dirty="0"/>
            </a:br>
            <a:r>
              <a:rPr lang="en-US" dirty="0"/>
              <a:t>D. Clustering</a:t>
            </a:r>
          </a:p>
        </p:txBody>
      </p:sp>
    </p:spTree>
    <p:extLst>
      <p:ext uri="{BB962C8B-B14F-4D97-AF65-F5344CB8AC3E}">
        <p14:creationId xmlns:p14="http://schemas.microsoft.com/office/powerpoint/2010/main" val="34820357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353F9B-4D73-B824-21D0-9EBD4C13F6F5}"/>
              </a:ext>
            </a:extLst>
          </p:cNvPr>
          <p:cNvSpPr txBox="1"/>
          <p:nvPr/>
        </p:nvSpPr>
        <p:spPr>
          <a:xfrm>
            <a:off x="269575" y="342998"/>
            <a:ext cx="60945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 Summary</a:t>
            </a:r>
          </a:p>
          <a:p>
            <a:r>
              <a:rPr lang="en-US" b="1" dirty="0"/>
              <a:t>Must-Remember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Privileges → roles, not 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SYSADMIN ≠ SECURITYADMIN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Masking = column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Row access = row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Network policy = IP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role primarily manages object privileges?</a:t>
            </a:r>
          </a:p>
          <a:p>
            <a:r>
              <a:rPr lang="en-US" dirty="0"/>
              <a:t>A. USERADMIN</a:t>
            </a:r>
            <a:br>
              <a:rPr lang="en-US" dirty="0"/>
            </a:br>
            <a:r>
              <a:rPr lang="en-US" dirty="0"/>
              <a:t>B. SYSADMIN</a:t>
            </a:r>
            <a:br>
              <a:rPr lang="en-US" dirty="0"/>
            </a:br>
            <a:r>
              <a:rPr lang="en-US" dirty="0"/>
              <a:t>C. SECURITYADMIN</a:t>
            </a:r>
            <a:br>
              <a:rPr lang="en-US" dirty="0"/>
            </a:br>
            <a:r>
              <a:rPr lang="en-US" dirty="0"/>
              <a:t>D. PUBLIC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4746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1249DF-1C5C-FD53-0EAF-0A40E028240A}"/>
              </a:ext>
            </a:extLst>
          </p:cNvPr>
          <p:cNvSpPr txBox="1"/>
          <p:nvPr/>
        </p:nvSpPr>
        <p:spPr>
          <a:xfrm>
            <a:off x="511115" y="354485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Masking vs Row Access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D82F2C-A4B1-6978-C98E-BD07C200B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133459"/>
              </p:ext>
            </p:extLst>
          </p:nvPr>
        </p:nvGraphicFramePr>
        <p:xfrm>
          <a:off x="511115" y="1069619"/>
          <a:ext cx="10131426" cy="14630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933607670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966283780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47586693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Masking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Row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279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Affects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Columns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5460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Applied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Query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Query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5697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Data segregation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3481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0401F2A-2CD6-1CA0-5DAC-F383D39F1337}"/>
              </a:ext>
            </a:extLst>
          </p:cNvPr>
          <p:cNvSpPr txBox="1"/>
          <p:nvPr/>
        </p:nvSpPr>
        <p:spPr>
          <a:xfrm>
            <a:off x="433478" y="2649060"/>
            <a:ext cx="60945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 Angle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Column vs row confusion is common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feature hides salary values but shows all rows?</a:t>
            </a:r>
          </a:p>
          <a:p>
            <a:r>
              <a:rPr lang="en-IN" dirty="0"/>
              <a:t>A. Row access</a:t>
            </a:r>
            <a:br>
              <a:rPr lang="en-IN" dirty="0"/>
            </a:br>
            <a:r>
              <a:rPr lang="en-IN" dirty="0"/>
              <a:t>B. Network policy</a:t>
            </a:r>
            <a:br>
              <a:rPr lang="en-IN" dirty="0"/>
            </a:br>
            <a:r>
              <a:rPr lang="en-IN" dirty="0"/>
              <a:t>C. Masking policy</a:t>
            </a:r>
            <a:br>
              <a:rPr lang="en-IN" dirty="0"/>
            </a:br>
            <a:r>
              <a:rPr lang="en-IN" dirty="0"/>
              <a:t>D. Clustering</a:t>
            </a:r>
          </a:p>
        </p:txBody>
      </p:sp>
    </p:spTree>
    <p:extLst>
      <p:ext uri="{BB962C8B-B14F-4D97-AF65-F5344CB8AC3E}">
        <p14:creationId xmlns:p14="http://schemas.microsoft.com/office/powerpoint/2010/main" val="921935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444BC6-0DA2-F902-4E2D-CB35518E0D8A}"/>
              </a:ext>
            </a:extLst>
          </p:cNvPr>
          <p:cNvSpPr txBox="1"/>
          <p:nvPr/>
        </p:nvSpPr>
        <p:spPr>
          <a:xfrm>
            <a:off x="536995" y="475299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Network Policies (Access Control)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Restrict access by IP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at: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Account 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Controls </a:t>
            </a:r>
            <a:r>
              <a:rPr lang="en-US" b="1" dirty="0"/>
              <a:t>who can connect</a:t>
            </a:r>
            <a:r>
              <a:rPr lang="en-US" dirty="0"/>
              <a:t>, not what data they see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policy ≠ data filtering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Restrict access locations → network policy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Network policies are used to:</a:t>
            </a:r>
          </a:p>
          <a:p>
            <a:r>
              <a:rPr lang="en-US" dirty="0"/>
              <a:t>A. Mask columns</a:t>
            </a:r>
            <a:br>
              <a:rPr lang="en-US" dirty="0"/>
            </a:br>
            <a:r>
              <a:rPr lang="en-US" dirty="0"/>
              <a:t>B. Filter rows</a:t>
            </a:r>
            <a:br>
              <a:rPr lang="en-US" dirty="0"/>
            </a:br>
            <a:r>
              <a:rPr lang="en-US" dirty="0"/>
              <a:t>C. Restrict IP access</a:t>
            </a:r>
            <a:br>
              <a:rPr lang="en-US" dirty="0"/>
            </a:br>
            <a:r>
              <a:rPr lang="en-US" dirty="0"/>
              <a:t>D. Encrypt data</a:t>
            </a:r>
          </a:p>
        </p:txBody>
      </p:sp>
    </p:spTree>
    <p:extLst>
      <p:ext uri="{BB962C8B-B14F-4D97-AF65-F5344CB8AC3E}">
        <p14:creationId xmlns:p14="http://schemas.microsoft.com/office/powerpoint/2010/main" val="28810236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51830A-3F83-D1B8-AB12-3C9728042330}"/>
              </a:ext>
            </a:extLst>
          </p:cNvPr>
          <p:cNvSpPr txBox="1"/>
          <p:nvPr/>
        </p:nvSpPr>
        <p:spPr>
          <a:xfrm>
            <a:off x="355839" y="216984"/>
            <a:ext cx="60945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Governance: Putting It All Together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RBAC → who can do what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Masking → what values they see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Row access → which rows they see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Network policy → from where they connect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Multiple controls work together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Security is layered, not single control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combination best enforces data security?</a:t>
            </a:r>
          </a:p>
          <a:p>
            <a:r>
              <a:rPr lang="en-US" dirty="0"/>
              <a:t>A. RBAC only</a:t>
            </a:r>
            <a:br>
              <a:rPr lang="en-US" dirty="0"/>
            </a:br>
            <a:r>
              <a:rPr lang="en-US" dirty="0"/>
              <a:t>B. Masking only</a:t>
            </a:r>
            <a:br>
              <a:rPr lang="en-US" dirty="0"/>
            </a:br>
            <a:r>
              <a:rPr lang="en-US" dirty="0"/>
              <a:t>C. RBAC + masking + row access </a:t>
            </a:r>
            <a:br>
              <a:rPr lang="en-US" dirty="0"/>
            </a:br>
            <a:r>
              <a:rPr lang="en-US" dirty="0"/>
              <a:t>D. Clustering</a:t>
            </a:r>
          </a:p>
        </p:txBody>
      </p:sp>
    </p:spTree>
    <p:extLst>
      <p:ext uri="{BB962C8B-B14F-4D97-AF65-F5344CB8AC3E}">
        <p14:creationId xmlns:p14="http://schemas.microsoft.com/office/powerpoint/2010/main" val="419284459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45A19-22E4-7B47-0E61-3309108F1338}"/>
              </a:ext>
            </a:extLst>
          </p:cNvPr>
          <p:cNvSpPr txBox="1"/>
          <p:nvPr/>
        </p:nvSpPr>
        <p:spPr>
          <a:xfrm>
            <a:off x="726775" y="481021"/>
            <a:ext cx="60945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Module 8: Exam Summary</a:t>
            </a:r>
          </a:p>
          <a:p>
            <a:r>
              <a:rPr lang="en-US" b="1" dirty="0"/>
              <a:t>Must-Remember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Privileges → roles, not 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SYSADMIN ≠ SECURITYADMIN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Masking = column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Row access = row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Network policy = IP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role primarily manages object privileges?</a:t>
            </a:r>
          </a:p>
          <a:p>
            <a:r>
              <a:rPr lang="en-US" dirty="0"/>
              <a:t>A. USERADMIN</a:t>
            </a:r>
            <a:br>
              <a:rPr lang="en-US" dirty="0"/>
            </a:br>
            <a:r>
              <a:rPr lang="en-US" dirty="0"/>
              <a:t>B. SYSADMIN</a:t>
            </a:r>
            <a:br>
              <a:rPr lang="en-US" dirty="0"/>
            </a:br>
            <a:r>
              <a:rPr lang="en-US" dirty="0"/>
              <a:t>C. SECURITYADMIN </a:t>
            </a:r>
            <a:br>
              <a:rPr lang="en-US" dirty="0"/>
            </a:br>
            <a:r>
              <a:rPr lang="en-US" dirty="0"/>
              <a:t>D. PUBLIC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3797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EAB0AD-FF22-BD84-334B-9464A738D067}"/>
              </a:ext>
            </a:extLst>
          </p:cNvPr>
          <p:cNvSpPr txBox="1"/>
          <p:nvPr/>
        </p:nvSpPr>
        <p:spPr>
          <a:xfrm>
            <a:off x="821666" y="388558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Snowflake Performance: What REALLY Matters</a:t>
            </a:r>
          </a:p>
          <a:p>
            <a:br>
              <a:rPr lang="en-IN" dirty="0"/>
            </a:br>
            <a:r>
              <a:rPr lang="en-IN" dirty="0"/>
              <a:t>Snowflake performance depends mainly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Amount of </a:t>
            </a:r>
            <a:r>
              <a:rPr lang="en-IN" b="1" dirty="0"/>
              <a:t>data scanned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Warehouse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Pruning effectiveness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Caching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“Indexes” → 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“Reduce data scanned” → ✅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Slow query → check data scanned first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What most directly improves Snowflake query performance?</a:t>
            </a:r>
          </a:p>
          <a:p>
            <a:r>
              <a:rPr lang="en-IN" dirty="0"/>
              <a:t>A. Adding indexes</a:t>
            </a:r>
            <a:br>
              <a:rPr lang="en-IN" dirty="0"/>
            </a:br>
            <a:r>
              <a:rPr lang="en-IN" dirty="0"/>
              <a:t>B. Increasing storage</a:t>
            </a:r>
            <a:br>
              <a:rPr lang="en-IN" dirty="0"/>
            </a:br>
            <a:r>
              <a:rPr lang="en-IN" dirty="0"/>
              <a:t>C. Reducing data scanned </a:t>
            </a:r>
            <a:br>
              <a:rPr lang="en-IN" dirty="0"/>
            </a:br>
            <a:r>
              <a:rPr lang="en-IN" dirty="0"/>
              <a:t>D. Increasing Time Travel retention</a:t>
            </a:r>
          </a:p>
        </p:txBody>
      </p:sp>
    </p:spTree>
    <p:extLst>
      <p:ext uri="{BB962C8B-B14F-4D97-AF65-F5344CB8AC3E}">
        <p14:creationId xmlns:p14="http://schemas.microsoft.com/office/powerpoint/2010/main" val="39828604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969F32-EE68-0357-7578-A34A5B6F70D6}"/>
              </a:ext>
            </a:extLst>
          </p:cNvPr>
          <p:cNvSpPr txBox="1"/>
          <p:nvPr/>
        </p:nvSpPr>
        <p:spPr>
          <a:xfrm>
            <a:off x="467983" y="327696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Query Profile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Visual execution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Shows: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Execution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Bytes scanned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Bottlenecks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Used for troubleshooting slow queries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Query Profile ≠ cost report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Query Profile ≠ EXPLAIN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Slow query → open Query Profile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What is the primary purpose of Query Profile?</a:t>
            </a:r>
          </a:p>
          <a:p>
            <a:r>
              <a:rPr lang="en-IN" dirty="0"/>
              <a:t>A. Security auditing</a:t>
            </a:r>
            <a:br>
              <a:rPr lang="en-IN" dirty="0"/>
            </a:br>
            <a:r>
              <a:rPr lang="en-IN" dirty="0"/>
              <a:t>B. Cost billing</a:t>
            </a:r>
            <a:br>
              <a:rPr lang="en-IN" dirty="0"/>
            </a:br>
            <a:r>
              <a:rPr lang="en-IN" dirty="0"/>
              <a:t>C. Performance troubleshooting </a:t>
            </a:r>
            <a:br>
              <a:rPr lang="en-IN" dirty="0"/>
            </a:br>
            <a:r>
              <a:rPr lang="en-IN" dirty="0"/>
              <a:t>D. Backup analysis</a:t>
            </a:r>
          </a:p>
        </p:txBody>
      </p:sp>
    </p:spTree>
    <p:extLst>
      <p:ext uri="{BB962C8B-B14F-4D97-AF65-F5344CB8AC3E}">
        <p14:creationId xmlns:p14="http://schemas.microsoft.com/office/powerpoint/2010/main" val="34170976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CC2A89-C0D2-EB70-950C-6D436CE1ADD6}"/>
              </a:ext>
            </a:extLst>
          </p:cNvPr>
          <p:cNvSpPr txBox="1"/>
          <p:nvPr/>
        </p:nvSpPr>
        <p:spPr>
          <a:xfrm>
            <a:off x="580127" y="171944"/>
            <a:ext cx="609456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Warehouse Sizing: Performance vs Cost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Larger warehouse: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Faster execution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Higher credit burn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Smaller warehouse: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Slower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Cheaper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Goal: </a:t>
            </a:r>
            <a:r>
              <a:rPr lang="en-IN" b="1" dirty="0"/>
              <a:t>finish fast, then suspend</a:t>
            </a:r>
            <a:endParaRPr lang="en-IN" dirty="0"/>
          </a:p>
          <a:p>
            <a:r>
              <a:rPr lang="en-IN" b="1" dirty="0"/>
              <a:t>Exam Angle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Bigger ≠ cheaper always</a:t>
            </a:r>
          </a:p>
          <a:p>
            <a:endParaRPr lang="en-IN" dirty="0"/>
          </a:p>
          <a:p>
            <a:r>
              <a:rPr lang="en-IN" b="1" dirty="0"/>
              <a:t>Decision Logic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Short heavy jobs → bigger warehouse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Long light jobs → smaller warehouse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Which strategy often minimizes cost for heavy queries?</a:t>
            </a:r>
          </a:p>
          <a:p>
            <a:r>
              <a:rPr lang="en-IN" dirty="0"/>
              <a:t>A. Small warehouse running long</a:t>
            </a:r>
            <a:br>
              <a:rPr lang="en-IN" dirty="0"/>
            </a:br>
            <a:r>
              <a:rPr lang="en-IN" dirty="0"/>
              <a:t>B. Large warehouse running briefly </a:t>
            </a:r>
            <a:br>
              <a:rPr lang="en-IN" dirty="0"/>
            </a:br>
            <a:r>
              <a:rPr lang="en-IN" dirty="0"/>
              <a:t>C. Disable auto-suspend</a:t>
            </a:r>
            <a:br>
              <a:rPr lang="en-IN" dirty="0"/>
            </a:br>
            <a:r>
              <a:rPr lang="en-IN" dirty="0"/>
              <a:t>D. Use result cache only</a:t>
            </a:r>
          </a:p>
        </p:txBody>
      </p:sp>
    </p:spTree>
    <p:extLst>
      <p:ext uri="{BB962C8B-B14F-4D97-AF65-F5344CB8AC3E}">
        <p14:creationId xmlns:p14="http://schemas.microsoft.com/office/powerpoint/2010/main" val="41766311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2B906C-FC6D-5756-0DA9-205E40676957}"/>
              </a:ext>
            </a:extLst>
          </p:cNvPr>
          <p:cNvSpPr txBox="1"/>
          <p:nvPr/>
        </p:nvSpPr>
        <p:spPr>
          <a:xfrm>
            <a:off x="649136" y="438409"/>
            <a:ext cx="777248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Cost Components in Snowflake</a:t>
            </a:r>
          </a:p>
          <a:p>
            <a:br>
              <a:rPr lang="en-US" dirty="0"/>
            </a:br>
            <a:r>
              <a:rPr lang="en-US" dirty="0"/>
              <a:t>Two primary cost components: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Compute</a:t>
            </a:r>
            <a:r>
              <a:rPr lang="en-US" dirty="0"/>
              <a:t> (credits)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Storage</a:t>
            </a:r>
            <a:endParaRPr lang="en-US" dirty="0"/>
          </a:p>
          <a:p>
            <a:r>
              <a:rPr lang="en-US" dirty="0"/>
              <a:t>Compute: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Charged per second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Warehouse-based</a:t>
            </a:r>
          </a:p>
          <a:p>
            <a:r>
              <a:rPr lang="en-US" dirty="0"/>
              <a:t>Storage: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Based on data volume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Includes Time Travel &amp; Fail-safe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Compute ≫ storage in most cases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Idle warehouse → wasted compute cost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component usually contributes MOST to Snowflake cost?</a:t>
            </a:r>
          </a:p>
          <a:p>
            <a:r>
              <a:rPr lang="en-US" dirty="0"/>
              <a:t>A. Storage</a:t>
            </a:r>
            <a:br>
              <a:rPr lang="en-US" dirty="0"/>
            </a:br>
            <a:r>
              <a:rPr lang="en-US" dirty="0"/>
              <a:t>B. Data transfer</a:t>
            </a:r>
            <a:br>
              <a:rPr lang="en-US" dirty="0"/>
            </a:br>
            <a:r>
              <a:rPr lang="en-US" dirty="0"/>
              <a:t>C. Compute credits </a:t>
            </a:r>
            <a:br>
              <a:rPr lang="en-US" dirty="0"/>
            </a:br>
            <a:r>
              <a:rPr lang="en-US" dirty="0"/>
              <a:t>D. Metadata</a:t>
            </a:r>
          </a:p>
        </p:txBody>
      </p:sp>
    </p:spTree>
    <p:extLst>
      <p:ext uri="{BB962C8B-B14F-4D97-AF65-F5344CB8AC3E}">
        <p14:creationId xmlns:p14="http://schemas.microsoft.com/office/powerpoint/2010/main" val="229053661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483B5-2942-6664-5291-E982E0455A55}"/>
              </a:ext>
            </a:extLst>
          </p:cNvPr>
          <p:cNvSpPr txBox="1"/>
          <p:nvPr/>
        </p:nvSpPr>
        <p:spPr>
          <a:xfrm>
            <a:off x="890676" y="336800"/>
            <a:ext cx="719261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Auto-Suspend &amp; Auto-Resume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Auto-suspend: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Stops credit usage when idle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Auto-resume: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Restarts on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effective cost control feature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Any cost reduction question → auto-suspend likely answer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Non-24×7 workloads → auto-suspend ON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feature MOST effectively reduces wasted compute credits?</a:t>
            </a:r>
          </a:p>
          <a:p>
            <a:r>
              <a:rPr lang="en-US" dirty="0"/>
              <a:t>A. Result cache</a:t>
            </a:r>
            <a:br>
              <a:rPr lang="en-US" dirty="0"/>
            </a:br>
            <a:r>
              <a:rPr lang="en-US" dirty="0"/>
              <a:t>B. Auto-suspend warehouses </a:t>
            </a:r>
            <a:br>
              <a:rPr lang="en-US" dirty="0"/>
            </a:br>
            <a:r>
              <a:rPr lang="en-US" dirty="0"/>
              <a:t>C. Clustering</a:t>
            </a:r>
            <a:br>
              <a:rPr lang="en-US" dirty="0"/>
            </a:br>
            <a:r>
              <a:rPr lang="en-US" dirty="0"/>
              <a:t>D. Replication</a:t>
            </a:r>
          </a:p>
        </p:txBody>
      </p:sp>
    </p:spTree>
    <p:extLst>
      <p:ext uri="{BB962C8B-B14F-4D97-AF65-F5344CB8AC3E}">
        <p14:creationId xmlns:p14="http://schemas.microsoft.com/office/powerpoint/2010/main" val="145133940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C21EB2-565C-D11F-4BF8-DA6E70CEE73A}"/>
              </a:ext>
            </a:extLst>
          </p:cNvPr>
          <p:cNvSpPr txBox="1"/>
          <p:nvPr/>
        </p:nvSpPr>
        <p:spPr>
          <a:xfrm>
            <a:off x="606005" y="172420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Resource Monitors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Track credit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Alert 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Suspend warehouses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Applied at: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Account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Warehouse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Resource monitor ≠ performance tool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Prevent runaway cost → resource monitor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What action can a resource monitor take?</a:t>
            </a:r>
          </a:p>
          <a:p>
            <a:r>
              <a:rPr lang="en-IN" dirty="0"/>
              <a:t>A. Delete data</a:t>
            </a:r>
            <a:br>
              <a:rPr lang="en-IN" dirty="0"/>
            </a:br>
            <a:r>
              <a:rPr lang="en-IN" dirty="0"/>
              <a:t>B. Optimize queries</a:t>
            </a:r>
            <a:br>
              <a:rPr lang="en-IN" dirty="0"/>
            </a:br>
            <a:r>
              <a:rPr lang="en-IN" dirty="0"/>
              <a:t>C. Suspend warehouses ✅</a:t>
            </a:r>
            <a:br>
              <a:rPr lang="en-IN" dirty="0"/>
            </a:br>
            <a:r>
              <a:rPr lang="en-IN" dirty="0"/>
              <a:t>D. Increase storage</a:t>
            </a:r>
          </a:p>
        </p:txBody>
      </p:sp>
    </p:spTree>
    <p:extLst>
      <p:ext uri="{BB962C8B-B14F-4D97-AF65-F5344CB8AC3E}">
        <p14:creationId xmlns:p14="http://schemas.microsoft.com/office/powerpoint/2010/main" val="290811535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844924-6F34-41C9-6166-E90EE29503D3}"/>
              </a:ext>
            </a:extLst>
          </p:cNvPr>
          <p:cNvSpPr txBox="1"/>
          <p:nvPr/>
        </p:nvSpPr>
        <p:spPr>
          <a:xfrm>
            <a:off x="657764" y="216506"/>
            <a:ext cx="609456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Credit Usage Visibility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Snowflake provides views to track: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Credit usage per warehouse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Credit usage per user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Credit usage per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Enables chargeback &amp; optimization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r>
              <a:rPr lang="en-IN" dirty="0"/>
              <a:t>Credit tracking exists at multiple levels</a:t>
            </a:r>
          </a:p>
          <a:p>
            <a:r>
              <a:rPr lang="en-IN" b="1" dirty="0"/>
              <a:t>Decision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Cost analysis → usage views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Credit usage can be </a:t>
            </a:r>
            <a:r>
              <a:rPr lang="en-IN" dirty="0" err="1"/>
              <a:t>analyzed</a:t>
            </a:r>
            <a:r>
              <a:rPr lang="en-IN" dirty="0"/>
              <a:t> at which level?</a:t>
            </a:r>
          </a:p>
          <a:p>
            <a:r>
              <a:rPr lang="en-IN" dirty="0"/>
              <a:t>A. Table</a:t>
            </a:r>
            <a:br>
              <a:rPr lang="en-IN" dirty="0"/>
            </a:br>
            <a:r>
              <a:rPr lang="en-IN" dirty="0"/>
              <a:t>B. Column</a:t>
            </a:r>
            <a:br>
              <a:rPr lang="en-IN" dirty="0"/>
            </a:br>
            <a:r>
              <a:rPr lang="en-IN" dirty="0"/>
              <a:t>C. Warehouse ✅</a:t>
            </a:r>
            <a:br>
              <a:rPr lang="en-IN" dirty="0"/>
            </a:br>
            <a:r>
              <a:rPr lang="en-IN" dirty="0"/>
              <a:t>D. File</a:t>
            </a:r>
          </a:p>
        </p:txBody>
      </p:sp>
    </p:spTree>
    <p:extLst>
      <p:ext uri="{BB962C8B-B14F-4D97-AF65-F5344CB8AC3E}">
        <p14:creationId xmlns:p14="http://schemas.microsoft.com/office/powerpoint/2010/main" val="407186769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2AF26D-7C84-DD8D-EACD-2B965DF4B154}"/>
              </a:ext>
            </a:extLst>
          </p:cNvPr>
          <p:cNvSpPr txBox="1"/>
          <p:nvPr/>
        </p:nvSpPr>
        <p:spPr>
          <a:xfrm>
            <a:off x="355840" y="420636"/>
            <a:ext cx="60945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 Summary</a:t>
            </a:r>
          </a:p>
          <a:p>
            <a:r>
              <a:rPr lang="en-US" b="1" dirty="0"/>
              <a:t>Must-Remember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data scanned = faster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 Profile = troubleshooting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is biggest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Auto-suspend saves most money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Resource monitors prevent overruns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feature helps control runaway compute costs?</a:t>
            </a:r>
          </a:p>
          <a:p>
            <a:r>
              <a:rPr lang="en-US" dirty="0"/>
              <a:t>A. Clustering</a:t>
            </a:r>
            <a:br>
              <a:rPr lang="en-US" dirty="0"/>
            </a:br>
            <a:r>
              <a:rPr lang="en-US" dirty="0"/>
              <a:t>B. Result cache</a:t>
            </a:r>
            <a:br>
              <a:rPr lang="en-US" dirty="0"/>
            </a:br>
            <a:r>
              <a:rPr lang="en-US" dirty="0"/>
              <a:t>C. Resource monitor</a:t>
            </a:r>
            <a:br>
              <a:rPr lang="en-US" dirty="0"/>
            </a:br>
            <a:r>
              <a:rPr lang="en-US" dirty="0"/>
              <a:t>D. Time Travel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476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34606E-589C-082D-6C1D-B83AA8656513}"/>
              </a:ext>
            </a:extLst>
          </p:cNvPr>
          <p:cNvSpPr txBox="1"/>
          <p:nvPr/>
        </p:nvSpPr>
        <p:spPr>
          <a:xfrm>
            <a:off x="666391" y="197346"/>
            <a:ext cx="609456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Secure Data Sharing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Snowflake enables </a:t>
            </a:r>
            <a:r>
              <a:rPr lang="en-US" b="1" dirty="0"/>
              <a:t>secure data sharing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Without copying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Without ETL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Secure views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Shares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Provider–Consumer model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“Data copied to consumer” → ❌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“ETL required” → ❌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Same data, different consumers → data sharing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Which statement about Snowflake data sharing is TRUE?</a:t>
            </a:r>
          </a:p>
          <a:p>
            <a:r>
              <a:rPr lang="en-US" dirty="0"/>
              <a:t>A. Data is copied to the consumer</a:t>
            </a:r>
            <a:br>
              <a:rPr lang="en-US" dirty="0"/>
            </a:br>
            <a:r>
              <a:rPr lang="en-US" dirty="0"/>
              <a:t>B. ETL is required</a:t>
            </a:r>
            <a:br>
              <a:rPr lang="en-US" dirty="0"/>
            </a:br>
            <a:r>
              <a:rPr lang="en-US" dirty="0"/>
              <a:t>C. Data is shared without duplication </a:t>
            </a:r>
            <a:br>
              <a:rPr lang="en-US" dirty="0"/>
            </a:br>
            <a:r>
              <a:rPr lang="en-US" dirty="0"/>
              <a:t>D. Consumer uses provider warehouse</a:t>
            </a:r>
          </a:p>
        </p:txBody>
      </p:sp>
    </p:spTree>
    <p:extLst>
      <p:ext uri="{BB962C8B-B14F-4D97-AF65-F5344CB8AC3E}">
        <p14:creationId xmlns:p14="http://schemas.microsoft.com/office/powerpoint/2010/main" val="125480868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6C619D-C4FE-99EF-B5B8-E6CEEC08456F}"/>
              </a:ext>
            </a:extLst>
          </p:cNvPr>
          <p:cNvSpPr txBox="1"/>
          <p:nvPr/>
        </p:nvSpPr>
        <p:spPr>
          <a:xfrm>
            <a:off x="485236" y="206926"/>
            <a:ext cx="60945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Provider vs Consumer Responsibilities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Provider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Owns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Controls access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Pays for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Consumer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Queries shared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Uses own warehouse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Pays for compute</a:t>
            </a:r>
          </a:p>
          <a:p>
            <a:r>
              <a:rPr lang="en-IN" b="1" dirty="0"/>
              <a:t>Exam Angle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Cost responsibility questions are common</a:t>
            </a:r>
          </a:p>
          <a:p>
            <a:r>
              <a:rPr lang="en-IN" b="1" dirty="0"/>
              <a:t>Decision Logic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Compute always paid by whoever runs the warehouse</a:t>
            </a:r>
          </a:p>
          <a:p>
            <a:r>
              <a:rPr lang="en-IN" b="1" dirty="0"/>
              <a:t>MCQ</a:t>
            </a:r>
            <a:br>
              <a:rPr lang="en-IN" dirty="0"/>
            </a:br>
            <a:r>
              <a:rPr lang="en-IN" dirty="0"/>
              <a:t>Who pays for compute when querying shared data?</a:t>
            </a:r>
          </a:p>
          <a:p>
            <a:r>
              <a:rPr lang="en-IN" dirty="0"/>
              <a:t>A. Provider</a:t>
            </a:r>
            <a:br>
              <a:rPr lang="en-IN" dirty="0"/>
            </a:br>
            <a:r>
              <a:rPr lang="en-IN" dirty="0"/>
              <a:t>B. Snowflake</a:t>
            </a:r>
            <a:br>
              <a:rPr lang="en-IN" dirty="0"/>
            </a:br>
            <a:r>
              <a:rPr lang="en-IN" dirty="0"/>
              <a:t>C. Consumer </a:t>
            </a:r>
          </a:p>
        </p:txBody>
      </p:sp>
    </p:spTree>
    <p:extLst>
      <p:ext uri="{BB962C8B-B14F-4D97-AF65-F5344CB8AC3E}">
        <p14:creationId xmlns:p14="http://schemas.microsoft.com/office/powerpoint/2010/main" val="11803487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329F5A-793F-A901-1550-00A617CF94A2}"/>
              </a:ext>
            </a:extLst>
          </p:cNvPr>
          <p:cNvSpPr txBox="1"/>
          <p:nvPr/>
        </p:nvSpPr>
        <p:spPr>
          <a:xfrm>
            <a:off x="312707" y="267788"/>
            <a:ext cx="60945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Reader Accounts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Used when consumer has </a:t>
            </a:r>
            <a:r>
              <a:rPr lang="en-US" b="1" dirty="0"/>
              <a:t>no Snowflake account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Managed by provider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Provider: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Pays for storage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Reader: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Pays for compute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Reader account ≠ free account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partner without Snowflake → reader account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Who pays for storage in a reader account?</a:t>
            </a:r>
          </a:p>
          <a:p>
            <a:r>
              <a:rPr lang="en-US" dirty="0"/>
              <a:t>A. Consumer</a:t>
            </a:r>
            <a:br>
              <a:rPr lang="en-US" dirty="0"/>
            </a:br>
            <a:r>
              <a:rPr lang="en-US" dirty="0"/>
              <a:t>B. Provider </a:t>
            </a:r>
            <a:br>
              <a:rPr lang="en-US" dirty="0"/>
            </a:br>
            <a:r>
              <a:rPr lang="en-US" dirty="0"/>
              <a:t>C. Snowflake</a:t>
            </a:r>
            <a:br>
              <a:rPr lang="en-US" dirty="0"/>
            </a:br>
            <a:r>
              <a:rPr lang="en-US" dirty="0"/>
              <a:t>D. Shared</a:t>
            </a:r>
          </a:p>
        </p:txBody>
      </p:sp>
    </p:spTree>
    <p:extLst>
      <p:ext uri="{BB962C8B-B14F-4D97-AF65-F5344CB8AC3E}">
        <p14:creationId xmlns:p14="http://schemas.microsoft.com/office/powerpoint/2010/main" val="205958178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41E4AE-DDBE-28A5-A61E-B7B3AA16F41D}"/>
              </a:ext>
            </a:extLst>
          </p:cNvPr>
          <p:cNvSpPr txBox="1"/>
          <p:nvPr/>
        </p:nvSpPr>
        <p:spPr>
          <a:xfrm>
            <a:off x="443656" y="474345"/>
            <a:ext cx="609456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Replication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Replication copies: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Shares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Disaster recovery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Cross-region / cross-cloud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Conceptual knowledge only for Core</a:t>
            </a:r>
          </a:p>
          <a:p>
            <a:r>
              <a:rPr lang="en-US" b="1" dirty="0"/>
              <a:t>Exam Angle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Replication ≠ backup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Replication ≠ Time Travel</a:t>
            </a:r>
          </a:p>
          <a:p>
            <a:r>
              <a:rPr lang="en-US" b="1" dirty="0"/>
              <a:t>Decision Logic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 requirement → replication</a:t>
            </a:r>
          </a:p>
          <a:p>
            <a:r>
              <a:rPr lang="en-US" b="1" dirty="0"/>
              <a:t>MCQ</a:t>
            </a:r>
            <a:br>
              <a:rPr lang="en-US" dirty="0"/>
            </a:br>
            <a:r>
              <a:rPr lang="en-US" dirty="0"/>
              <a:t>Replication is primarily used for:</a:t>
            </a:r>
          </a:p>
          <a:p>
            <a:r>
              <a:rPr lang="en-US" dirty="0"/>
              <a:t>A. Cost optimization</a:t>
            </a:r>
            <a:br>
              <a:rPr lang="en-US" dirty="0"/>
            </a:br>
            <a:r>
              <a:rPr lang="en-US" dirty="0"/>
              <a:t>B. Query performance</a:t>
            </a:r>
            <a:br>
              <a:rPr lang="en-US" dirty="0"/>
            </a:br>
            <a:r>
              <a:rPr lang="en-US" dirty="0"/>
              <a:t>C. Disaster recovery ✅</a:t>
            </a:r>
            <a:br>
              <a:rPr lang="en-US" dirty="0"/>
            </a:br>
            <a:r>
              <a:rPr lang="en-US" dirty="0"/>
              <a:t>D. Data loading</a:t>
            </a:r>
          </a:p>
        </p:txBody>
      </p:sp>
    </p:spTree>
    <p:extLst>
      <p:ext uri="{BB962C8B-B14F-4D97-AF65-F5344CB8AC3E}">
        <p14:creationId xmlns:p14="http://schemas.microsoft.com/office/powerpoint/2010/main" val="4666296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{B5B0FC72-78BF-424C-A476-1C4BCC3F75EB}TFb5ae2469-0bae-4978-b0e0-39dd046150ff9a115ede-a9c3cc5252b0</Template>
  <TotalTime>554</TotalTime>
  <Words>6686</Words>
  <Application>Microsoft Office PowerPoint</Application>
  <PresentationFormat>Widescreen</PresentationFormat>
  <Paragraphs>1462</Paragraphs>
  <Slides>96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2" baseType="lpstr">
      <vt:lpstr>Aptos</vt:lpstr>
      <vt:lpstr>Arial</vt:lpstr>
      <vt:lpstr>Calibri</vt:lpstr>
      <vt:lpstr>Calibri Light</vt:lpstr>
      <vt:lpstr>Symbol</vt:lpstr>
      <vt:lpstr>Celestial</vt:lpstr>
      <vt:lpstr>Snowflake Certification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ponnamreddybabjee@outlook.com</dc:creator>
  <cp:lastModifiedBy>ponnamreddybabjee@outlook.com</cp:lastModifiedBy>
  <cp:revision>2</cp:revision>
  <dcterms:created xsi:type="dcterms:W3CDTF">2026-01-27T05:45:55Z</dcterms:created>
  <dcterms:modified xsi:type="dcterms:W3CDTF">2026-01-28T07:22:56Z</dcterms:modified>
</cp:coreProperties>
</file>